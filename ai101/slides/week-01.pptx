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slides/slide104.xml" ContentType="application/vnd.openxmlformats-officedocument.presentationml.slide+xml"/>
  <Override PartName="/ppt/slides/slide105.xml" ContentType="application/vnd.openxmlformats-officedocument.presentationml.slide+xml"/>
  <Override PartName="/ppt/slides/slide106.xml" ContentType="application/vnd.openxmlformats-officedocument.presentationml.slide+xml"/>
  <Override PartName="/ppt/slides/slide107.xml" ContentType="application/vnd.openxmlformats-officedocument.presentationml.slide+xml"/>
  <Override PartName="/ppt/slides/slide108.xml" ContentType="application/vnd.openxmlformats-officedocument.presentationml.slide+xml"/>
  <Override PartName="/ppt/slides/slide109.xml" ContentType="application/vnd.openxmlformats-officedocument.presentationml.slide+xml"/>
  <Override PartName="/ppt/slides/slide11.xml" ContentType="application/vnd.openxmlformats-officedocument.presentationml.slide+xml"/>
  <Override PartName="/ppt/slides/slide110.xml" ContentType="application/vnd.openxmlformats-officedocument.presentationml.slide+xml"/>
  <Override PartName="/ppt/slides/slide111.xml" ContentType="application/vnd.openxmlformats-officedocument.presentationml.slide+xml"/>
  <Override PartName="/ppt/slides/slide112.xml" ContentType="application/vnd.openxmlformats-officedocument.presentationml.slide+xml"/>
  <Override PartName="/ppt/slides/slide113.xml" ContentType="application/vnd.openxmlformats-officedocument.presentationml.slide+xml"/>
  <Override PartName="/ppt/slides/slide114.xml" ContentType="application/vnd.openxmlformats-officedocument.presentationml.slide+xml"/>
  <Override PartName="/ppt/slides/slide115.xml" ContentType="application/vnd.openxmlformats-officedocument.presentationml.slide+xml"/>
  <Override PartName="/ppt/slides/slide116.xml" ContentType="application/vnd.openxmlformats-officedocument.presentationml.slide+xml"/>
  <Override PartName="/ppt/slides/slide117.xml" ContentType="application/vnd.openxmlformats-officedocument.presentationml.slide+xml"/>
  <Override PartName="/ppt/slides/slide118.xml" ContentType="application/vnd.openxmlformats-officedocument.presentationml.slide+xml"/>
  <Override PartName="/ppt/slides/slide119.xml" ContentType="application/vnd.openxmlformats-officedocument.presentationml.slide+xml"/>
  <Override PartName="/ppt/slides/slide12.xml" ContentType="application/vnd.openxmlformats-officedocument.presentationml.slide+xml"/>
  <Override PartName="/ppt/slides/slide120.xml" ContentType="application/vnd.openxmlformats-officedocument.presentationml.slide+xml"/>
  <Override PartName="/ppt/slides/slide121.xml" ContentType="application/vnd.openxmlformats-officedocument.presentationml.slide+xml"/>
  <Override PartName="/ppt/slides/slide122.xml" ContentType="application/vnd.openxmlformats-officedocument.presentationml.slide+xml"/>
  <Override PartName="/ppt/slides/slide123.xml" ContentType="application/vnd.openxmlformats-officedocument.presentationml.slide+xml"/>
  <Override PartName="/ppt/slides/slide124.xml" ContentType="application/vnd.openxmlformats-officedocument.presentationml.slide+xml"/>
  <Override PartName="/ppt/slides/slide125.xml" ContentType="application/vnd.openxmlformats-officedocument.presentationml.slide+xml"/>
  <Override PartName="/ppt/slides/slide126.xml" ContentType="application/vnd.openxmlformats-officedocument.presentationml.slide+xml"/>
  <Override PartName="/ppt/slides/slide127.xml" ContentType="application/vnd.openxmlformats-officedocument.presentationml.slide+xml"/>
  <Override PartName="/ppt/slides/slide128.xml" ContentType="application/vnd.openxmlformats-officedocument.presentationml.slide+xml"/>
  <Override PartName="/ppt/slides/slide129.xml" ContentType="application/vnd.openxmlformats-officedocument.presentationml.slide+xml"/>
  <Override PartName="/ppt/slides/slide13.xml" ContentType="application/vnd.openxmlformats-officedocument.presentationml.slide+xml"/>
  <Override PartName="/ppt/slides/slide130.xml" ContentType="application/vnd.openxmlformats-officedocument.presentationml.slide+xml"/>
  <Override PartName="/ppt/slides/slide131.xml" ContentType="application/vnd.openxmlformats-officedocument.presentationml.slide+xml"/>
  <Override PartName="/ppt/slides/slide132.xml" ContentType="application/vnd.openxmlformats-officedocument.presentationml.slide+xml"/>
  <Override PartName="/ppt/slides/slide133.xml" ContentType="application/vnd.openxmlformats-officedocument.presentationml.slide+xml"/>
  <Override PartName="/ppt/slides/slide134.xml" ContentType="application/vnd.openxmlformats-officedocument.presentationml.slide+xml"/>
  <Override PartName="/ppt/slides/slide135.xml" ContentType="application/vnd.openxmlformats-officedocument.presentationml.slide+xml"/>
  <Override PartName="/ppt/slides/slide136.xml" ContentType="application/vnd.openxmlformats-officedocument.presentationml.slide+xml"/>
  <Override PartName="/ppt/slides/slide137.xml" ContentType="application/vnd.openxmlformats-officedocument.presentationml.slide+xml"/>
  <Override PartName="/ppt/slides/slide138.xml" ContentType="application/vnd.openxmlformats-officedocument.presentationml.slide+xml"/>
  <Override PartName="/ppt/slides/slide139.xml" ContentType="application/vnd.openxmlformats-officedocument.presentationml.slide+xml"/>
  <Override PartName="/ppt/slides/slide14.xml" ContentType="application/vnd.openxmlformats-officedocument.presentationml.slide+xml"/>
  <Override PartName="/ppt/slides/slide140.xml" ContentType="application/vnd.openxmlformats-officedocument.presentationml.slide+xml"/>
  <Override PartName="/ppt/slides/slide141.xml" ContentType="application/vnd.openxmlformats-officedocument.presentationml.slide+xml"/>
  <Override PartName="/ppt/slides/slide142.xml" ContentType="application/vnd.openxmlformats-officedocument.presentationml.slide+xml"/>
  <Override PartName="/ppt/slides/slide143.xml" ContentType="application/vnd.openxmlformats-officedocument.presentationml.slide+xml"/>
  <Override PartName="/ppt/slides/slide144.xml" ContentType="application/vnd.openxmlformats-officedocument.presentationml.slide+xml"/>
  <Override PartName="/ppt/slides/slide145.xml" ContentType="application/vnd.openxmlformats-officedocument.presentationml.slide+xml"/>
  <Override PartName="/ppt/slides/slide146.xml" ContentType="application/vnd.openxmlformats-officedocument.presentationml.slide+xml"/>
  <Override PartName="/ppt/slides/slide147.xml" ContentType="application/vnd.openxmlformats-officedocument.presentationml.slide+xml"/>
  <Override PartName="/ppt/slides/slide148.xml" ContentType="application/vnd.openxmlformats-officedocument.presentationml.slide+xml"/>
  <Override PartName="/ppt/slides/slide149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  <p:sldId id="302" r:id="rId53"/>
    <p:sldId id="303" r:id="rId54"/>
    <p:sldId id="304" r:id="rId55"/>
    <p:sldId id="305" r:id="rId56"/>
    <p:sldId id="306" r:id="rId57"/>
    <p:sldId id="307" r:id="rId58"/>
    <p:sldId id="308" r:id="rId59"/>
    <p:sldId id="309" r:id="rId60"/>
    <p:sldId id="310" r:id="rId61"/>
    <p:sldId id="311" r:id="rId62"/>
    <p:sldId id="312" r:id="rId63"/>
    <p:sldId id="313" r:id="rId64"/>
    <p:sldId id="314" r:id="rId65"/>
    <p:sldId id="315" r:id="rId66"/>
    <p:sldId id="316" r:id="rId67"/>
    <p:sldId id="317" r:id="rId68"/>
    <p:sldId id="318" r:id="rId69"/>
    <p:sldId id="319" r:id="rId70"/>
    <p:sldId id="320" r:id="rId71"/>
    <p:sldId id="321" r:id="rId72"/>
    <p:sldId id="322" r:id="rId73"/>
    <p:sldId id="323" r:id="rId74"/>
    <p:sldId id="324" r:id="rId75"/>
    <p:sldId id="325" r:id="rId76"/>
    <p:sldId id="326" r:id="rId77"/>
    <p:sldId id="327" r:id="rId78"/>
    <p:sldId id="328" r:id="rId79"/>
    <p:sldId id="329" r:id="rId80"/>
    <p:sldId id="330" r:id="rId81"/>
    <p:sldId id="331" r:id="rId82"/>
    <p:sldId id="332" r:id="rId83"/>
    <p:sldId id="333" r:id="rId84"/>
    <p:sldId id="334" r:id="rId85"/>
    <p:sldId id="335" r:id="rId86"/>
    <p:sldId id="336" r:id="rId87"/>
    <p:sldId id="337" r:id="rId88"/>
    <p:sldId id="338" r:id="rId89"/>
    <p:sldId id="339" r:id="rId90"/>
    <p:sldId id="340" r:id="rId91"/>
    <p:sldId id="341" r:id="rId92"/>
    <p:sldId id="342" r:id="rId93"/>
    <p:sldId id="343" r:id="rId94"/>
    <p:sldId id="344" r:id="rId95"/>
    <p:sldId id="345" r:id="rId96"/>
    <p:sldId id="346" r:id="rId97"/>
    <p:sldId id="347" r:id="rId98"/>
    <p:sldId id="348" r:id="rId99"/>
    <p:sldId id="349" r:id="rId100"/>
    <p:sldId id="350" r:id="rId101"/>
    <p:sldId id="351" r:id="rId102"/>
    <p:sldId id="352" r:id="rId103"/>
    <p:sldId id="353" r:id="rId104"/>
    <p:sldId id="354" r:id="rId105"/>
    <p:sldId id="355" r:id="rId106"/>
    <p:sldId id="356" r:id="rId107"/>
    <p:sldId id="357" r:id="rId108"/>
    <p:sldId id="358" r:id="rId109"/>
    <p:sldId id="359" r:id="rId110"/>
    <p:sldId id="360" r:id="rId111"/>
    <p:sldId id="361" r:id="rId112"/>
    <p:sldId id="362" r:id="rId113"/>
    <p:sldId id="363" r:id="rId114"/>
    <p:sldId id="364" r:id="rId115"/>
    <p:sldId id="365" r:id="rId116"/>
    <p:sldId id="366" r:id="rId117"/>
    <p:sldId id="367" r:id="rId118"/>
    <p:sldId id="368" r:id="rId119"/>
    <p:sldId id="369" r:id="rId120"/>
    <p:sldId id="370" r:id="rId121"/>
    <p:sldId id="371" r:id="rId122"/>
    <p:sldId id="372" r:id="rId123"/>
    <p:sldId id="373" r:id="rId124"/>
    <p:sldId id="374" r:id="rId125"/>
    <p:sldId id="375" r:id="rId126"/>
    <p:sldId id="376" r:id="rId127"/>
    <p:sldId id="377" r:id="rId128"/>
    <p:sldId id="378" r:id="rId129"/>
    <p:sldId id="379" r:id="rId130"/>
    <p:sldId id="380" r:id="rId131"/>
    <p:sldId id="381" r:id="rId132"/>
    <p:sldId id="382" r:id="rId133"/>
    <p:sldId id="383" r:id="rId134"/>
    <p:sldId id="384" r:id="rId135"/>
    <p:sldId id="385" r:id="rId136"/>
    <p:sldId id="386" r:id="rId137"/>
    <p:sldId id="387" r:id="rId138"/>
    <p:sldId id="388" r:id="rId139"/>
    <p:sldId id="389" r:id="rId140"/>
    <p:sldId id="390" r:id="rId141"/>
    <p:sldId id="391" r:id="rId142"/>
    <p:sldId id="392" r:id="rId143"/>
    <p:sldId id="393" r:id="rId144"/>
    <p:sldId id="394" r:id="rId145"/>
    <p:sldId id="395" r:id="rId146"/>
    <p:sldId id="396" r:id="rId147"/>
    <p:sldId id="397" r:id="rId148"/>
    <p:sldId id="398" r:id="rId149"/>
    <p:sldId id="399" r:id="rId150"/>
    <p:sldId id="400" r:id="rId151"/>
    <p:sldId id="401" r:id="rId152"/>
    <p:sldId id="402" r:id="rId153"/>
    <p:sldId id="403" r:id="rId154"/>
    <p:sldId id="404" r:id="rId15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Relationship Id="rId49" Type="http://schemas.openxmlformats.org/officeDocument/2006/relationships/slide" Target="slides/slide43.xml"/><Relationship Id="rId50" Type="http://schemas.openxmlformats.org/officeDocument/2006/relationships/slide" Target="slides/slide44.xml"/><Relationship Id="rId51" Type="http://schemas.openxmlformats.org/officeDocument/2006/relationships/slide" Target="slides/slide45.xml"/><Relationship Id="rId52" Type="http://schemas.openxmlformats.org/officeDocument/2006/relationships/slide" Target="slides/slide46.xml"/><Relationship Id="rId53" Type="http://schemas.openxmlformats.org/officeDocument/2006/relationships/slide" Target="slides/slide47.xml"/><Relationship Id="rId54" Type="http://schemas.openxmlformats.org/officeDocument/2006/relationships/slide" Target="slides/slide48.xml"/><Relationship Id="rId55" Type="http://schemas.openxmlformats.org/officeDocument/2006/relationships/slide" Target="slides/slide49.xml"/><Relationship Id="rId56" Type="http://schemas.openxmlformats.org/officeDocument/2006/relationships/slide" Target="slides/slide50.xml"/><Relationship Id="rId57" Type="http://schemas.openxmlformats.org/officeDocument/2006/relationships/slide" Target="slides/slide51.xml"/><Relationship Id="rId58" Type="http://schemas.openxmlformats.org/officeDocument/2006/relationships/slide" Target="slides/slide52.xml"/><Relationship Id="rId59" Type="http://schemas.openxmlformats.org/officeDocument/2006/relationships/slide" Target="slides/slide53.xml"/><Relationship Id="rId60" Type="http://schemas.openxmlformats.org/officeDocument/2006/relationships/slide" Target="slides/slide54.xml"/><Relationship Id="rId61" Type="http://schemas.openxmlformats.org/officeDocument/2006/relationships/slide" Target="slides/slide55.xml"/><Relationship Id="rId62" Type="http://schemas.openxmlformats.org/officeDocument/2006/relationships/slide" Target="slides/slide56.xml"/><Relationship Id="rId63" Type="http://schemas.openxmlformats.org/officeDocument/2006/relationships/slide" Target="slides/slide57.xml"/><Relationship Id="rId64" Type="http://schemas.openxmlformats.org/officeDocument/2006/relationships/slide" Target="slides/slide58.xml"/><Relationship Id="rId65" Type="http://schemas.openxmlformats.org/officeDocument/2006/relationships/slide" Target="slides/slide59.xml"/><Relationship Id="rId66" Type="http://schemas.openxmlformats.org/officeDocument/2006/relationships/slide" Target="slides/slide60.xml"/><Relationship Id="rId67" Type="http://schemas.openxmlformats.org/officeDocument/2006/relationships/slide" Target="slides/slide61.xml"/><Relationship Id="rId68" Type="http://schemas.openxmlformats.org/officeDocument/2006/relationships/slide" Target="slides/slide62.xml"/><Relationship Id="rId69" Type="http://schemas.openxmlformats.org/officeDocument/2006/relationships/slide" Target="slides/slide63.xml"/><Relationship Id="rId70" Type="http://schemas.openxmlformats.org/officeDocument/2006/relationships/slide" Target="slides/slide64.xml"/><Relationship Id="rId71" Type="http://schemas.openxmlformats.org/officeDocument/2006/relationships/slide" Target="slides/slide65.xml"/><Relationship Id="rId72" Type="http://schemas.openxmlformats.org/officeDocument/2006/relationships/slide" Target="slides/slide66.xml"/><Relationship Id="rId73" Type="http://schemas.openxmlformats.org/officeDocument/2006/relationships/slide" Target="slides/slide67.xml"/><Relationship Id="rId74" Type="http://schemas.openxmlformats.org/officeDocument/2006/relationships/slide" Target="slides/slide68.xml"/><Relationship Id="rId75" Type="http://schemas.openxmlformats.org/officeDocument/2006/relationships/slide" Target="slides/slide69.xml"/><Relationship Id="rId76" Type="http://schemas.openxmlformats.org/officeDocument/2006/relationships/slide" Target="slides/slide70.xml"/><Relationship Id="rId77" Type="http://schemas.openxmlformats.org/officeDocument/2006/relationships/slide" Target="slides/slide71.xml"/><Relationship Id="rId78" Type="http://schemas.openxmlformats.org/officeDocument/2006/relationships/slide" Target="slides/slide72.xml"/><Relationship Id="rId79" Type="http://schemas.openxmlformats.org/officeDocument/2006/relationships/slide" Target="slides/slide73.xml"/><Relationship Id="rId80" Type="http://schemas.openxmlformats.org/officeDocument/2006/relationships/slide" Target="slides/slide74.xml"/><Relationship Id="rId81" Type="http://schemas.openxmlformats.org/officeDocument/2006/relationships/slide" Target="slides/slide75.xml"/><Relationship Id="rId82" Type="http://schemas.openxmlformats.org/officeDocument/2006/relationships/slide" Target="slides/slide76.xml"/><Relationship Id="rId83" Type="http://schemas.openxmlformats.org/officeDocument/2006/relationships/slide" Target="slides/slide77.xml"/><Relationship Id="rId84" Type="http://schemas.openxmlformats.org/officeDocument/2006/relationships/slide" Target="slides/slide78.xml"/><Relationship Id="rId85" Type="http://schemas.openxmlformats.org/officeDocument/2006/relationships/slide" Target="slides/slide79.xml"/><Relationship Id="rId86" Type="http://schemas.openxmlformats.org/officeDocument/2006/relationships/slide" Target="slides/slide80.xml"/><Relationship Id="rId87" Type="http://schemas.openxmlformats.org/officeDocument/2006/relationships/slide" Target="slides/slide81.xml"/><Relationship Id="rId88" Type="http://schemas.openxmlformats.org/officeDocument/2006/relationships/slide" Target="slides/slide82.xml"/><Relationship Id="rId89" Type="http://schemas.openxmlformats.org/officeDocument/2006/relationships/slide" Target="slides/slide83.xml"/><Relationship Id="rId90" Type="http://schemas.openxmlformats.org/officeDocument/2006/relationships/slide" Target="slides/slide84.xml"/><Relationship Id="rId91" Type="http://schemas.openxmlformats.org/officeDocument/2006/relationships/slide" Target="slides/slide85.xml"/><Relationship Id="rId92" Type="http://schemas.openxmlformats.org/officeDocument/2006/relationships/slide" Target="slides/slide86.xml"/><Relationship Id="rId93" Type="http://schemas.openxmlformats.org/officeDocument/2006/relationships/slide" Target="slides/slide87.xml"/><Relationship Id="rId94" Type="http://schemas.openxmlformats.org/officeDocument/2006/relationships/slide" Target="slides/slide88.xml"/><Relationship Id="rId95" Type="http://schemas.openxmlformats.org/officeDocument/2006/relationships/slide" Target="slides/slide89.xml"/><Relationship Id="rId96" Type="http://schemas.openxmlformats.org/officeDocument/2006/relationships/slide" Target="slides/slide90.xml"/><Relationship Id="rId97" Type="http://schemas.openxmlformats.org/officeDocument/2006/relationships/slide" Target="slides/slide91.xml"/><Relationship Id="rId98" Type="http://schemas.openxmlformats.org/officeDocument/2006/relationships/slide" Target="slides/slide92.xml"/><Relationship Id="rId99" Type="http://schemas.openxmlformats.org/officeDocument/2006/relationships/slide" Target="slides/slide93.xml"/><Relationship Id="rId100" Type="http://schemas.openxmlformats.org/officeDocument/2006/relationships/slide" Target="slides/slide94.xml"/><Relationship Id="rId101" Type="http://schemas.openxmlformats.org/officeDocument/2006/relationships/slide" Target="slides/slide95.xml"/><Relationship Id="rId102" Type="http://schemas.openxmlformats.org/officeDocument/2006/relationships/slide" Target="slides/slide96.xml"/><Relationship Id="rId103" Type="http://schemas.openxmlformats.org/officeDocument/2006/relationships/slide" Target="slides/slide97.xml"/><Relationship Id="rId104" Type="http://schemas.openxmlformats.org/officeDocument/2006/relationships/slide" Target="slides/slide98.xml"/><Relationship Id="rId105" Type="http://schemas.openxmlformats.org/officeDocument/2006/relationships/slide" Target="slides/slide99.xml"/><Relationship Id="rId106" Type="http://schemas.openxmlformats.org/officeDocument/2006/relationships/slide" Target="slides/slide100.xml"/><Relationship Id="rId107" Type="http://schemas.openxmlformats.org/officeDocument/2006/relationships/slide" Target="slides/slide101.xml"/><Relationship Id="rId108" Type="http://schemas.openxmlformats.org/officeDocument/2006/relationships/slide" Target="slides/slide102.xml"/><Relationship Id="rId109" Type="http://schemas.openxmlformats.org/officeDocument/2006/relationships/slide" Target="slides/slide103.xml"/><Relationship Id="rId110" Type="http://schemas.openxmlformats.org/officeDocument/2006/relationships/slide" Target="slides/slide104.xml"/><Relationship Id="rId111" Type="http://schemas.openxmlformats.org/officeDocument/2006/relationships/slide" Target="slides/slide105.xml"/><Relationship Id="rId112" Type="http://schemas.openxmlformats.org/officeDocument/2006/relationships/slide" Target="slides/slide106.xml"/><Relationship Id="rId113" Type="http://schemas.openxmlformats.org/officeDocument/2006/relationships/slide" Target="slides/slide107.xml"/><Relationship Id="rId114" Type="http://schemas.openxmlformats.org/officeDocument/2006/relationships/slide" Target="slides/slide108.xml"/><Relationship Id="rId115" Type="http://schemas.openxmlformats.org/officeDocument/2006/relationships/slide" Target="slides/slide109.xml"/><Relationship Id="rId116" Type="http://schemas.openxmlformats.org/officeDocument/2006/relationships/slide" Target="slides/slide110.xml"/><Relationship Id="rId117" Type="http://schemas.openxmlformats.org/officeDocument/2006/relationships/slide" Target="slides/slide111.xml"/><Relationship Id="rId118" Type="http://schemas.openxmlformats.org/officeDocument/2006/relationships/slide" Target="slides/slide112.xml"/><Relationship Id="rId119" Type="http://schemas.openxmlformats.org/officeDocument/2006/relationships/slide" Target="slides/slide113.xml"/><Relationship Id="rId120" Type="http://schemas.openxmlformats.org/officeDocument/2006/relationships/slide" Target="slides/slide114.xml"/><Relationship Id="rId121" Type="http://schemas.openxmlformats.org/officeDocument/2006/relationships/slide" Target="slides/slide115.xml"/><Relationship Id="rId122" Type="http://schemas.openxmlformats.org/officeDocument/2006/relationships/slide" Target="slides/slide116.xml"/><Relationship Id="rId123" Type="http://schemas.openxmlformats.org/officeDocument/2006/relationships/slide" Target="slides/slide117.xml"/><Relationship Id="rId124" Type="http://schemas.openxmlformats.org/officeDocument/2006/relationships/slide" Target="slides/slide118.xml"/><Relationship Id="rId125" Type="http://schemas.openxmlformats.org/officeDocument/2006/relationships/slide" Target="slides/slide119.xml"/><Relationship Id="rId126" Type="http://schemas.openxmlformats.org/officeDocument/2006/relationships/slide" Target="slides/slide120.xml"/><Relationship Id="rId127" Type="http://schemas.openxmlformats.org/officeDocument/2006/relationships/slide" Target="slides/slide121.xml"/><Relationship Id="rId128" Type="http://schemas.openxmlformats.org/officeDocument/2006/relationships/slide" Target="slides/slide122.xml"/><Relationship Id="rId129" Type="http://schemas.openxmlformats.org/officeDocument/2006/relationships/slide" Target="slides/slide123.xml"/><Relationship Id="rId130" Type="http://schemas.openxmlformats.org/officeDocument/2006/relationships/slide" Target="slides/slide124.xml"/><Relationship Id="rId131" Type="http://schemas.openxmlformats.org/officeDocument/2006/relationships/slide" Target="slides/slide125.xml"/><Relationship Id="rId132" Type="http://schemas.openxmlformats.org/officeDocument/2006/relationships/slide" Target="slides/slide126.xml"/><Relationship Id="rId133" Type="http://schemas.openxmlformats.org/officeDocument/2006/relationships/slide" Target="slides/slide127.xml"/><Relationship Id="rId134" Type="http://schemas.openxmlformats.org/officeDocument/2006/relationships/slide" Target="slides/slide128.xml"/><Relationship Id="rId135" Type="http://schemas.openxmlformats.org/officeDocument/2006/relationships/slide" Target="slides/slide129.xml"/><Relationship Id="rId136" Type="http://schemas.openxmlformats.org/officeDocument/2006/relationships/slide" Target="slides/slide130.xml"/><Relationship Id="rId137" Type="http://schemas.openxmlformats.org/officeDocument/2006/relationships/slide" Target="slides/slide131.xml"/><Relationship Id="rId138" Type="http://schemas.openxmlformats.org/officeDocument/2006/relationships/slide" Target="slides/slide132.xml"/><Relationship Id="rId139" Type="http://schemas.openxmlformats.org/officeDocument/2006/relationships/slide" Target="slides/slide133.xml"/><Relationship Id="rId140" Type="http://schemas.openxmlformats.org/officeDocument/2006/relationships/slide" Target="slides/slide134.xml"/><Relationship Id="rId141" Type="http://schemas.openxmlformats.org/officeDocument/2006/relationships/slide" Target="slides/slide135.xml"/><Relationship Id="rId142" Type="http://schemas.openxmlformats.org/officeDocument/2006/relationships/slide" Target="slides/slide136.xml"/><Relationship Id="rId143" Type="http://schemas.openxmlformats.org/officeDocument/2006/relationships/slide" Target="slides/slide137.xml"/><Relationship Id="rId144" Type="http://schemas.openxmlformats.org/officeDocument/2006/relationships/slide" Target="slides/slide138.xml"/><Relationship Id="rId145" Type="http://schemas.openxmlformats.org/officeDocument/2006/relationships/slide" Target="slides/slide139.xml"/><Relationship Id="rId146" Type="http://schemas.openxmlformats.org/officeDocument/2006/relationships/slide" Target="slides/slide140.xml"/><Relationship Id="rId147" Type="http://schemas.openxmlformats.org/officeDocument/2006/relationships/slide" Target="slides/slide141.xml"/><Relationship Id="rId148" Type="http://schemas.openxmlformats.org/officeDocument/2006/relationships/slide" Target="slides/slide142.xml"/><Relationship Id="rId149" Type="http://schemas.openxmlformats.org/officeDocument/2006/relationships/slide" Target="slides/slide143.xml"/><Relationship Id="rId150" Type="http://schemas.openxmlformats.org/officeDocument/2006/relationships/slide" Target="slides/slide144.xml"/><Relationship Id="rId151" Type="http://schemas.openxmlformats.org/officeDocument/2006/relationships/slide" Target="slides/slide145.xml"/><Relationship Id="rId152" Type="http://schemas.openxmlformats.org/officeDocument/2006/relationships/slide" Target="slides/slide146.xml"/><Relationship Id="rId153" Type="http://schemas.openxmlformats.org/officeDocument/2006/relationships/slide" Target="slides/slide147.xml"/><Relationship Id="rId154" Type="http://schemas.openxmlformats.org/officeDocument/2006/relationships/slide" Target="slides/slide148.xml"/><Relationship Id="rId155" Type="http://schemas.openxmlformats.org/officeDocument/2006/relationships/slide" Target="slides/slide14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0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800" b="1">
                <a:solidFill>
                  <a:srgbClr val="1F2A37"/>
                </a:solidFill>
              </a:rPr>
              <a:t>Week 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828800"/>
            <a:ext cx="105156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800">
                <a:solidFill>
                  <a:srgbClr val="01AEFD"/>
                </a:solidFill>
              </a:rPr>
              <a:t>The page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800" b="1">
                <a:solidFill>
                  <a:srgbClr val="1F2A37"/>
                </a:solidFill>
              </a:rPr>
              <a:t>What you are building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828800"/>
            <a:ext cx="105156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800">
                <a:solidFill>
                  <a:srgbClr val="01AEFD"/>
                </a:solidFill>
              </a:rPr>
              <a:t>An AI companion you write yourself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It answers you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It remembers the conversation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It has a personality you choose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By week 15 it is yours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800" b="1">
                <a:solidFill>
                  <a:srgbClr val="1F2A37"/>
                </a:solidFill>
              </a:rPr>
              <a:t>A page is boxes inside boxes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828800"/>
            <a:ext cx="105156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&lt;main&gt; is the big box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&lt;h1&gt; is the title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&lt;div id="chat"&gt; is where messages will go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&lt;form&gt; holds the input and the button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800" b="1">
                <a:solidFill>
                  <a:srgbClr val="1F2A37"/>
                </a:solidFill>
              </a:rPr>
              <a:t>What is an HTML tag?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8680" y="502920"/>
            <a:ext cx="5486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01AEFD"/>
                </a:solidFill>
              </a:rPr>
              <a:t>HTML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828800"/>
            <a:ext cx="105156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A tag is an instruction inside &lt; &gt;.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Most come as a pair - an opening &lt;p&gt; and a closing &lt;/p&gt; - with the content between them: &lt;p&gt;hi&lt;/p&gt;.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365760"/>
            <a:ext cx="7315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01AEFD"/>
                </a:solidFill>
              </a:rPr>
              <a:t>ON THE PAGE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658368"/>
            <a:ext cx="10515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>
                <a:solidFill>
                  <a:srgbClr val="1F2A37"/>
                </a:solidFill>
              </a:rPr>
              <a:t>What is an HTML tag?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454237" y="1641896"/>
            <a:ext cx="5249387" cy="3918021"/>
          </a:xfrm>
          <a:prstGeom prst="roundRect">
            <a:avLst/>
          </a:prstGeom>
          <a:solidFill>
            <a:srgbClr val="0F1F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3606393" y="2022287"/>
            <a:ext cx="4945075" cy="437448"/>
          </a:xfrm>
          <a:prstGeom prst="roundRect">
            <a:avLst/>
          </a:prstGeom>
          <a:solidFill>
            <a:srgbClr val="1630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3720510" y="2155423"/>
            <a:ext cx="1426463" cy="190195"/>
          </a:xfrm>
          <a:prstGeom prst="roundRect">
            <a:avLst/>
          </a:prstGeom>
          <a:solidFill>
            <a:srgbClr val="4A6B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3606393" y="2554833"/>
            <a:ext cx="4945075" cy="1730776"/>
          </a:xfrm>
          <a:prstGeom prst="roundRect">
            <a:avLst/>
          </a:prstGeom>
          <a:solidFill>
            <a:srgbClr val="0B17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3720510" y="2668950"/>
            <a:ext cx="2852927" cy="399409"/>
          </a:xfrm>
          <a:prstGeom prst="roundRect">
            <a:avLst/>
          </a:prstGeom>
          <a:solidFill>
            <a:srgbClr val="1B35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5584423" y="3182477"/>
            <a:ext cx="2852927" cy="399409"/>
          </a:xfrm>
          <a:prstGeom prst="roundRect">
            <a:avLst/>
          </a:prstGeom>
          <a:solidFill>
            <a:srgbClr val="123A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3720510" y="3696004"/>
            <a:ext cx="3138220" cy="399409"/>
          </a:xfrm>
          <a:prstGeom prst="roundRect">
            <a:avLst/>
          </a:prstGeom>
          <a:solidFill>
            <a:srgbClr val="1B35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3701491" y="4409236"/>
            <a:ext cx="1426463" cy="228234"/>
          </a:xfrm>
          <a:prstGeom prst="roundRect">
            <a:avLst/>
          </a:prstGeom>
          <a:solidFill>
            <a:srgbClr val="1630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5223052" y="4409236"/>
            <a:ext cx="1426463" cy="228234"/>
          </a:xfrm>
          <a:prstGeom prst="roundRect">
            <a:avLst/>
          </a:prstGeom>
          <a:solidFill>
            <a:srgbClr val="1630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3701491" y="4856195"/>
            <a:ext cx="3899001" cy="323331"/>
          </a:xfrm>
          <a:prstGeom prst="roundRect">
            <a:avLst/>
          </a:prstGeom>
          <a:solidFill>
            <a:srgbClr val="1630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7695590" y="4856195"/>
            <a:ext cx="779800" cy="323331"/>
          </a:xfrm>
          <a:prstGeom prst="roundRect">
            <a:avLst/>
          </a:prstGeom>
          <a:solidFill>
            <a:srgbClr val="01AE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3720510" y="5407761"/>
            <a:ext cx="1616659" cy="95097"/>
          </a:xfrm>
          <a:prstGeom prst="roundRect">
            <a:avLst/>
          </a:prstGeom>
          <a:solidFill>
            <a:srgbClr val="2A45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3416198" y="1603857"/>
            <a:ext cx="5325465" cy="3994099"/>
          </a:xfrm>
          <a:prstGeom prst="roundRect">
            <a:avLst/>
          </a:prstGeom>
          <a:noFill/>
          <a:ln w="44450">
            <a:solidFill>
              <a:srgbClr val="FFD6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2960" y="617220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>
                <a:solidFill>
                  <a:srgbClr val="0A6299"/>
                </a:solidFill>
              </a:rPr>
              <a:t>Every visible part of this page is a tag.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800" b="1">
                <a:solidFill>
                  <a:srgbClr val="1F2A37"/>
                </a:solidFill>
              </a:rPr>
              <a:t>Attributes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8680" y="502920"/>
            <a:ext cx="5486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01AEFD"/>
                </a:solidFill>
              </a:rPr>
              <a:t>HTML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828800"/>
            <a:ext cx="105156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Extra settings inside a tag, written name="value".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Like class="app", id="chat", or href="style.css".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365760"/>
            <a:ext cx="7315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01AEFD"/>
                </a:solidFill>
              </a:rPr>
              <a:t>ON THE PAGE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658368"/>
            <a:ext cx="10515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>
                <a:solidFill>
                  <a:srgbClr val="1F2A37"/>
                </a:solidFill>
              </a:rPr>
              <a:t>Attributes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454237" y="1641896"/>
            <a:ext cx="5249387" cy="3918021"/>
          </a:xfrm>
          <a:prstGeom prst="roundRect">
            <a:avLst/>
          </a:prstGeom>
          <a:solidFill>
            <a:srgbClr val="0F1F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3606393" y="2022287"/>
            <a:ext cx="4945075" cy="437448"/>
          </a:xfrm>
          <a:prstGeom prst="roundRect">
            <a:avLst/>
          </a:prstGeom>
          <a:solidFill>
            <a:srgbClr val="1630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3720510" y="2155423"/>
            <a:ext cx="1426463" cy="190195"/>
          </a:xfrm>
          <a:prstGeom prst="roundRect">
            <a:avLst/>
          </a:prstGeom>
          <a:solidFill>
            <a:srgbClr val="4A6B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3606393" y="2554833"/>
            <a:ext cx="4945075" cy="1730776"/>
          </a:xfrm>
          <a:prstGeom prst="roundRect">
            <a:avLst/>
          </a:prstGeom>
          <a:solidFill>
            <a:srgbClr val="0B17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3720510" y="2668950"/>
            <a:ext cx="2852927" cy="399409"/>
          </a:xfrm>
          <a:prstGeom prst="roundRect">
            <a:avLst/>
          </a:prstGeom>
          <a:solidFill>
            <a:srgbClr val="1B35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5584423" y="3182477"/>
            <a:ext cx="2852927" cy="399409"/>
          </a:xfrm>
          <a:prstGeom prst="roundRect">
            <a:avLst/>
          </a:prstGeom>
          <a:solidFill>
            <a:srgbClr val="123A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3720510" y="3696004"/>
            <a:ext cx="3138220" cy="399409"/>
          </a:xfrm>
          <a:prstGeom prst="roundRect">
            <a:avLst/>
          </a:prstGeom>
          <a:solidFill>
            <a:srgbClr val="1B35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3701491" y="4409236"/>
            <a:ext cx="1426463" cy="228234"/>
          </a:xfrm>
          <a:prstGeom prst="roundRect">
            <a:avLst/>
          </a:prstGeom>
          <a:solidFill>
            <a:srgbClr val="1630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5223052" y="4409236"/>
            <a:ext cx="1426463" cy="228234"/>
          </a:xfrm>
          <a:prstGeom prst="roundRect">
            <a:avLst/>
          </a:prstGeom>
          <a:solidFill>
            <a:srgbClr val="1630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3701491" y="4856195"/>
            <a:ext cx="3899001" cy="323331"/>
          </a:xfrm>
          <a:prstGeom prst="roundRect">
            <a:avLst/>
          </a:prstGeom>
          <a:solidFill>
            <a:srgbClr val="1630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7695590" y="4856195"/>
            <a:ext cx="779800" cy="323331"/>
          </a:xfrm>
          <a:prstGeom prst="roundRect">
            <a:avLst/>
          </a:prstGeom>
          <a:solidFill>
            <a:srgbClr val="01AE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3720510" y="5407761"/>
            <a:ext cx="1616659" cy="95097"/>
          </a:xfrm>
          <a:prstGeom prst="roundRect">
            <a:avLst/>
          </a:prstGeom>
          <a:solidFill>
            <a:srgbClr val="2A45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7657551" y="4818156"/>
            <a:ext cx="855878" cy="399409"/>
          </a:xfrm>
          <a:prstGeom prst="roundRect">
            <a:avLst/>
          </a:prstGeom>
          <a:noFill/>
          <a:ln w="44450">
            <a:solidFill>
              <a:srgbClr val="FFD6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2960" y="617220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>
                <a:solidFill>
                  <a:srgbClr val="0A6299"/>
                </a:solidFill>
              </a:rPr>
              <a:t>Attributes live inside a tag - like on this button.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800" b="1">
                <a:solidFill>
                  <a:srgbClr val="1F2A37"/>
                </a:solidFill>
              </a:rPr>
              <a:t>The &lt;main&gt; tag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8680" y="502920"/>
            <a:ext cx="5486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01AEFD"/>
                </a:solidFill>
              </a:rPr>
              <a:t>HTML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828800"/>
            <a:ext cx="105156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A box that wraps the main part of the page.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Everything you see on the page lives inside it.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365760"/>
            <a:ext cx="7315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01AEFD"/>
                </a:solidFill>
              </a:rPr>
              <a:t>ON THE PAGE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658368"/>
            <a:ext cx="10515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>
                <a:solidFill>
                  <a:srgbClr val="1F2A37"/>
                </a:solidFill>
              </a:rPr>
              <a:t>The &lt;main&gt; tag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454237" y="1641896"/>
            <a:ext cx="5249387" cy="3918021"/>
          </a:xfrm>
          <a:prstGeom prst="roundRect">
            <a:avLst/>
          </a:prstGeom>
          <a:solidFill>
            <a:srgbClr val="0F1F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3606393" y="2022287"/>
            <a:ext cx="4945075" cy="437448"/>
          </a:xfrm>
          <a:prstGeom prst="roundRect">
            <a:avLst/>
          </a:prstGeom>
          <a:solidFill>
            <a:srgbClr val="1630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3720510" y="2155423"/>
            <a:ext cx="1426463" cy="190195"/>
          </a:xfrm>
          <a:prstGeom prst="roundRect">
            <a:avLst/>
          </a:prstGeom>
          <a:solidFill>
            <a:srgbClr val="4A6B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3606393" y="2554833"/>
            <a:ext cx="4945075" cy="1730776"/>
          </a:xfrm>
          <a:prstGeom prst="roundRect">
            <a:avLst/>
          </a:prstGeom>
          <a:solidFill>
            <a:srgbClr val="0B17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3720510" y="2668950"/>
            <a:ext cx="2852927" cy="399409"/>
          </a:xfrm>
          <a:prstGeom prst="roundRect">
            <a:avLst/>
          </a:prstGeom>
          <a:solidFill>
            <a:srgbClr val="1B35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5584423" y="3182477"/>
            <a:ext cx="2852927" cy="399409"/>
          </a:xfrm>
          <a:prstGeom prst="roundRect">
            <a:avLst/>
          </a:prstGeom>
          <a:solidFill>
            <a:srgbClr val="123A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3720510" y="3696004"/>
            <a:ext cx="3138220" cy="399409"/>
          </a:xfrm>
          <a:prstGeom prst="roundRect">
            <a:avLst/>
          </a:prstGeom>
          <a:solidFill>
            <a:srgbClr val="1B35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3701491" y="4409236"/>
            <a:ext cx="1426463" cy="228234"/>
          </a:xfrm>
          <a:prstGeom prst="roundRect">
            <a:avLst/>
          </a:prstGeom>
          <a:solidFill>
            <a:srgbClr val="1630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5223052" y="4409236"/>
            <a:ext cx="1426463" cy="228234"/>
          </a:xfrm>
          <a:prstGeom prst="roundRect">
            <a:avLst/>
          </a:prstGeom>
          <a:solidFill>
            <a:srgbClr val="1630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3701491" y="4856195"/>
            <a:ext cx="3899001" cy="323331"/>
          </a:xfrm>
          <a:prstGeom prst="roundRect">
            <a:avLst/>
          </a:prstGeom>
          <a:solidFill>
            <a:srgbClr val="1630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7695590" y="4856195"/>
            <a:ext cx="779800" cy="323331"/>
          </a:xfrm>
          <a:prstGeom prst="roundRect">
            <a:avLst/>
          </a:prstGeom>
          <a:solidFill>
            <a:srgbClr val="01AE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3720510" y="5407761"/>
            <a:ext cx="1616659" cy="95097"/>
          </a:xfrm>
          <a:prstGeom prst="roundRect">
            <a:avLst/>
          </a:prstGeom>
          <a:solidFill>
            <a:srgbClr val="2A45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3568354" y="2516794"/>
            <a:ext cx="5021153" cy="1806854"/>
          </a:xfrm>
          <a:prstGeom prst="roundRect">
            <a:avLst/>
          </a:prstGeom>
          <a:noFill/>
          <a:ln w="44450">
            <a:solidFill>
              <a:srgbClr val="FFD6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2960" y="617220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>
                <a:solidFill>
                  <a:srgbClr val="0A6299"/>
                </a:solidFill>
              </a:rPr>
              <a:t>The &lt;main&gt; is the big middle area - the chat log.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1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01AEFD"/>
                </a:solidFill>
              </a:rPr>
              <a:t>Type this into index.html   -   line 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60120"/>
            <a:ext cx="11155680" cy="4297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3  </a:t>
            </a:r>
            <a:r>
              <a:rPr sz="1800">
                <a:solidFill>
                  <a:srgbClr val="7FE0A0"/>
                </a:solidFill>
                <a:latin typeface="Consolas"/>
              </a:rPr>
              <a:t>&lt;main class="app"&gt;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23560"/>
            <a:ext cx="110642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>
                <a:solidFill>
                  <a:srgbClr val="DCECEF"/>
                </a:solidFill>
              </a:rPr>
              <a:t>Opens &lt;main&gt;, the box that holds everything. class="app" is a label CSS can target.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800" b="1">
                <a:solidFill>
                  <a:srgbClr val="1F2A37"/>
                </a:solidFill>
              </a:rPr>
              <a:t>The &lt;header&gt; tag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8680" y="502920"/>
            <a:ext cx="5486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01AEFD"/>
                </a:solidFill>
              </a:rPr>
              <a:t>HTML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828800"/>
            <a:ext cx="105156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A box for the strip across the top - your title area.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365760"/>
            <a:ext cx="7315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01AEFD"/>
                </a:solidFill>
              </a:rPr>
              <a:t>ON THE PAGE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658368"/>
            <a:ext cx="10515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>
                <a:solidFill>
                  <a:srgbClr val="1F2A37"/>
                </a:solidFill>
              </a:rPr>
              <a:t>The &lt;header&gt; tag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454237" y="1641896"/>
            <a:ext cx="5249387" cy="3918021"/>
          </a:xfrm>
          <a:prstGeom prst="roundRect">
            <a:avLst/>
          </a:prstGeom>
          <a:solidFill>
            <a:srgbClr val="0F1F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3606393" y="2022287"/>
            <a:ext cx="4945075" cy="437448"/>
          </a:xfrm>
          <a:prstGeom prst="roundRect">
            <a:avLst/>
          </a:prstGeom>
          <a:solidFill>
            <a:srgbClr val="1630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3720510" y="2155423"/>
            <a:ext cx="1426463" cy="190195"/>
          </a:xfrm>
          <a:prstGeom prst="roundRect">
            <a:avLst/>
          </a:prstGeom>
          <a:solidFill>
            <a:srgbClr val="4A6B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3606393" y="2554833"/>
            <a:ext cx="4945075" cy="1730776"/>
          </a:xfrm>
          <a:prstGeom prst="roundRect">
            <a:avLst/>
          </a:prstGeom>
          <a:solidFill>
            <a:srgbClr val="0B17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3720510" y="2668950"/>
            <a:ext cx="2852927" cy="399409"/>
          </a:xfrm>
          <a:prstGeom prst="roundRect">
            <a:avLst/>
          </a:prstGeom>
          <a:solidFill>
            <a:srgbClr val="1B35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5584423" y="3182477"/>
            <a:ext cx="2852927" cy="399409"/>
          </a:xfrm>
          <a:prstGeom prst="roundRect">
            <a:avLst/>
          </a:prstGeom>
          <a:solidFill>
            <a:srgbClr val="123A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3720510" y="3696004"/>
            <a:ext cx="3138220" cy="399409"/>
          </a:xfrm>
          <a:prstGeom prst="roundRect">
            <a:avLst/>
          </a:prstGeom>
          <a:solidFill>
            <a:srgbClr val="1B35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3701491" y="4409236"/>
            <a:ext cx="1426463" cy="228234"/>
          </a:xfrm>
          <a:prstGeom prst="roundRect">
            <a:avLst/>
          </a:prstGeom>
          <a:solidFill>
            <a:srgbClr val="1630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5223052" y="4409236"/>
            <a:ext cx="1426463" cy="228234"/>
          </a:xfrm>
          <a:prstGeom prst="roundRect">
            <a:avLst/>
          </a:prstGeom>
          <a:solidFill>
            <a:srgbClr val="1630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3701491" y="4856195"/>
            <a:ext cx="3899001" cy="323331"/>
          </a:xfrm>
          <a:prstGeom prst="roundRect">
            <a:avLst/>
          </a:prstGeom>
          <a:solidFill>
            <a:srgbClr val="1630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7695590" y="4856195"/>
            <a:ext cx="779800" cy="323331"/>
          </a:xfrm>
          <a:prstGeom prst="roundRect">
            <a:avLst/>
          </a:prstGeom>
          <a:solidFill>
            <a:srgbClr val="01AE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3720510" y="5407761"/>
            <a:ext cx="1616659" cy="95097"/>
          </a:xfrm>
          <a:prstGeom prst="roundRect">
            <a:avLst/>
          </a:prstGeom>
          <a:solidFill>
            <a:srgbClr val="2A45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3568354" y="1984248"/>
            <a:ext cx="5021153" cy="513527"/>
          </a:xfrm>
          <a:prstGeom prst="roundRect">
            <a:avLst/>
          </a:prstGeom>
          <a:noFill/>
          <a:ln w="44450">
            <a:solidFill>
              <a:srgbClr val="FFD6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2960" y="617220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>
                <a:solidFill>
                  <a:srgbClr val="0A6299"/>
                </a:solidFill>
              </a:rPr>
              <a:t>The &lt;header&gt; is this strip across the top.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1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01AEFD"/>
                </a:solidFill>
              </a:rPr>
              <a:t>Type this into index.html   -   line 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60120"/>
            <a:ext cx="11155680" cy="4297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3  </a:t>
            </a:r>
            <a:r>
              <a:rPr sz="1800">
                <a:solidFill>
                  <a:srgbClr val="6D8C97"/>
                </a:solidFill>
                <a:latin typeface="Consolas"/>
              </a:rPr>
              <a:t>&lt;main class="app"&gt;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4  </a:t>
            </a:r>
            <a:r>
              <a:rPr sz="1800">
                <a:solidFill>
                  <a:srgbClr val="7FE0A0"/>
                </a:solidFill>
                <a:latin typeface="Consolas"/>
              </a:rPr>
              <a:t>  &lt;header class="top"&gt;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23560"/>
            <a:ext cx="110642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>
                <a:solidFill>
                  <a:srgbClr val="DCECEF"/>
                </a:solidFill>
              </a:rPr>
              <a:t>Opens &lt;header&gt;, the top strip. It closes a few lines down.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800" b="1">
                <a:solidFill>
                  <a:srgbClr val="1F2A37"/>
                </a:solidFill>
              </a:rPr>
              <a:t>The &lt;h1&gt; tag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8680" y="502920"/>
            <a:ext cx="5486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01AEFD"/>
                </a:solidFill>
              </a:rPr>
              <a:t>HTML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828800"/>
            <a:ext cx="105156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The biggest heading: the page's main title.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Use only one &lt;h1&gt; per page.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365760"/>
            <a:ext cx="7315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01AEFD"/>
                </a:solidFill>
              </a:rPr>
              <a:t>ON THE PAGE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658368"/>
            <a:ext cx="10515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>
                <a:solidFill>
                  <a:srgbClr val="1F2A37"/>
                </a:solidFill>
              </a:rPr>
              <a:t>The &lt;h1&gt; tag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454237" y="1641896"/>
            <a:ext cx="5249387" cy="3918021"/>
          </a:xfrm>
          <a:prstGeom prst="roundRect">
            <a:avLst/>
          </a:prstGeom>
          <a:solidFill>
            <a:srgbClr val="0F1F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3606393" y="2022287"/>
            <a:ext cx="4945075" cy="437448"/>
          </a:xfrm>
          <a:prstGeom prst="roundRect">
            <a:avLst/>
          </a:prstGeom>
          <a:solidFill>
            <a:srgbClr val="1630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3720510" y="2155423"/>
            <a:ext cx="1426463" cy="190195"/>
          </a:xfrm>
          <a:prstGeom prst="roundRect">
            <a:avLst/>
          </a:prstGeom>
          <a:solidFill>
            <a:srgbClr val="4A6B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3606393" y="2554833"/>
            <a:ext cx="4945075" cy="1730776"/>
          </a:xfrm>
          <a:prstGeom prst="roundRect">
            <a:avLst/>
          </a:prstGeom>
          <a:solidFill>
            <a:srgbClr val="0B17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3720510" y="2668950"/>
            <a:ext cx="2852927" cy="399409"/>
          </a:xfrm>
          <a:prstGeom prst="roundRect">
            <a:avLst/>
          </a:prstGeom>
          <a:solidFill>
            <a:srgbClr val="1B35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5584423" y="3182477"/>
            <a:ext cx="2852927" cy="399409"/>
          </a:xfrm>
          <a:prstGeom prst="roundRect">
            <a:avLst/>
          </a:prstGeom>
          <a:solidFill>
            <a:srgbClr val="123A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3720510" y="3696004"/>
            <a:ext cx="3138220" cy="399409"/>
          </a:xfrm>
          <a:prstGeom prst="roundRect">
            <a:avLst/>
          </a:prstGeom>
          <a:solidFill>
            <a:srgbClr val="1B35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3701491" y="4409236"/>
            <a:ext cx="1426463" cy="228234"/>
          </a:xfrm>
          <a:prstGeom prst="roundRect">
            <a:avLst/>
          </a:prstGeom>
          <a:solidFill>
            <a:srgbClr val="1630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5223052" y="4409236"/>
            <a:ext cx="1426463" cy="228234"/>
          </a:xfrm>
          <a:prstGeom prst="roundRect">
            <a:avLst/>
          </a:prstGeom>
          <a:solidFill>
            <a:srgbClr val="1630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3701491" y="4856195"/>
            <a:ext cx="3899001" cy="323331"/>
          </a:xfrm>
          <a:prstGeom prst="roundRect">
            <a:avLst/>
          </a:prstGeom>
          <a:solidFill>
            <a:srgbClr val="1630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7695590" y="4856195"/>
            <a:ext cx="779800" cy="323331"/>
          </a:xfrm>
          <a:prstGeom prst="roundRect">
            <a:avLst/>
          </a:prstGeom>
          <a:solidFill>
            <a:srgbClr val="01AE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3720510" y="5407761"/>
            <a:ext cx="1616659" cy="95097"/>
          </a:xfrm>
          <a:prstGeom prst="roundRect">
            <a:avLst/>
          </a:prstGeom>
          <a:solidFill>
            <a:srgbClr val="2A45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3682471" y="2117384"/>
            <a:ext cx="1502542" cy="266273"/>
          </a:xfrm>
          <a:prstGeom prst="roundRect">
            <a:avLst/>
          </a:prstGeom>
          <a:noFill/>
          <a:ln w="44450">
            <a:solidFill>
              <a:srgbClr val="FFD6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2960" y="617220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>
                <a:solidFill>
                  <a:srgbClr val="0A6299"/>
                </a:solidFill>
              </a:rPr>
              <a:t>The &lt;h1&gt; is the page's title, up in the header.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1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01AEFD"/>
                </a:solidFill>
              </a:rPr>
              <a:t>Type this into index.html   -   line 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60120"/>
            <a:ext cx="11155680" cy="4297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3  </a:t>
            </a:r>
            <a:r>
              <a:rPr sz="1800">
                <a:solidFill>
                  <a:srgbClr val="6D8C97"/>
                </a:solidFill>
                <a:latin typeface="Consolas"/>
              </a:rPr>
              <a:t>&lt;main class="app"&gt;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4  </a:t>
            </a:r>
            <a:r>
              <a:rPr sz="1800">
                <a:solidFill>
                  <a:srgbClr val="6D8C97"/>
                </a:solidFill>
                <a:latin typeface="Consolas"/>
              </a:rPr>
              <a:t>  &lt;header class="top"&gt;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5  </a:t>
            </a:r>
            <a:r>
              <a:rPr sz="1800">
                <a:solidFill>
                  <a:srgbClr val="7FE0A0"/>
                </a:solidFill>
                <a:latin typeface="Consolas"/>
              </a:rPr>
              <a:t>    &lt;h1&gt;My AI Companion&lt;/h1&gt;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23560"/>
            <a:ext cx="110642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>
                <a:solidFill>
                  <a:srgbClr val="DCECEF"/>
                </a:solidFill>
              </a:rPr>
              <a:t>The big title of the page, inside an &lt;h1&gt;.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800" b="1">
                <a:solidFill>
                  <a:srgbClr val="1F2A37"/>
                </a:solidFill>
              </a:rPr>
              <a:t>The &lt;p&gt; tag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8680" y="502920"/>
            <a:ext cx="5486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01AEFD"/>
                </a:solidFill>
              </a:rPr>
              <a:t>HTML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828800"/>
            <a:ext cx="105156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A paragraph - a block of ordinary text.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365760"/>
            <a:ext cx="7315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01AEFD"/>
                </a:solidFill>
              </a:rPr>
              <a:t>ON THE PAGE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658368"/>
            <a:ext cx="10515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>
                <a:solidFill>
                  <a:srgbClr val="1F2A37"/>
                </a:solidFill>
              </a:rPr>
              <a:t>The &lt;p&gt; tag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454237" y="1641896"/>
            <a:ext cx="5249387" cy="3918021"/>
          </a:xfrm>
          <a:prstGeom prst="roundRect">
            <a:avLst/>
          </a:prstGeom>
          <a:solidFill>
            <a:srgbClr val="0F1F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3606393" y="2022287"/>
            <a:ext cx="4945075" cy="437448"/>
          </a:xfrm>
          <a:prstGeom prst="roundRect">
            <a:avLst/>
          </a:prstGeom>
          <a:solidFill>
            <a:srgbClr val="1630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3720510" y="2155423"/>
            <a:ext cx="1426463" cy="190195"/>
          </a:xfrm>
          <a:prstGeom prst="roundRect">
            <a:avLst/>
          </a:prstGeom>
          <a:solidFill>
            <a:srgbClr val="4A6B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3606393" y="2554833"/>
            <a:ext cx="4945075" cy="1730776"/>
          </a:xfrm>
          <a:prstGeom prst="roundRect">
            <a:avLst/>
          </a:prstGeom>
          <a:solidFill>
            <a:srgbClr val="0B17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3720510" y="2668950"/>
            <a:ext cx="2852927" cy="399409"/>
          </a:xfrm>
          <a:prstGeom prst="roundRect">
            <a:avLst/>
          </a:prstGeom>
          <a:solidFill>
            <a:srgbClr val="1B35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5584423" y="3182477"/>
            <a:ext cx="2852927" cy="399409"/>
          </a:xfrm>
          <a:prstGeom prst="roundRect">
            <a:avLst/>
          </a:prstGeom>
          <a:solidFill>
            <a:srgbClr val="123A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3720510" y="3696004"/>
            <a:ext cx="3138220" cy="399409"/>
          </a:xfrm>
          <a:prstGeom prst="roundRect">
            <a:avLst/>
          </a:prstGeom>
          <a:solidFill>
            <a:srgbClr val="1B35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3701491" y="4409236"/>
            <a:ext cx="1426463" cy="228234"/>
          </a:xfrm>
          <a:prstGeom prst="roundRect">
            <a:avLst/>
          </a:prstGeom>
          <a:solidFill>
            <a:srgbClr val="1630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5223052" y="4409236"/>
            <a:ext cx="1426463" cy="228234"/>
          </a:xfrm>
          <a:prstGeom prst="roundRect">
            <a:avLst/>
          </a:prstGeom>
          <a:solidFill>
            <a:srgbClr val="1630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3701491" y="4856195"/>
            <a:ext cx="3899001" cy="323331"/>
          </a:xfrm>
          <a:prstGeom prst="roundRect">
            <a:avLst/>
          </a:prstGeom>
          <a:solidFill>
            <a:srgbClr val="1630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7695590" y="4856195"/>
            <a:ext cx="779800" cy="323331"/>
          </a:xfrm>
          <a:prstGeom prst="roundRect">
            <a:avLst/>
          </a:prstGeom>
          <a:solidFill>
            <a:srgbClr val="01AE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3720510" y="5407761"/>
            <a:ext cx="1616659" cy="95097"/>
          </a:xfrm>
          <a:prstGeom prst="roundRect">
            <a:avLst/>
          </a:prstGeom>
          <a:solidFill>
            <a:srgbClr val="2A45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3682471" y="2630911"/>
            <a:ext cx="2929006" cy="475488"/>
          </a:xfrm>
          <a:prstGeom prst="roundRect">
            <a:avLst/>
          </a:prstGeom>
          <a:noFill/>
          <a:ln w="44450">
            <a:solidFill>
              <a:srgbClr val="FFD6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2960" y="617220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>
                <a:solidFill>
                  <a:srgbClr val="0A6299"/>
                </a:solidFill>
              </a:rPr>
              <a:t>A &lt;p&gt; is a paragraph - like the text in a message.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1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01AEFD"/>
                </a:solidFill>
              </a:rPr>
              <a:t>Type this into index.html   -   line 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60120"/>
            <a:ext cx="11155680" cy="4297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3  </a:t>
            </a:r>
            <a:r>
              <a:rPr sz="1800">
                <a:solidFill>
                  <a:srgbClr val="6D8C97"/>
                </a:solidFill>
                <a:latin typeface="Consolas"/>
              </a:rPr>
              <a:t>&lt;main class="app"&gt;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4  </a:t>
            </a:r>
            <a:r>
              <a:rPr sz="1800">
                <a:solidFill>
                  <a:srgbClr val="6D8C97"/>
                </a:solidFill>
                <a:latin typeface="Consolas"/>
              </a:rPr>
              <a:t>  &lt;header class="top"&gt;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5  </a:t>
            </a:r>
            <a:r>
              <a:rPr sz="1800">
                <a:solidFill>
                  <a:srgbClr val="6D8C97"/>
                </a:solidFill>
                <a:latin typeface="Consolas"/>
              </a:rPr>
              <a:t>    &lt;h1&gt;My AI Companion&lt;/h1&gt;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6  </a:t>
            </a:r>
            <a:r>
              <a:rPr sz="1800">
                <a:solidFill>
                  <a:srgbClr val="7FE0A0"/>
                </a:solidFill>
                <a:latin typeface="Consolas"/>
              </a:rPr>
              <a:t>    &lt;p class="tag"&gt;Built by me, running on the school AI&lt;/p&gt;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23560"/>
            <a:ext cx="110642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>
                <a:solidFill>
                  <a:srgbClr val="DCECEF"/>
                </a:solidFill>
              </a:rPr>
              <a:t>A small paragraph under the title. class="tag" lets CSS make it grey and small.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1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01AEFD"/>
                </a:solidFill>
              </a:rPr>
              <a:t>Type this into index.html   -   line 7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60120"/>
            <a:ext cx="11155680" cy="4297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3  </a:t>
            </a:r>
            <a:r>
              <a:rPr sz="1800">
                <a:solidFill>
                  <a:srgbClr val="6D8C97"/>
                </a:solidFill>
                <a:latin typeface="Consolas"/>
              </a:rPr>
              <a:t>&lt;main class="app"&gt;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4  </a:t>
            </a:r>
            <a:r>
              <a:rPr sz="1800">
                <a:solidFill>
                  <a:srgbClr val="6D8C97"/>
                </a:solidFill>
                <a:latin typeface="Consolas"/>
              </a:rPr>
              <a:t>  &lt;header class="top"&gt;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5  </a:t>
            </a:r>
            <a:r>
              <a:rPr sz="1800">
                <a:solidFill>
                  <a:srgbClr val="6D8C97"/>
                </a:solidFill>
                <a:latin typeface="Consolas"/>
              </a:rPr>
              <a:t>    &lt;h1&gt;My AI Companion&lt;/h1&gt;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6  </a:t>
            </a:r>
            <a:r>
              <a:rPr sz="1800">
                <a:solidFill>
                  <a:srgbClr val="6D8C97"/>
                </a:solidFill>
                <a:latin typeface="Consolas"/>
              </a:rPr>
              <a:t>    &lt;p class="tag"&gt;Built by me, running on the school AI&lt;/p&gt;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7  </a:t>
            </a:r>
            <a:r>
              <a:rPr sz="1800">
                <a:solidFill>
                  <a:srgbClr val="7FE0A0"/>
                </a:solidFill>
                <a:latin typeface="Consolas"/>
              </a:rPr>
              <a:t>  &lt;/header&gt;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23560"/>
            <a:ext cx="110642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>
                <a:solidFill>
                  <a:srgbClr val="DCECEF"/>
                </a:solidFill>
              </a:rPr>
              <a:t>Closes &lt;/header&gt;. Every tag you open you must close.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1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01AEFD"/>
                </a:solidFill>
              </a:rPr>
              <a:t>All together in index.html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60120"/>
            <a:ext cx="11155680" cy="4297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3  </a:t>
            </a:r>
            <a:r>
              <a:rPr sz="1800">
                <a:solidFill>
                  <a:srgbClr val="7FE0A0"/>
                </a:solidFill>
                <a:latin typeface="Consolas"/>
              </a:rPr>
              <a:t>&lt;main class="app"&gt;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4  </a:t>
            </a:r>
            <a:r>
              <a:rPr sz="1800">
                <a:solidFill>
                  <a:srgbClr val="7FE0A0"/>
                </a:solidFill>
                <a:latin typeface="Consolas"/>
              </a:rPr>
              <a:t>  &lt;header class="top"&gt;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5  </a:t>
            </a:r>
            <a:r>
              <a:rPr sz="1800">
                <a:solidFill>
                  <a:srgbClr val="7FE0A0"/>
                </a:solidFill>
                <a:latin typeface="Consolas"/>
              </a:rPr>
              <a:t>    &lt;h1&gt;My AI Companion&lt;/h1&gt;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6  </a:t>
            </a:r>
            <a:r>
              <a:rPr sz="1800">
                <a:solidFill>
                  <a:srgbClr val="7FE0A0"/>
                </a:solidFill>
                <a:latin typeface="Consolas"/>
              </a:rPr>
              <a:t>    &lt;p class="tag"&gt;Built by me, running on the school AI&lt;/p&gt;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7  </a:t>
            </a:r>
            <a:r>
              <a:rPr sz="1800">
                <a:solidFill>
                  <a:srgbClr val="7FE0A0"/>
                </a:solidFill>
                <a:latin typeface="Consolas"/>
              </a:rPr>
              <a:t>  &lt;/header&gt;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23560"/>
            <a:ext cx="110642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>
                <a:solidFill>
                  <a:srgbClr val="DCECEF"/>
                </a:solidFill>
              </a:rPr>
              <a:t>That is the whole piece. Check yours looks the same before moving on.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800" b="1">
                <a:solidFill>
                  <a:srgbClr val="1F2A37"/>
                </a:solidFill>
              </a:rPr>
              <a:t>The &lt;div&gt; tag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8680" y="502920"/>
            <a:ext cx="5486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01AEFD"/>
                </a:solidFill>
              </a:rPr>
              <a:t>HTML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828800"/>
            <a:ext cx="105156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A plain empty box you can style and fill later.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The chat messages will go inside this one.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365760"/>
            <a:ext cx="7315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01AEFD"/>
                </a:solidFill>
              </a:rPr>
              <a:t>ON THE PAGE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658368"/>
            <a:ext cx="10515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>
                <a:solidFill>
                  <a:srgbClr val="1F2A37"/>
                </a:solidFill>
              </a:rPr>
              <a:t>The &lt;div&gt; tag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454237" y="1641896"/>
            <a:ext cx="5249387" cy="3918021"/>
          </a:xfrm>
          <a:prstGeom prst="roundRect">
            <a:avLst/>
          </a:prstGeom>
          <a:solidFill>
            <a:srgbClr val="0F1F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3606393" y="2022287"/>
            <a:ext cx="4945075" cy="437448"/>
          </a:xfrm>
          <a:prstGeom prst="roundRect">
            <a:avLst/>
          </a:prstGeom>
          <a:solidFill>
            <a:srgbClr val="1630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3720510" y="2155423"/>
            <a:ext cx="1426463" cy="190195"/>
          </a:xfrm>
          <a:prstGeom prst="roundRect">
            <a:avLst/>
          </a:prstGeom>
          <a:solidFill>
            <a:srgbClr val="4A6B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3606393" y="2554833"/>
            <a:ext cx="4945075" cy="1730776"/>
          </a:xfrm>
          <a:prstGeom prst="roundRect">
            <a:avLst/>
          </a:prstGeom>
          <a:solidFill>
            <a:srgbClr val="0B17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3720510" y="2668950"/>
            <a:ext cx="2852927" cy="399409"/>
          </a:xfrm>
          <a:prstGeom prst="roundRect">
            <a:avLst/>
          </a:prstGeom>
          <a:solidFill>
            <a:srgbClr val="1B35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5584423" y="3182477"/>
            <a:ext cx="2852927" cy="399409"/>
          </a:xfrm>
          <a:prstGeom prst="roundRect">
            <a:avLst/>
          </a:prstGeom>
          <a:solidFill>
            <a:srgbClr val="123A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3720510" y="3696004"/>
            <a:ext cx="3138220" cy="399409"/>
          </a:xfrm>
          <a:prstGeom prst="roundRect">
            <a:avLst/>
          </a:prstGeom>
          <a:solidFill>
            <a:srgbClr val="1B35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3701491" y="4409236"/>
            <a:ext cx="1426463" cy="228234"/>
          </a:xfrm>
          <a:prstGeom prst="roundRect">
            <a:avLst/>
          </a:prstGeom>
          <a:solidFill>
            <a:srgbClr val="1630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5223052" y="4409236"/>
            <a:ext cx="1426463" cy="228234"/>
          </a:xfrm>
          <a:prstGeom prst="roundRect">
            <a:avLst/>
          </a:prstGeom>
          <a:solidFill>
            <a:srgbClr val="1630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3701491" y="4856195"/>
            <a:ext cx="3899001" cy="323331"/>
          </a:xfrm>
          <a:prstGeom prst="roundRect">
            <a:avLst/>
          </a:prstGeom>
          <a:solidFill>
            <a:srgbClr val="1630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7695590" y="4856195"/>
            <a:ext cx="779800" cy="323331"/>
          </a:xfrm>
          <a:prstGeom prst="roundRect">
            <a:avLst/>
          </a:prstGeom>
          <a:solidFill>
            <a:srgbClr val="01AE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3720510" y="5407761"/>
            <a:ext cx="1616659" cy="95097"/>
          </a:xfrm>
          <a:prstGeom prst="roundRect">
            <a:avLst/>
          </a:prstGeom>
          <a:solidFill>
            <a:srgbClr val="2A45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3682471" y="2630911"/>
            <a:ext cx="2929006" cy="475488"/>
          </a:xfrm>
          <a:prstGeom prst="roundRect">
            <a:avLst/>
          </a:prstGeom>
          <a:noFill/>
          <a:ln w="44450">
            <a:solidFill>
              <a:srgbClr val="FFD6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2960" y="617220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>
                <a:solidFill>
                  <a:srgbClr val="0A6299"/>
                </a:solidFill>
              </a:rPr>
              <a:t>Each message bubble is a &lt;div&gt; box.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1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01AEFD"/>
                </a:solidFill>
              </a:rPr>
              <a:t>Type this into index.html   -   line 8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60120"/>
            <a:ext cx="11155680" cy="4297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8  </a:t>
            </a:r>
            <a:r>
              <a:rPr sz="1800">
                <a:solidFill>
                  <a:srgbClr val="7FE0A0"/>
                </a:solidFill>
                <a:latin typeface="Consolas"/>
              </a:rPr>
              <a:t>  &lt;div id="chat" class="chat"&gt;&lt;/div&gt;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23560"/>
            <a:ext cx="110642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>
                <a:solidFill>
                  <a:srgbClr val="DCECEF"/>
                </a:solidFill>
              </a:rPr>
              <a:t>An empty &lt;div&gt; with id="chat". Empty for now - your messages will fill it later.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800" b="1">
                <a:solidFill>
                  <a:srgbClr val="1F2A37"/>
                </a:solidFill>
              </a:rPr>
              <a:t>The &lt;form&gt; tag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8680" y="502920"/>
            <a:ext cx="5486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01AEFD"/>
                </a:solidFill>
              </a:rPr>
              <a:t>HTML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828800"/>
            <a:ext cx="105156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Groups a text box and a button that work together.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Pressing Enter inside it acts like clicking the button.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365760"/>
            <a:ext cx="7315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01AEFD"/>
                </a:solidFill>
              </a:rPr>
              <a:t>ON THE PAGE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658368"/>
            <a:ext cx="10515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>
                <a:solidFill>
                  <a:srgbClr val="1F2A37"/>
                </a:solidFill>
              </a:rPr>
              <a:t>The &lt;form&gt; tag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454237" y="1641896"/>
            <a:ext cx="5249387" cy="3918021"/>
          </a:xfrm>
          <a:prstGeom prst="roundRect">
            <a:avLst/>
          </a:prstGeom>
          <a:solidFill>
            <a:srgbClr val="0F1F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3606393" y="2022287"/>
            <a:ext cx="4945075" cy="437448"/>
          </a:xfrm>
          <a:prstGeom prst="roundRect">
            <a:avLst/>
          </a:prstGeom>
          <a:solidFill>
            <a:srgbClr val="1630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3720510" y="2155423"/>
            <a:ext cx="1426463" cy="190195"/>
          </a:xfrm>
          <a:prstGeom prst="roundRect">
            <a:avLst/>
          </a:prstGeom>
          <a:solidFill>
            <a:srgbClr val="4A6B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3606393" y="2554833"/>
            <a:ext cx="4945075" cy="1730776"/>
          </a:xfrm>
          <a:prstGeom prst="roundRect">
            <a:avLst/>
          </a:prstGeom>
          <a:solidFill>
            <a:srgbClr val="0B17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3720510" y="2668950"/>
            <a:ext cx="2852927" cy="399409"/>
          </a:xfrm>
          <a:prstGeom prst="roundRect">
            <a:avLst/>
          </a:prstGeom>
          <a:solidFill>
            <a:srgbClr val="1B35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5584423" y="3182477"/>
            <a:ext cx="2852927" cy="399409"/>
          </a:xfrm>
          <a:prstGeom prst="roundRect">
            <a:avLst/>
          </a:prstGeom>
          <a:solidFill>
            <a:srgbClr val="123A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3720510" y="3696004"/>
            <a:ext cx="3138220" cy="399409"/>
          </a:xfrm>
          <a:prstGeom prst="roundRect">
            <a:avLst/>
          </a:prstGeom>
          <a:solidFill>
            <a:srgbClr val="1B35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3701491" y="4409236"/>
            <a:ext cx="1426463" cy="228234"/>
          </a:xfrm>
          <a:prstGeom prst="roundRect">
            <a:avLst/>
          </a:prstGeom>
          <a:solidFill>
            <a:srgbClr val="1630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5223052" y="4409236"/>
            <a:ext cx="1426463" cy="228234"/>
          </a:xfrm>
          <a:prstGeom prst="roundRect">
            <a:avLst/>
          </a:prstGeom>
          <a:solidFill>
            <a:srgbClr val="1630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3701491" y="4856195"/>
            <a:ext cx="3899001" cy="323331"/>
          </a:xfrm>
          <a:prstGeom prst="roundRect">
            <a:avLst/>
          </a:prstGeom>
          <a:solidFill>
            <a:srgbClr val="1630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7695590" y="4856195"/>
            <a:ext cx="779800" cy="323331"/>
          </a:xfrm>
          <a:prstGeom prst="roundRect">
            <a:avLst/>
          </a:prstGeom>
          <a:solidFill>
            <a:srgbClr val="01AE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3720510" y="5407761"/>
            <a:ext cx="1616659" cy="95097"/>
          </a:xfrm>
          <a:prstGeom prst="roundRect">
            <a:avLst/>
          </a:prstGeom>
          <a:solidFill>
            <a:srgbClr val="2A45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3568354" y="4742078"/>
            <a:ext cx="5021153" cy="551566"/>
          </a:xfrm>
          <a:prstGeom prst="roundRect">
            <a:avLst/>
          </a:prstGeom>
          <a:noFill/>
          <a:ln w="44450">
            <a:solidFill>
              <a:srgbClr val="FFD6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2960" y="617220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>
                <a:solidFill>
                  <a:srgbClr val="0A6299"/>
                </a:solidFill>
              </a:rPr>
              <a:t>The &lt;form&gt; is the row where you type and send.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1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01AEFD"/>
                </a:solidFill>
              </a:rPr>
              <a:t>Type this into index.html   -   line 9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60120"/>
            <a:ext cx="11155680" cy="4297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9  </a:t>
            </a:r>
            <a:r>
              <a:rPr sz="1800">
                <a:solidFill>
                  <a:srgbClr val="7FE0A0"/>
                </a:solidFill>
                <a:latin typeface="Consolas"/>
              </a:rPr>
              <a:t>  &lt;form id="composer" class="composer"&gt;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23560"/>
            <a:ext cx="110642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>
                <a:solidFill>
                  <a:srgbClr val="DCECEF"/>
                </a:solidFill>
              </a:rPr>
              <a:t>Opens a &lt;form&gt; with id="composer": the text box and Send button belong together.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800" b="1">
                <a:solidFill>
                  <a:srgbClr val="1F2A37"/>
                </a:solidFill>
              </a:rPr>
              <a:t>Self-closing tags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8680" y="502920"/>
            <a:ext cx="5486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01AEFD"/>
                </a:solidFill>
              </a:rPr>
              <a:t>HTML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828800"/>
            <a:ext cx="105156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A few tags hold no content, so they have NO closing tag.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&lt;link&gt; and &lt;input&gt; stand on their own.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365760"/>
            <a:ext cx="7315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01AEFD"/>
                </a:solidFill>
              </a:rPr>
              <a:t>ON THE PAGE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658368"/>
            <a:ext cx="10515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>
                <a:solidFill>
                  <a:srgbClr val="1F2A37"/>
                </a:solidFill>
              </a:rPr>
              <a:t>Self-closing tags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454237" y="1641896"/>
            <a:ext cx="5249387" cy="3918021"/>
          </a:xfrm>
          <a:prstGeom prst="roundRect">
            <a:avLst/>
          </a:prstGeom>
          <a:solidFill>
            <a:srgbClr val="0F1F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3606393" y="2022287"/>
            <a:ext cx="4945075" cy="437448"/>
          </a:xfrm>
          <a:prstGeom prst="roundRect">
            <a:avLst/>
          </a:prstGeom>
          <a:solidFill>
            <a:srgbClr val="1630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3720510" y="2155423"/>
            <a:ext cx="1426463" cy="190195"/>
          </a:xfrm>
          <a:prstGeom prst="roundRect">
            <a:avLst/>
          </a:prstGeom>
          <a:solidFill>
            <a:srgbClr val="4A6B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3606393" y="2554833"/>
            <a:ext cx="4945075" cy="1730776"/>
          </a:xfrm>
          <a:prstGeom prst="roundRect">
            <a:avLst/>
          </a:prstGeom>
          <a:solidFill>
            <a:srgbClr val="0B17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3720510" y="2668950"/>
            <a:ext cx="2852927" cy="399409"/>
          </a:xfrm>
          <a:prstGeom prst="roundRect">
            <a:avLst/>
          </a:prstGeom>
          <a:solidFill>
            <a:srgbClr val="1B35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5584423" y="3182477"/>
            <a:ext cx="2852927" cy="399409"/>
          </a:xfrm>
          <a:prstGeom prst="roundRect">
            <a:avLst/>
          </a:prstGeom>
          <a:solidFill>
            <a:srgbClr val="123A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3720510" y="3696004"/>
            <a:ext cx="3138220" cy="399409"/>
          </a:xfrm>
          <a:prstGeom prst="roundRect">
            <a:avLst/>
          </a:prstGeom>
          <a:solidFill>
            <a:srgbClr val="1B35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3701491" y="4409236"/>
            <a:ext cx="1426463" cy="228234"/>
          </a:xfrm>
          <a:prstGeom prst="roundRect">
            <a:avLst/>
          </a:prstGeom>
          <a:solidFill>
            <a:srgbClr val="1630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5223052" y="4409236"/>
            <a:ext cx="1426463" cy="228234"/>
          </a:xfrm>
          <a:prstGeom prst="roundRect">
            <a:avLst/>
          </a:prstGeom>
          <a:solidFill>
            <a:srgbClr val="1630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3701491" y="4856195"/>
            <a:ext cx="3899001" cy="323331"/>
          </a:xfrm>
          <a:prstGeom prst="roundRect">
            <a:avLst/>
          </a:prstGeom>
          <a:solidFill>
            <a:srgbClr val="1630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7695590" y="4856195"/>
            <a:ext cx="779800" cy="323331"/>
          </a:xfrm>
          <a:prstGeom prst="roundRect">
            <a:avLst/>
          </a:prstGeom>
          <a:solidFill>
            <a:srgbClr val="01AE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3720510" y="5407761"/>
            <a:ext cx="1616659" cy="95097"/>
          </a:xfrm>
          <a:prstGeom prst="roundRect">
            <a:avLst/>
          </a:prstGeom>
          <a:solidFill>
            <a:srgbClr val="2A45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3663452" y="4818156"/>
            <a:ext cx="3975079" cy="399409"/>
          </a:xfrm>
          <a:prstGeom prst="roundRect">
            <a:avLst/>
          </a:prstGeom>
          <a:noFill/>
          <a:ln w="44450">
            <a:solidFill>
              <a:srgbClr val="FFD6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2960" y="617220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>
                <a:solidFill>
                  <a:srgbClr val="0A6299"/>
                </a:solidFill>
              </a:rPr>
              <a:t>The message &lt;input&gt; is a self-closing tag.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800" b="1">
                <a:solidFill>
                  <a:srgbClr val="1F2A37"/>
                </a:solidFill>
              </a:rPr>
              <a:t>The &lt;input&gt; tag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8680" y="502920"/>
            <a:ext cx="5486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01AEFD"/>
                </a:solidFill>
              </a:rPr>
              <a:t>HTML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828800"/>
            <a:ext cx="105156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A box you type into.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placeholder is the grey hint shown while it is empty.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365760"/>
            <a:ext cx="7315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01AEFD"/>
                </a:solidFill>
              </a:rPr>
              <a:t>ON THE PAGE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658368"/>
            <a:ext cx="10515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>
                <a:solidFill>
                  <a:srgbClr val="1F2A37"/>
                </a:solidFill>
              </a:rPr>
              <a:t>The &lt;input&gt; tag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454237" y="1641896"/>
            <a:ext cx="5249387" cy="3918021"/>
          </a:xfrm>
          <a:prstGeom prst="roundRect">
            <a:avLst/>
          </a:prstGeom>
          <a:solidFill>
            <a:srgbClr val="0F1F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3606393" y="2022287"/>
            <a:ext cx="4945075" cy="437448"/>
          </a:xfrm>
          <a:prstGeom prst="roundRect">
            <a:avLst/>
          </a:prstGeom>
          <a:solidFill>
            <a:srgbClr val="1630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3720510" y="2155423"/>
            <a:ext cx="1426463" cy="190195"/>
          </a:xfrm>
          <a:prstGeom prst="roundRect">
            <a:avLst/>
          </a:prstGeom>
          <a:solidFill>
            <a:srgbClr val="4A6B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3606393" y="2554833"/>
            <a:ext cx="4945075" cy="1730776"/>
          </a:xfrm>
          <a:prstGeom prst="roundRect">
            <a:avLst/>
          </a:prstGeom>
          <a:solidFill>
            <a:srgbClr val="0B17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3720510" y="2668950"/>
            <a:ext cx="2852927" cy="399409"/>
          </a:xfrm>
          <a:prstGeom prst="roundRect">
            <a:avLst/>
          </a:prstGeom>
          <a:solidFill>
            <a:srgbClr val="1B35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5584423" y="3182477"/>
            <a:ext cx="2852927" cy="399409"/>
          </a:xfrm>
          <a:prstGeom prst="roundRect">
            <a:avLst/>
          </a:prstGeom>
          <a:solidFill>
            <a:srgbClr val="123A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3720510" y="3696004"/>
            <a:ext cx="3138220" cy="399409"/>
          </a:xfrm>
          <a:prstGeom prst="roundRect">
            <a:avLst/>
          </a:prstGeom>
          <a:solidFill>
            <a:srgbClr val="1B35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3701491" y="4409236"/>
            <a:ext cx="1426463" cy="228234"/>
          </a:xfrm>
          <a:prstGeom prst="roundRect">
            <a:avLst/>
          </a:prstGeom>
          <a:solidFill>
            <a:srgbClr val="1630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5223052" y="4409236"/>
            <a:ext cx="1426463" cy="228234"/>
          </a:xfrm>
          <a:prstGeom prst="roundRect">
            <a:avLst/>
          </a:prstGeom>
          <a:solidFill>
            <a:srgbClr val="1630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3701491" y="4856195"/>
            <a:ext cx="3899001" cy="323331"/>
          </a:xfrm>
          <a:prstGeom prst="roundRect">
            <a:avLst/>
          </a:prstGeom>
          <a:solidFill>
            <a:srgbClr val="1630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7695590" y="4856195"/>
            <a:ext cx="779800" cy="323331"/>
          </a:xfrm>
          <a:prstGeom prst="roundRect">
            <a:avLst/>
          </a:prstGeom>
          <a:solidFill>
            <a:srgbClr val="01AE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3720510" y="5407761"/>
            <a:ext cx="1616659" cy="95097"/>
          </a:xfrm>
          <a:prstGeom prst="roundRect">
            <a:avLst/>
          </a:prstGeom>
          <a:solidFill>
            <a:srgbClr val="2A45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3663452" y="4818156"/>
            <a:ext cx="3975079" cy="399409"/>
          </a:xfrm>
          <a:prstGeom prst="roundRect">
            <a:avLst/>
          </a:prstGeom>
          <a:noFill/>
          <a:ln w="44450">
            <a:solidFill>
              <a:srgbClr val="FFD6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2960" y="617220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>
                <a:solidFill>
                  <a:srgbClr val="0A6299"/>
                </a:solidFill>
              </a:rPr>
              <a:t>An &lt;input&gt; is a one-line box like this.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1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01AEFD"/>
                </a:solidFill>
              </a:rPr>
              <a:t>Type this into index.html   -   line 10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60120"/>
            <a:ext cx="11155680" cy="4297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9  </a:t>
            </a:r>
            <a:r>
              <a:rPr sz="1800">
                <a:solidFill>
                  <a:srgbClr val="6D8C97"/>
                </a:solidFill>
                <a:latin typeface="Consolas"/>
              </a:rPr>
              <a:t>  &lt;form id="composer" class="composer"&gt;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10  </a:t>
            </a:r>
            <a:r>
              <a:rPr sz="1800">
                <a:solidFill>
                  <a:srgbClr val="7FE0A0"/>
                </a:solidFill>
                <a:latin typeface="Consolas"/>
              </a:rPr>
              <a:t>    &lt;input id="prompt" placeholder="Say something..." autocomplete="off"&gt;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23560"/>
            <a:ext cx="110642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>
                <a:solidFill>
                  <a:srgbClr val="DCECEF"/>
                </a:solidFill>
              </a:rPr>
              <a:t>The &lt;input&gt; you type in. placeholder is the faint hint; autocomplete off hides suggestions.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800" b="1">
                <a:solidFill>
                  <a:srgbClr val="1F2A37"/>
                </a:solidFill>
              </a:rPr>
              <a:t>The &lt;button&gt; tag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8680" y="502920"/>
            <a:ext cx="5486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01AEFD"/>
                </a:solidFill>
              </a:rPr>
              <a:t>HTML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828800"/>
            <a:ext cx="105156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A button you can click - here, Send.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type=submit makes it send the form.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365760"/>
            <a:ext cx="7315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01AEFD"/>
                </a:solidFill>
              </a:rPr>
              <a:t>ON THE PAGE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658368"/>
            <a:ext cx="10515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>
                <a:solidFill>
                  <a:srgbClr val="1F2A37"/>
                </a:solidFill>
              </a:rPr>
              <a:t>The &lt;button&gt; tag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454237" y="1641896"/>
            <a:ext cx="5249387" cy="3918021"/>
          </a:xfrm>
          <a:prstGeom prst="roundRect">
            <a:avLst/>
          </a:prstGeom>
          <a:solidFill>
            <a:srgbClr val="0F1F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3606393" y="2022287"/>
            <a:ext cx="4945075" cy="437448"/>
          </a:xfrm>
          <a:prstGeom prst="roundRect">
            <a:avLst/>
          </a:prstGeom>
          <a:solidFill>
            <a:srgbClr val="1630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3720510" y="2155423"/>
            <a:ext cx="1426463" cy="190195"/>
          </a:xfrm>
          <a:prstGeom prst="roundRect">
            <a:avLst/>
          </a:prstGeom>
          <a:solidFill>
            <a:srgbClr val="4A6B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3606393" y="2554833"/>
            <a:ext cx="4945075" cy="1730776"/>
          </a:xfrm>
          <a:prstGeom prst="roundRect">
            <a:avLst/>
          </a:prstGeom>
          <a:solidFill>
            <a:srgbClr val="0B17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3720510" y="2668950"/>
            <a:ext cx="2852927" cy="399409"/>
          </a:xfrm>
          <a:prstGeom prst="roundRect">
            <a:avLst/>
          </a:prstGeom>
          <a:solidFill>
            <a:srgbClr val="1B35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5584423" y="3182477"/>
            <a:ext cx="2852927" cy="399409"/>
          </a:xfrm>
          <a:prstGeom prst="roundRect">
            <a:avLst/>
          </a:prstGeom>
          <a:solidFill>
            <a:srgbClr val="123A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3720510" y="3696004"/>
            <a:ext cx="3138220" cy="399409"/>
          </a:xfrm>
          <a:prstGeom prst="roundRect">
            <a:avLst/>
          </a:prstGeom>
          <a:solidFill>
            <a:srgbClr val="1B35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3701491" y="4409236"/>
            <a:ext cx="1426463" cy="228234"/>
          </a:xfrm>
          <a:prstGeom prst="roundRect">
            <a:avLst/>
          </a:prstGeom>
          <a:solidFill>
            <a:srgbClr val="1630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5223052" y="4409236"/>
            <a:ext cx="1426463" cy="228234"/>
          </a:xfrm>
          <a:prstGeom prst="roundRect">
            <a:avLst/>
          </a:prstGeom>
          <a:solidFill>
            <a:srgbClr val="1630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3701491" y="4856195"/>
            <a:ext cx="3899001" cy="323331"/>
          </a:xfrm>
          <a:prstGeom prst="roundRect">
            <a:avLst/>
          </a:prstGeom>
          <a:solidFill>
            <a:srgbClr val="1630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7695590" y="4856195"/>
            <a:ext cx="779800" cy="323331"/>
          </a:xfrm>
          <a:prstGeom prst="roundRect">
            <a:avLst/>
          </a:prstGeom>
          <a:solidFill>
            <a:srgbClr val="01AE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3720510" y="5407761"/>
            <a:ext cx="1616659" cy="95097"/>
          </a:xfrm>
          <a:prstGeom prst="roundRect">
            <a:avLst/>
          </a:prstGeom>
          <a:solidFill>
            <a:srgbClr val="2A45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7657551" y="4818156"/>
            <a:ext cx="855878" cy="399409"/>
          </a:xfrm>
          <a:prstGeom prst="roundRect">
            <a:avLst/>
          </a:prstGeom>
          <a:noFill/>
          <a:ln w="44450">
            <a:solidFill>
              <a:srgbClr val="FFD6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2960" y="617220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>
                <a:solidFill>
                  <a:srgbClr val="0A6299"/>
                </a:solidFill>
              </a:rPr>
              <a:t>The &lt;button&gt; is this Send button.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1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01AEFD"/>
                </a:solidFill>
              </a:rPr>
              <a:t>Type this into index.html   -   line 11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60120"/>
            <a:ext cx="11155680" cy="4297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9  </a:t>
            </a:r>
            <a:r>
              <a:rPr sz="1800">
                <a:solidFill>
                  <a:srgbClr val="6D8C97"/>
                </a:solidFill>
                <a:latin typeface="Consolas"/>
              </a:rPr>
              <a:t>  &lt;form id="composer" class="composer"&gt;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10  </a:t>
            </a:r>
            <a:r>
              <a:rPr sz="1800">
                <a:solidFill>
                  <a:srgbClr val="6D8C97"/>
                </a:solidFill>
                <a:latin typeface="Consolas"/>
              </a:rPr>
              <a:t>    &lt;input id="prompt" placeholder="Say something..." autocomplete="off"&gt;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11  </a:t>
            </a:r>
            <a:r>
              <a:rPr sz="1800">
                <a:solidFill>
                  <a:srgbClr val="7FE0A0"/>
                </a:solidFill>
                <a:latin typeface="Consolas"/>
              </a:rPr>
              <a:t>    &lt;button id="send" type="submit"&gt;Send&lt;/button&gt;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23560"/>
            <a:ext cx="110642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>
                <a:solidFill>
                  <a:srgbClr val="DCECEF"/>
                </a:solidFill>
              </a:rPr>
              <a:t>The Send &lt;button&gt;. type="submit" means clicking it (or pressing Enter) sends the form.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1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01AEFD"/>
                </a:solidFill>
              </a:rPr>
              <a:t>Type this into index.html   -   line 12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60120"/>
            <a:ext cx="11155680" cy="4297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9  </a:t>
            </a:r>
            <a:r>
              <a:rPr sz="1800">
                <a:solidFill>
                  <a:srgbClr val="6D8C97"/>
                </a:solidFill>
                <a:latin typeface="Consolas"/>
              </a:rPr>
              <a:t>  &lt;form id="composer" class="composer"&gt;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10  </a:t>
            </a:r>
            <a:r>
              <a:rPr sz="1800">
                <a:solidFill>
                  <a:srgbClr val="6D8C97"/>
                </a:solidFill>
                <a:latin typeface="Consolas"/>
              </a:rPr>
              <a:t>    &lt;input id="prompt" placeholder="Say something..." autocomplete="off"&gt;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11  </a:t>
            </a:r>
            <a:r>
              <a:rPr sz="1800">
                <a:solidFill>
                  <a:srgbClr val="6D8C97"/>
                </a:solidFill>
                <a:latin typeface="Consolas"/>
              </a:rPr>
              <a:t>    &lt;button id="send" type="submit"&gt;Send&lt;/button&gt;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12  </a:t>
            </a:r>
            <a:r>
              <a:rPr sz="1800">
                <a:solidFill>
                  <a:srgbClr val="7FE0A0"/>
                </a:solidFill>
                <a:latin typeface="Consolas"/>
              </a:rPr>
              <a:t>  &lt;/form&gt;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23560"/>
            <a:ext cx="110642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>
                <a:solidFill>
                  <a:srgbClr val="DCECEF"/>
                </a:solidFill>
              </a:rPr>
              <a:t>Closes &lt;/form&gt;.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1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01AEFD"/>
                </a:solidFill>
              </a:rPr>
              <a:t>All together in index.html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60120"/>
            <a:ext cx="11155680" cy="4297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9  </a:t>
            </a:r>
            <a:r>
              <a:rPr sz="1800">
                <a:solidFill>
                  <a:srgbClr val="7FE0A0"/>
                </a:solidFill>
                <a:latin typeface="Consolas"/>
              </a:rPr>
              <a:t>  &lt;form id="composer" class="composer"&gt;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10  </a:t>
            </a:r>
            <a:r>
              <a:rPr sz="1800">
                <a:solidFill>
                  <a:srgbClr val="7FE0A0"/>
                </a:solidFill>
                <a:latin typeface="Consolas"/>
              </a:rPr>
              <a:t>    &lt;input id="prompt" placeholder="Say something..." autocomplete="off"&gt;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11  </a:t>
            </a:r>
            <a:r>
              <a:rPr sz="1800">
                <a:solidFill>
                  <a:srgbClr val="7FE0A0"/>
                </a:solidFill>
                <a:latin typeface="Consolas"/>
              </a:rPr>
              <a:t>    &lt;button id="send" type="submit"&gt;Send&lt;/button&gt;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12  </a:t>
            </a:r>
            <a:r>
              <a:rPr sz="1800">
                <a:solidFill>
                  <a:srgbClr val="7FE0A0"/>
                </a:solidFill>
                <a:latin typeface="Consolas"/>
              </a:rPr>
              <a:t>  &lt;/form&gt;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23560"/>
            <a:ext cx="110642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>
                <a:solidFill>
                  <a:srgbClr val="DCECEF"/>
                </a:solidFill>
              </a:rPr>
              <a:t>That is the whole piece. Check yours looks the same before moving on.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1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01AEFD"/>
                </a:solidFill>
              </a:rPr>
              <a:t>Type this into index.html   -   line 13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60120"/>
            <a:ext cx="11155680" cy="4297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13  </a:t>
            </a:r>
            <a:r>
              <a:rPr sz="1800">
                <a:solidFill>
                  <a:srgbClr val="7FE0A0"/>
                </a:solidFill>
                <a:latin typeface="Consolas"/>
              </a:rPr>
              <a:t>&lt;/main&gt;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23560"/>
            <a:ext cx="110642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>
                <a:solidFill>
                  <a:srgbClr val="DCECEF"/>
                </a:solidFill>
              </a:rPr>
              <a:t>Closes &lt;/main&gt;. The visible page is complete.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800" b="1">
                <a:solidFill>
                  <a:srgbClr val="1F2A37"/>
                </a:solidFill>
              </a:rPr>
              <a:t>You make the other files yourself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828800"/>
            <a:ext cx="105156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800">
                <a:solidFill>
                  <a:srgbClr val="01AEFD"/>
                </a:solidFill>
              </a:rPr>
              <a:t>A project starts with just index.html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+ File in the Files panel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style.css - what things look like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script.js - what things do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Making the file is not enough. The page has to be told.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800" b="1">
                <a:solidFill>
                  <a:srgbClr val="1F2A37"/>
                </a:solidFill>
              </a:rPr>
              <a:t>The &lt;link&gt; tag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8680" y="502920"/>
            <a:ext cx="5486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01AEFD"/>
                </a:solidFill>
              </a:rPr>
              <a:t>HTML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828800"/>
            <a:ext cx="105156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It pulls another file into your page.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rel says what it is (a stylesheet); href says where to find it.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1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01AEFD"/>
                </a:solidFill>
              </a:rPr>
              <a:t>Type this into index.html   -   line 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60120"/>
            <a:ext cx="11155680" cy="4297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1  </a:t>
            </a:r>
            <a:r>
              <a:rPr sz="1800">
                <a:solidFill>
                  <a:srgbClr val="7FE0A0"/>
                </a:solidFill>
                <a:latin typeface="Consolas"/>
              </a:rPr>
              <a:t>&lt;link rel="stylesheet" href="style.css"&gt;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23560"/>
            <a:ext cx="110642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>
                <a:solidFill>
                  <a:srgbClr val="DCECEF"/>
                </a:solidFill>
              </a:rPr>
              <a:t>Loads style.css so the page uses your styles. rel says it is a stylesheet; href is the filename.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800" b="1">
                <a:solidFill>
                  <a:srgbClr val="1F2A37"/>
                </a:solidFill>
              </a:rPr>
              <a:t>Three files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828800"/>
            <a:ext cx="105156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index.html - the boxes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style.css - what they look like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script.js - what they do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800" b="1">
                <a:solidFill>
                  <a:srgbClr val="1F2A37"/>
                </a:solidFill>
              </a:rPr>
              <a:t>A CSS rule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8680" y="502920"/>
            <a:ext cx="5486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01AEFD"/>
                </a:solidFill>
              </a:rPr>
              <a:t>CSS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828800"/>
            <a:ext cx="105156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selector { property: value; }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The selector picks WHAT to style; the properties say HOW.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800" b="1">
                <a:solidFill>
                  <a:srgbClr val="1F2A37"/>
                </a:solidFill>
              </a:rPr>
              <a:t>Selector: an element name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8680" y="502920"/>
            <a:ext cx="5486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01AEFD"/>
                </a:solidFill>
              </a:rPr>
              <a:t>CSS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828800"/>
            <a:ext cx="105156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body { } styles every &lt;body&gt; on the page.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A bare name targets that kind of tag.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1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01AEFD"/>
                </a:solidFill>
              </a:rPr>
              <a:t>Type this into style.css   -   line 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60120"/>
            <a:ext cx="11155680" cy="4297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1  </a:t>
            </a:r>
            <a:r>
              <a:rPr sz="1800">
                <a:solidFill>
                  <a:srgbClr val="7FE0A0"/>
                </a:solidFill>
                <a:latin typeface="Consolas"/>
              </a:rPr>
              <a:t>body {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23560"/>
            <a:ext cx="110642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>
                <a:solidFill>
                  <a:srgbClr val="DCECEF"/>
                </a:solidFill>
              </a:rPr>
              <a:t>Starts a rule for &lt;body&gt;, the whole page. Everything between { and } styles it.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800" b="1">
                <a:solidFill>
                  <a:srgbClr val="1F2A37"/>
                </a:solidFill>
              </a:rPr>
              <a:t>margin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8680" y="502920"/>
            <a:ext cx="5486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01AEFD"/>
                </a:solidFill>
              </a:rPr>
              <a:t>CSS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828800"/>
            <a:ext cx="105156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Space OUTSIDE a box, pushing other things away.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margin: 0 auto centres a box that has a width.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365760"/>
            <a:ext cx="7315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01AEFD"/>
                </a:solidFill>
              </a:rPr>
              <a:t>ON THE PAGE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658368"/>
            <a:ext cx="10515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>
                <a:solidFill>
                  <a:srgbClr val="1F2A37"/>
                </a:solidFill>
              </a:rPr>
              <a:t>margin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454237" y="1641896"/>
            <a:ext cx="5249387" cy="3918021"/>
          </a:xfrm>
          <a:prstGeom prst="roundRect">
            <a:avLst/>
          </a:prstGeom>
          <a:solidFill>
            <a:srgbClr val="0F1F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3606393" y="2022287"/>
            <a:ext cx="4945075" cy="437448"/>
          </a:xfrm>
          <a:prstGeom prst="roundRect">
            <a:avLst/>
          </a:prstGeom>
          <a:solidFill>
            <a:srgbClr val="1630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3720510" y="2155423"/>
            <a:ext cx="1426463" cy="190195"/>
          </a:xfrm>
          <a:prstGeom prst="roundRect">
            <a:avLst/>
          </a:prstGeom>
          <a:solidFill>
            <a:srgbClr val="4A6B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3606393" y="2554833"/>
            <a:ext cx="4945075" cy="1730776"/>
          </a:xfrm>
          <a:prstGeom prst="roundRect">
            <a:avLst/>
          </a:prstGeom>
          <a:solidFill>
            <a:srgbClr val="0B17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3720510" y="2668950"/>
            <a:ext cx="2852927" cy="399409"/>
          </a:xfrm>
          <a:prstGeom prst="roundRect">
            <a:avLst/>
          </a:prstGeom>
          <a:solidFill>
            <a:srgbClr val="1B35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5584423" y="3182477"/>
            <a:ext cx="2852927" cy="399409"/>
          </a:xfrm>
          <a:prstGeom prst="roundRect">
            <a:avLst/>
          </a:prstGeom>
          <a:solidFill>
            <a:srgbClr val="123A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3720510" y="3696004"/>
            <a:ext cx="3138220" cy="399409"/>
          </a:xfrm>
          <a:prstGeom prst="roundRect">
            <a:avLst/>
          </a:prstGeom>
          <a:solidFill>
            <a:srgbClr val="1B35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3701491" y="4409236"/>
            <a:ext cx="1426463" cy="228234"/>
          </a:xfrm>
          <a:prstGeom prst="roundRect">
            <a:avLst/>
          </a:prstGeom>
          <a:solidFill>
            <a:srgbClr val="1630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5223052" y="4409236"/>
            <a:ext cx="1426463" cy="228234"/>
          </a:xfrm>
          <a:prstGeom prst="roundRect">
            <a:avLst/>
          </a:prstGeom>
          <a:solidFill>
            <a:srgbClr val="1630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3701491" y="4856195"/>
            <a:ext cx="3899001" cy="323331"/>
          </a:xfrm>
          <a:prstGeom prst="roundRect">
            <a:avLst/>
          </a:prstGeom>
          <a:solidFill>
            <a:srgbClr val="1630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7695590" y="4856195"/>
            <a:ext cx="779800" cy="323331"/>
          </a:xfrm>
          <a:prstGeom prst="roundRect">
            <a:avLst/>
          </a:prstGeom>
          <a:solidFill>
            <a:srgbClr val="01AE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3720510" y="5407761"/>
            <a:ext cx="1616659" cy="95097"/>
          </a:xfrm>
          <a:prstGeom prst="roundRect">
            <a:avLst/>
          </a:prstGeom>
          <a:solidFill>
            <a:srgbClr val="2A45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3682471" y="2630911"/>
            <a:ext cx="2929006" cy="475488"/>
          </a:xfrm>
          <a:prstGeom prst="roundRect">
            <a:avLst/>
          </a:prstGeom>
          <a:noFill/>
          <a:ln w="44450">
            <a:solidFill>
              <a:srgbClr val="FFD6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2960" y="617220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>
                <a:solidFill>
                  <a:srgbClr val="0A6299"/>
                </a:solidFill>
              </a:rPr>
              <a:t>Margin is the gap OUTSIDE a bubble.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1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01AEFD"/>
                </a:solidFill>
              </a:rPr>
              <a:t>Type this into style.css   -   line 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60120"/>
            <a:ext cx="11155680" cy="4297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1  </a:t>
            </a:r>
            <a:r>
              <a:rPr sz="1800">
                <a:solidFill>
                  <a:srgbClr val="6D8C97"/>
                </a:solidFill>
                <a:latin typeface="Consolas"/>
              </a:rPr>
              <a:t>body {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2  </a:t>
            </a:r>
            <a:r>
              <a:rPr sz="1800">
                <a:solidFill>
                  <a:srgbClr val="7FE0A0"/>
                </a:solidFill>
                <a:latin typeface="Consolas"/>
              </a:rPr>
              <a:t>  margin: 0;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23560"/>
            <a:ext cx="110642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>
                <a:solidFill>
                  <a:srgbClr val="DCECEF"/>
                </a:solidFill>
              </a:rPr>
              <a:t>Removes the browser's default margin so nothing is pushed off the edge.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800" b="1">
                <a:solidFill>
                  <a:srgbClr val="1F2A37"/>
                </a:solidFill>
              </a:rPr>
              <a:t>font-family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8680" y="502920"/>
            <a:ext cx="5486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01AEFD"/>
                </a:solidFill>
              </a:rPr>
              <a:t>CSS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828800"/>
            <a:ext cx="105156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Which typeface the text uses.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The browser tries the fonts in order until one works.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365760"/>
            <a:ext cx="7315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01AEFD"/>
                </a:solidFill>
              </a:rPr>
              <a:t>ON THE PAGE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658368"/>
            <a:ext cx="10515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>
                <a:solidFill>
                  <a:srgbClr val="1F2A37"/>
                </a:solidFill>
              </a:rPr>
              <a:t>font-family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454237" y="1641896"/>
            <a:ext cx="5249387" cy="3918021"/>
          </a:xfrm>
          <a:prstGeom prst="roundRect">
            <a:avLst/>
          </a:prstGeom>
          <a:solidFill>
            <a:srgbClr val="0F1F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3606393" y="2022287"/>
            <a:ext cx="4945075" cy="437448"/>
          </a:xfrm>
          <a:prstGeom prst="roundRect">
            <a:avLst/>
          </a:prstGeom>
          <a:solidFill>
            <a:srgbClr val="1630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3720510" y="2155423"/>
            <a:ext cx="1426463" cy="190195"/>
          </a:xfrm>
          <a:prstGeom prst="roundRect">
            <a:avLst/>
          </a:prstGeom>
          <a:solidFill>
            <a:srgbClr val="4A6B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3606393" y="2554833"/>
            <a:ext cx="4945075" cy="1730776"/>
          </a:xfrm>
          <a:prstGeom prst="roundRect">
            <a:avLst/>
          </a:prstGeom>
          <a:solidFill>
            <a:srgbClr val="0B17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3720510" y="2668950"/>
            <a:ext cx="2852927" cy="399409"/>
          </a:xfrm>
          <a:prstGeom prst="roundRect">
            <a:avLst/>
          </a:prstGeom>
          <a:solidFill>
            <a:srgbClr val="1B35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5584423" y="3182477"/>
            <a:ext cx="2852927" cy="399409"/>
          </a:xfrm>
          <a:prstGeom prst="roundRect">
            <a:avLst/>
          </a:prstGeom>
          <a:solidFill>
            <a:srgbClr val="123A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3720510" y="3696004"/>
            <a:ext cx="3138220" cy="399409"/>
          </a:xfrm>
          <a:prstGeom prst="roundRect">
            <a:avLst/>
          </a:prstGeom>
          <a:solidFill>
            <a:srgbClr val="1B35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3701491" y="4409236"/>
            <a:ext cx="1426463" cy="228234"/>
          </a:xfrm>
          <a:prstGeom prst="roundRect">
            <a:avLst/>
          </a:prstGeom>
          <a:solidFill>
            <a:srgbClr val="1630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5223052" y="4409236"/>
            <a:ext cx="1426463" cy="228234"/>
          </a:xfrm>
          <a:prstGeom prst="roundRect">
            <a:avLst/>
          </a:prstGeom>
          <a:solidFill>
            <a:srgbClr val="1630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3701491" y="4856195"/>
            <a:ext cx="3899001" cy="323331"/>
          </a:xfrm>
          <a:prstGeom prst="roundRect">
            <a:avLst/>
          </a:prstGeom>
          <a:solidFill>
            <a:srgbClr val="1630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7695590" y="4856195"/>
            <a:ext cx="779800" cy="323331"/>
          </a:xfrm>
          <a:prstGeom prst="roundRect">
            <a:avLst/>
          </a:prstGeom>
          <a:solidFill>
            <a:srgbClr val="01AE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3720510" y="5407761"/>
            <a:ext cx="1616659" cy="95097"/>
          </a:xfrm>
          <a:prstGeom prst="roundRect">
            <a:avLst/>
          </a:prstGeom>
          <a:solidFill>
            <a:srgbClr val="2A45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3682471" y="2117384"/>
            <a:ext cx="1502542" cy="266273"/>
          </a:xfrm>
          <a:prstGeom prst="roundRect">
            <a:avLst/>
          </a:prstGeom>
          <a:noFill/>
          <a:ln w="44450">
            <a:solidFill>
              <a:srgbClr val="FFD6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2960" y="617220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>
                <a:solidFill>
                  <a:srgbClr val="0A6299"/>
                </a:solidFill>
              </a:rPr>
              <a:t>font-family sets the typeface, seen in the title.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1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01AEFD"/>
                </a:solidFill>
              </a:rPr>
              <a:t>Type this into style.css   -   line 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60120"/>
            <a:ext cx="11155680" cy="4297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1  </a:t>
            </a:r>
            <a:r>
              <a:rPr sz="1800">
                <a:solidFill>
                  <a:srgbClr val="6D8C97"/>
                </a:solidFill>
                <a:latin typeface="Consolas"/>
              </a:rPr>
              <a:t>body {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2  </a:t>
            </a:r>
            <a:r>
              <a:rPr sz="1800">
                <a:solidFill>
                  <a:srgbClr val="6D8C97"/>
                </a:solidFill>
                <a:latin typeface="Consolas"/>
              </a:rPr>
              <a:t>  margin: 0;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3  </a:t>
            </a:r>
            <a:r>
              <a:rPr sz="1800">
                <a:solidFill>
                  <a:srgbClr val="7FE0A0"/>
                </a:solidFill>
                <a:latin typeface="Consolas"/>
              </a:rPr>
              <a:t>  font-family: Arial, Helvetica, sans-serif;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23560"/>
            <a:ext cx="110642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>
                <a:solidFill>
                  <a:srgbClr val="DCECEF"/>
                </a:solidFill>
              </a:rPr>
              <a:t>Sets the font. The browser uses the first one it has.</a:t>
            </a: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800" b="1">
                <a:solidFill>
                  <a:srgbClr val="1F2A37"/>
                </a:solidFill>
              </a:rPr>
              <a:t>background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8680" y="502920"/>
            <a:ext cx="5486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01AEFD"/>
                </a:solidFill>
              </a:rPr>
              <a:t>CSS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828800"/>
            <a:ext cx="105156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The fill colour behind the box.</a:t>
            </a: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365760"/>
            <a:ext cx="7315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01AEFD"/>
                </a:solidFill>
              </a:rPr>
              <a:t>ON THE PAGE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658368"/>
            <a:ext cx="10515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>
                <a:solidFill>
                  <a:srgbClr val="1F2A37"/>
                </a:solidFill>
              </a:rPr>
              <a:t>background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454237" y="1641896"/>
            <a:ext cx="5249387" cy="3918021"/>
          </a:xfrm>
          <a:prstGeom prst="roundRect">
            <a:avLst/>
          </a:prstGeom>
          <a:solidFill>
            <a:srgbClr val="0F1F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3606393" y="2022287"/>
            <a:ext cx="4945075" cy="437448"/>
          </a:xfrm>
          <a:prstGeom prst="roundRect">
            <a:avLst/>
          </a:prstGeom>
          <a:solidFill>
            <a:srgbClr val="1630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3720510" y="2155423"/>
            <a:ext cx="1426463" cy="190195"/>
          </a:xfrm>
          <a:prstGeom prst="roundRect">
            <a:avLst/>
          </a:prstGeom>
          <a:solidFill>
            <a:srgbClr val="4A6B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3606393" y="2554833"/>
            <a:ext cx="4945075" cy="1730776"/>
          </a:xfrm>
          <a:prstGeom prst="roundRect">
            <a:avLst/>
          </a:prstGeom>
          <a:solidFill>
            <a:srgbClr val="0B17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3720510" y="2668950"/>
            <a:ext cx="2852927" cy="399409"/>
          </a:xfrm>
          <a:prstGeom prst="roundRect">
            <a:avLst/>
          </a:prstGeom>
          <a:solidFill>
            <a:srgbClr val="1B35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5584423" y="3182477"/>
            <a:ext cx="2852927" cy="399409"/>
          </a:xfrm>
          <a:prstGeom prst="roundRect">
            <a:avLst/>
          </a:prstGeom>
          <a:solidFill>
            <a:srgbClr val="123A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3720510" y="3696004"/>
            <a:ext cx="3138220" cy="399409"/>
          </a:xfrm>
          <a:prstGeom prst="roundRect">
            <a:avLst/>
          </a:prstGeom>
          <a:solidFill>
            <a:srgbClr val="1B35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3701491" y="4409236"/>
            <a:ext cx="1426463" cy="228234"/>
          </a:xfrm>
          <a:prstGeom prst="roundRect">
            <a:avLst/>
          </a:prstGeom>
          <a:solidFill>
            <a:srgbClr val="1630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5223052" y="4409236"/>
            <a:ext cx="1426463" cy="228234"/>
          </a:xfrm>
          <a:prstGeom prst="roundRect">
            <a:avLst/>
          </a:prstGeom>
          <a:solidFill>
            <a:srgbClr val="1630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3701491" y="4856195"/>
            <a:ext cx="3899001" cy="323331"/>
          </a:xfrm>
          <a:prstGeom prst="roundRect">
            <a:avLst/>
          </a:prstGeom>
          <a:solidFill>
            <a:srgbClr val="1630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7695590" y="4856195"/>
            <a:ext cx="779800" cy="323331"/>
          </a:xfrm>
          <a:prstGeom prst="roundRect">
            <a:avLst/>
          </a:prstGeom>
          <a:solidFill>
            <a:srgbClr val="01AE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3720510" y="5407761"/>
            <a:ext cx="1616659" cy="95097"/>
          </a:xfrm>
          <a:prstGeom prst="roundRect">
            <a:avLst/>
          </a:prstGeom>
          <a:solidFill>
            <a:srgbClr val="2A45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3416198" y="1603857"/>
            <a:ext cx="5325465" cy="3994099"/>
          </a:xfrm>
          <a:prstGeom prst="roundRect">
            <a:avLst/>
          </a:prstGeom>
          <a:noFill/>
          <a:ln w="44450">
            <a:solidFill>
              <a:srgbClr val="FFD6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2960" y="617220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>
                <a:solidFill>
                  <a:srgbClr val="0A6299"/>
                </a:solidFill>
              </a:rPr>
              <a:t>background paints the page or a bubble's fill.</a:t>
            </a: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800" b="1">
                <a:solidFill>
                  <a:srgbClr val="1F2A37"/>
                </a:solidFill>
              </a:rPr>
              <a:t>Colours: hex codes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8680" y="502920"/>
            <a:ext cx="5486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01AEFD"/>
                </a:solidFill>
              </a:rPr>
              <a:t>CSS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828800"/>
            <a:ext cx="105156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#eef2f7 is a colour written as red-green-blue in base 16.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#ffffff is white, #000000 is black.</a:t>
            </a: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365760"/>
            <a:ext cx="7315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01AEFD"/>
                </a:solidFill>
              </a:rPr>
              <a:t>ON THE PAGE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658368"/>
            <a:ext cx="10515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>
                <a:solidFill>
                  <a:srgbClr val="1F2A37"/>
                </a:solidFill>
              </a:rPr>
              <a:t>Colours: hex codes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454237" y="1641896"/>
            <a:ext cx="5249387" cy="3918021"/>
          </a:xfrm>
          <a:prstGeom prst="roundRect">
            <a:avLst/>
          </a:prstGeom>
          <a:solidFill>
            <a:srgbClr val="0F1F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3606393" y="2022287"/>
            <a:ext cx="4945075" cy="437448"/>
          </a:xfrm>
          <a:prstGeom prst="roundRect">
            <a:avLst/>
          </a:prstGeom>
          <a:solidFill>
            <a:srgbClr val="1630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3720510" y="2155423"/>
            <a:ext cx="1426463" cy="190195"/>
          </a:xfrm>
          <a:prstGeom prst="roundRect">
            <a:avLst/>
          </a:prstGeom>
          <a:solidFill>
            <a:srgbClr val="4A6B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3606393" y="2554833"/>
            <a:ext cx="4945075" cy="1730776"/>
          </a:xfrm>
          <a:prstGeom prst="roundRect">
            <a:avLst/>
          </a:prstGeom>
          <a:solidFill>
            <a:srgbClr val="0B17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3720510" y="2668950"/>
            <a:ext cx="2852927" cy="399409"/>
          </a:xfrm>
          <a:prstGeom prst="roundRect">
            <a:avLst/>
          </a:prstGeom>
          <a:solidFill>
            <a:srgbClr val="1B35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5584423" y="3182477"/>
            <a:ext cx="2852927" cy="399409"/>
          </a:xfrm>
          <a:prstGeom prst="roundRect">
            <a:avLst/>
          </a:prstGeom>
          <a:solidFill>
            <a:srgbClr val="123A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3720510" y="3696004"/>
            <a:ext cx="3138220" cy="399409"/>
          </a:xfrm>
          <a:prstGeom prst="roundRect">
            <a:avLst/>
          </a:prstGeom>
          <a:solidFill>
            <a:srgbClr val="1B35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3701491" y="4409236"/>
            <a:ext cx="1426463" cy="228234"/>
          </a:xfrm>
          <a:prstGeom prst="roundRect">
            <a:avLst/>
          </a:prstGeom>
          <a:solidFill>
            <a:srgbClr val="1630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5223052" y="4409236"/>
            <a:ext cx="1426463" cy="228234"/>
          </a:xfrm>
          <a:prstGeom prst="roundRect">
            <a:avLst/>
          </a:prstGeom>
          <a:solidFill>
            <a:srgbClr val="1630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3701491" y="4856195"/>
            <a:ext cx="3899001" cy="323331"/>
          </a:xfrm>
          <a:prstGeom prst="roundRect">
            <a:avLst/>
          </a:prstGeom>
          <a:solidFill>
            <a:srgbClr val="1630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7695590" y="4856195"/>
            <a:ext cx="779800" cy="323331"/>
          </a:xfrm>
          <a:prstGeom prst="roundRect">
            <a:avLst/>
          </a:prstGeom>
          <a:solidFill>
            <a:srgbClr val="01AE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3720510" y="5407761"/>
            <a:ext cx="1616659" cy="95097"/>
          </a:xfrm>
          <a:prstGeom prst="roundRect">
            <a:avLst/>
          </a:prstGeom>
          <a:solidFill>
            <a:srgbClr val="2A45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7657551" y="4818156"/>
            <a:ext cx="855878" cy="399409"/>
          </a:xfrm>
          <a:prstGeom prst="roundRect">
            <a:avLst/>
          </a:prstGeom>
          <a:noFill/>
          <a:ln w="44450">
            <a:solidFill>
              <a:srgbClr val="FFD6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2960" y="617220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>
                <a:solidFill>
                  <a:srgbClr val="0A6299"/>
                </a:solidFill>
              </a:rPr>
              <a:t>A hex colour like this fills the Send button.</a:t>
            </a: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1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01AEFD"/>
                </a:solidFill>
              </a:rPr>
              <a:t>Type this into style.css   -   line 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60120"/>
            <a:ext cx="11155680" cy="4297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1  </a:t>
            </a:r>
            <a:r>
              <a:rPr sz="1800">
                <a:solidFill>
                  <a:srgbClr val="6D8C97"/>
                </a:solidFill>
                <a:latin typeface="Consolas"/>
              </a:rPr>
              <a:t>body {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2  </a:t>
            </a:r>
            <a:r>
              <a:rPr sz="1800">
                <a:solidFill>
                  <a:srgbClr val="6D8C97"/>
                </a:solidFill>
                <a:latin typeface="Consolas"/>
              </a:rPr>
              <a:t>  margin: 0;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3  </a:t>
            </a:r>
            <a:r>
              <a:rPr sz="1800">
                <a:solidFill>
                  <a:srgbClr val="6D8C97"/>
                </a:solidFill>
                <a:latin typeface="Consolas"/>
              </a:rPr>
              <a:t>  font-family: Arial, Helvetica, sans-serif;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4  </a:t>
            </a:r>
            <a:r>
              <a:rPr sz="1800">
                <a:solidFill>
                  <a:srgbClr val="7FE0A0"/>
                </a:solidFill>
                <a:latin typeface="Consolas"/>
              </a:rPr>
              <a:t>  background: #eef2f7;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23560"/>
            <a:ext cx="110642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>
                <a:solidFill>
                  <a:srgbClr val="DCECEF"/>
                </a:solidFill>
              </a:rPr>
              <a:t>The page's background colour, a soft blue-grey.</a:t>
            </a: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800" b="1">
                <a:solidFill>
                  <a:srgbClr val="1F2A37"/>
                </a:solidFill>
              </a:rPr>
              <a:t>color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8680" y="502920"/>
            <a:ext cx="5486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01AEFD"/>
                </a:solidFill>
              </a:rPr>
              <a:t>CSS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828800"/>
            <a:ext cx="105156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The colour of the text itself.</a:t>
            </a: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365760"/>
            <a:ext cx="7315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01AEFD"/>
                </a:solidFill>
              </a:rPr>
              <a:t>ON THE PAGE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658368"/>
            <a:ext cx="10515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>
                <a:solidFill>
                  <a:srgbClr val="1F2A37"/>
                </a:solidFill>
              </a:rPr>
              <a:t>color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454237" y="1641896"/>
            <a:ext cx="5249387" cy="3918021"/>
          </a:xfrm>
          <a:prstGeom prst="roundRect">
            <a:avLst/>
          </a:prstGeom>
          <a:solidFill>
            <a:srgbClr val="0F1F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3606393" y="2022287"/>
            <a:ext cx="4945075" cy="437448"/>
          </a:xfrm>
          <a:prstGeom prst="roundRect">
            <a:avLst/>
          </a:prstGeom>
          <a:solidFill>
            <a:srgbClr val="1630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3720510" y="2155423"/>
            <a:ext cx="1426463" cy="190195"/>
          </a:xfrm>
          <a:prstGeom prst="roundRect">
            <a:avLst/>
          </a:prstGeom>
          <a:solidFill>
            <a:srgbClr val="4A6B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3606393" y="2554833"/>
            <a:ext cx="4945075" cy="1730776"/>
          </a:xfrm>
          <a:prstGeom prst="roundRect">
            <a:avLst/>
          </a:prstGeom>
          <a:solidFill>
            <a:srgbClr val="0B17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3720510" y="2668950"/>
            <a:ext cx="2852927" cy="399409"/>
          </a:xfrm>
          <a:prstGeom prst="roundRect">
            <a:avLst/>
          </a:prstGeom>
          <a:solidFill>
            <a:srgbClr val="1B35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5584423" y="3182477"/>
            <a:ext cx="2852927" cy="399409"/>
          </a:xfrm>
          <a:prstGeom prst="roundRect">
            <a:avLst/>
          </a:prstGeom>
          <a:solidFill>
            <a:srgbClr val="123A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3720510" y="3696004"/>
            <a:ext cx="3138220" cy="399409"/>
          </a:xfrm>
          <a:prstGeom prst="roundRect">
            <a:avLst/>
          </a:prstGeom>
          <a:solidFill>
            <a:srgbClr val="1B35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3701491" y="4409236"/>
            <a:ext cx="1426463" cy="228234"/>
          </a:xfrm>
          <a:prstGeom prst="roundRect">
            <a:avLst/>
          </a:prstGeom>
          <a:solidFill>
            <a:srgbClr val="1630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5223052" y="4409236"/>
            <a:ext cx="1426463" cy="228234"/>
          </a:xfrm>
          <a:prstGeom prst="roundRect">
            <a:avLst/>
          </a:prstGeom>
          <a:solidFill>
            <a:srgbClr val="1630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3701491" y="4856195"/>
            <a:ext cx="3899001" cy="323331"/>
          </a:xfrm>
          <a:prstGeom prst="roundRect">
            <a:avLst/>
          </a:prstGeom>
          <a:solidFill>
            <a:srgbClr val="1630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7695590" y="4856195"/>
            <a:ext cx="779800" cy="323331"/>
          </a:xfrm>
          <a:prstGeom prst="roundRect">
            <a:avLst/>
          </a:prstGeom>
          <a:solidFill>
            <a:srgbClr val="01AE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3720510" y="5407761"/>
            <a:ext cx="1616659" cy="95097"/>
          </a:xfrm>
          <a:prstGeom prst="roundRect">
            <a:avLst/>
          </a:prstGeom>
          <a:solidFill>
            <a:srgbClr val="2A45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3682471" y="2117384"/>
            <a:ext cx="1502542" cy="266273"/>
          </a:xfrm>
          <a:prstGeom prst="roundRect">
            <a:avLst/>
          </a:prstGeom>
          <a:noFill/>
          <a:ln w="44450">
            <a:solidFill>
              <a:srgbClr val="FFD6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2960" y="617220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>
                <a:solidFill>
                  <a:srgbClr val="0A6299"/>
                </a:solidFill>
              </a:rPr>
              <a:t>color sets the text colour - like the title here.</a:t>
            </a: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1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01AEFD"/>
                </a:solidFill>
              </a:rPr>
              <a:t>Type this into style.css   -   line 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60120"/>
            <a:ext cx="11155680" cy="4297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1  </a:t>
            </a:r>
            <a:r>
              <a:rPr sz="1800">
                <a:solidFill>
                  <a:srgbClr val="6D8C97"/>
                </a:solidFill>
                <a:latin typeface="Consolas"/>
              </a:rPr>
              <a:t>body {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2  </a:t>
            </a:r>
            <a:r>
              <a:rPr sz="1800">
                <a:solidFill>
                  <a:srgbClr val="6D8C97"/>
                </a:solidFill>
                <a:latin typeface="Consolas"/>
              </a:rPr>
              <a:t>  margin: 0;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3  </a:t>
            </a:r>
            <a:r>
              <a:rPr sz="1800">
                <a:solidFill>
                  <a:srgbClr val="6D8C97"/>
                </a:solidFill>
                <a:latin typeface="Consolas"/>
              </a:rPr>
              <a:t>  font-family: Arial, Helvetica, sans-serif;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4  </a:t>
            </a:r>
            <a:r>
              <a:rPr sz="1800">
                <a:solidFill>
                  <a:srgbClr val="6D8C97"/>
                </a:solidFill>
                <a:latin typeface="Consolas"/>
              </a:rPr>
              <a:t>  background: #eef2f7;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5  </a:t>
            </a:r>
            <a:r>
              <a:rPr sz="1800">
                <a:solidFill>
                  <a:srgbClr val="7FE0A0"/>
                </a:solidFill>
                <a:latin typeface="Consolas"/>
              </a:rPr>
              <a:t>  color: #1f2a37;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23560"/>
            <a:ext cx="110642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>
                <a:solidFill>
                  <a:srgbClr val="DCECEF"/>
                </a:solidFill>
              </a:rPr>
              <a:t>The default text colour, a dark near-black.</a:t>
            </a: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1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01AEFD"/>
                </a:solidFill>
              </a:rPr>
              <a:t>Type this into style.css   -   line 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60120"/>
            <a:ext cx="11155680" cy="4297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1  </a:t>
            </a:r>
            <a:r>
              <a:rPr sz="1800">
                <a:solidFill>
                  <a:srgbClr val="6D8C97"/>
                </a:solidFill>
                <a:latin typeface="Consolas"/>
              </a:rPr>
              <a:t>body {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2  </a:t>
            </a:r>
            <a:r>
              <a:rPr sz="1800">
                <a:solidFill>
                  <a:srgbClr val="6D8C97"/>
                </a:solidFill>
                <a:latin typeface="Consolas"/>
              </a:rPr>
              <a:t>  margin: 0;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3  </a:t>
            </a:r>
            <a:r>
              <a:rPr sz="1800">
                <a:solidFill>
                  <a:srgbClr val="6D8C97"/>
                </a:solidFill>
                <a:latin typeface="Consolas"/>
              </a:rPr>
              <a:t>  font-family: Arial, Helvetica, sans-serif;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4  </a:t>
            </a:r>
            <a:r>
              <a:rPr sz="1800">
                <a:solidFill>
                  <a:srgbClr val="6D8C97"/>
                </a:solidFill>
                <a:latin typeface="Consolas"/>
              </a:rPr>
              <a:t>  background: #eef2f7;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5  </a:t>
            </a:r>
            <a:r>
              <a:rPr sz="1800">
                <a:solidFill>
                  <a:srgbClr val="6D8C97"/>
                </a:solidFill>
                <a:latin typeface="Consolas"/>
              </a:rPr>
              <a:t>  color: #1f2a37;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6  </a:t>
            </a:r>
            <a:r>
              <a:rPr sz="1800">
                <a:solidFill>
                  <a:srgbClr val="7FE0A0"/>
                </a:solidFill>
                <a:latin typeface="Consolas"/>
              </a:rPr>
              <a:t>}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23560"/>
            <a:ext cx="110642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>
                <a:solidFill>
                  <a:srgbClr val="DCECEF"/>
                </a:solidFill>
              </a:rPr>
              <a:t>Closes the body rule.</a:t>
            </a:r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1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01AEFD"/>
                </a:solidFill>
              </a:rPr>
              <a:t>All together in style.css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60120"/>
            <a:ext cx="11155680" cy="4297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1  </a:t>
            </a:r>
            <a:r>
              <a:rPr sz="1800">
                <a:solidFill>
                  <a:srgbClr val="7FE0A0"/>
                </a:solidFill>
                <a:latin typeface="Consolas"/>
              </a:rPr>
              <a:t>body {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2  </a:t>
            </a:r>
            <a:r>
              <a:rPr sz="1800">
                <a:solidFill>
                  <a:srgbClr val="7FE0A0"/>
                </a:solidFill>
                <a:latin typeface="Consolas"/>
              </a:rPr>
              <a:t>  margin: 0;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3  </a:t>
            </a:r>
            <a:r>
              <a:rPr sz="1800">
                <a:solidFill>
                  <a:srgbClr val="7FE0A0"/>
                </a:solidFill>
                <a:latin typeface="Consolas"/>
              </a:rPr>
              <a:t>  font-family: Arial, Helvetica, sans-serif;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4  </a:t>
            </a:r>
            <a:r>
              <a:rPr sz="1800">
                <a:solidFill>
                  <a:srgbClr val="7FE0A0"/>
                </a:solidFill>
                <a:latin typeface="Consolas"/>
              </a:rPr>
              <a:t>  background: #eef2f7;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5  </a:t>
            </a:r>
            <a:r>
              <a:rPr sz="1800">
                <a:solidFill>
                  <a:srgbClr val="7FE0A0"/>
                </a:solidFill>
                <a:latin typeface="Consolas"/>
              </a:rPr>
              <a:t>  color: #1f2a37;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6  </a:t>
            </a:r>
            <a:r>
              <a:rPr sz="1800">
                <a:solidFill>
                  <a:srgbClr val="7FE0A0"/>
                </a:solidFill>
                <a:latin typeface="Consolas"/>
              </a:rPr>
              <a:t>}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23560"/>
            <a:ext cx="110642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>
                <a:solidFill>
                  <a:srgbClr val="DCECEF"/>
                </a:solidFill>
              </a:rPr>
              <a:t>That is the whole piece. Check yours looks the same before moving on.</a:t>
            </a:r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800" b="1">
                <a:solidFill>
                  <a:srgbClr val="1F2A37"/>
                </a:solidFill>
              </a:rPr>
              <a:t>Selector: a class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8680" y="502920"/>
            <a:ext cx="5486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01AEFD"/>
                </a:solidFill>
              </a:rPr>
              <a:t>CSS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828800"/>
            <a:ext cx="105156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.app { } styles anything with class="app".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The dot means 'class'.</a:t>
            </a:r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1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01AEFD"/>
                </a:solidFill>
              </a:rPr>
              <a:t>Type this into style.css   -   line 7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60120"/>
            <a:ext cx="11155680" cy="4297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7  </a:t>
            </a:r>
            <a:r>
              <a:rPr sz="1800">
                <a:solidFill>
                  <a:srgbClr val="7FE0A0"/>
                </a:solidFill>
                <a:latin typeface="Consolas"/>
              </a:rPr>
              <a:t>.app {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23560"/>
            <a:ext cx="110642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>
                <a:solidFill>
                  <a:srgbClr val="DCECEF"/>
                </a:solidFill>
              </a:rPr>
              <a:t>Starts a rule for .app - the &lt;main&gt; box we labelled earlier.</a:t>
            </a:r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800" b="1">
                <a:solidFill>
                  <a:srgbClr val="1F2A37"/>
                </a:solidFill>
              </a:rPr>
              <a:t>max-width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8680" y="502920"/>
            <a:ext cx="5486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01AEFD"/>
                </a:solidFill>
              </a:rPr>
              <a:t>CSS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828800"/>
            <a:ext cx="105156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A width the box will never grow past.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Keeps lines short enough to read comfortably.</a:t>
            </a:r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365760"/>
            <a:ext cx="7315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01AEFD"/>
                </a:solidFill>
              </a:rPr>
              <a:t>ON THE PAGE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658368"/>
            <a:ext cx="10515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>
                <a:solidFill>
                  <a:srgbClr val="1F2A37"/>
                </a:solidFill>
              </a:rPr>
              <a:t>max-width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454237" y="1641896"/>
            <a:ext cx="5249387" cy="3918021"/>
          </a:xfrm>
          <a:prstGeom prst="roundRect">
            <a:avLst/>
          </a:prstGeom>
          <a:solidFill>
            <a:srgbClr val="0F1F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3606393" y="2022287"/>
            <a:ext cx="4945075" cy="437448"/>
          </a:xfrm>
          <a:prstGeom prst="roundRect">
            <a:avLst/>
          </a:prstGeom>
          <a:solidFill>
            <a:srgbClr val="1630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3720510" y="2155423"/>
            <a:ext cx="1426463" cy="190195"/>
          </a:xfrm>
          <a:prstGeom prst="roundRect">
            <a:avLst/>
          </a:prstGeom>
          <a:solidFill>
            <a:srgbClr val="4A6B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3606393" y="2554833"/>
            <a:ext cx="4945075" cy="1730776"/>
          </a:xfrm>
          <a:prstGeom prst="roundRect">
            <a:avLst/>
          </a:prstGeom>
          <a:solidFill>
            <a:srgbClr val="0B17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3720510" y="2668950"/>
            <a:ext cx="2852927" cy="399409"/>
          </a:xfrm>
          <a:prstGeom prst="roundRect">
            <a:avLst/>
          </a:prstGeom>
          <a:solidFill>
            <a:srgbClr val="1B35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5584423" y="3182477"/>
            <a:ext cx="2852927" cy="399409"/>
          </a:xfrm>
          <a:prstGeom prst="roundRect">
            <a:avLst/>
          </a:prstGeom>
          <a:solidFill>
            <a:srgbClr val="123A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3720510" y="3696004"/>
            <a:ext cx="3138220" cy="399409"/>
          </a:xfrm>
          <a:prstGeom prst="roundRect">
            <a:avLst/>
          </a:prstGeom>
          <a:solidFill>
            <a:srgbClr val="1B35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3701491" y="4409236"/>
            <a:ext cx="1426463" cy="228234"/>
          </a:xfrm>
          <a:prstGeom prst="roundRect">
            <a:avLst/>
          </a:prstGeom>
          <a:solidFill>
            <a:srgbClr val="1630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5223052" y="4409236"/>
            <a:ext cx="1426463" cy="228234"/>
          </a:xfrm>
          <a:prstGeom prst="roundRect">
            <a:avLst/>
          </a:prstGeom>
          <a:solidFill>
            <a:srgbClr val="1630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3701491" y="4856195"/>
            <a:ext cx="3899001" cy="323331"/>
          </a:xfrm>
          <a:prstGeom prst="roundRect">
            <a:avLst/>
          </a:prstGeom>
          <a:solidFill>
            <a:srgbClr val="1630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7695590" y="4856195"/>
            <a:ext cx="779800" cy="323331"/>
          </a:xfrm>
          <a:prstGeom prst="roundRect">
            <a:avLst/>
          </a:prstGeom>
          <a:solidFill>
            <a:srgbClr val="01AE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3720510" y="5407761"/>
            <a:ext cx="1616659" cy="95097"/>
          </a:xfrm>
          <a:prstGeom prst="roundRect">
            <a:avLst/>
          </a:prstGeom>
          <a:solidFill>
            <a:srgbClr val="2A45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3416198" y="1603857"/>
            <a:ext cx="5325465" cy="3994099"/>
          </a:xfrm>
          <a:prstGeom prst="roundRect">
            <a:avLst/>
          </a:prstGeom>
          <a:noFill/>
          <a:ln w="44450">
            <a:solidFill>
              <a:srgbClr val="FFD6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2960" y="617220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>
                <a:solidFill>
                  <a:srgbClr val="0A6299"/>
                </a:solidFill>
              </a:rPr>
              <a:t>max-width stops the app getting too wide on big screens.</a:t>
            </a:r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800" b="1">
                <a:solidFill>
                  <a:srgbClr val="1F2A37"/>
                </a:solidFill>
              </a:rPr>
              <a:t>Sizes: pixels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8680" y="502920"/>
            <a:ext cx="5486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01AEFD"/>
                </a:solidFill>
              </a:rPr>
              <a:t>CSS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828800"/>
            <a:ext cx="105156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20px means 20 pixels - little dots on the screen.</a:t>
            </a:r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1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01AEFD"/>
                </a:solidFill>
              </a:rPr>
              <a:t>Type this into style.css   -   line 8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60120"/>
            <a:ext cx="11155680" cy="4297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7  </a:t>
            </a:r>
            <a:r>
              <a:rPr sz="1800">
                <a:solidFill>
                  <a:srgbClr val="6D8C97"/>
                </a:solidFill>
                <a:latin typeface="Consolas"/>
              </a:rPr>
              <a:t>.app {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8  </a:t>
            </a:r>
            <a:r>
              <a:rPr sz="1800">
                <a:solidFill>
                  <a:srgbClr val="7FE0A0"/>
                </a:solidFill>
                <a:latin typeface="Consolas"/>
              </a:rPr>
              <a:t>  max-width: 620px;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23560"/>
            <a:ext cx="110642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>
                <a:solidFill>
                  <a:srgbClr val="DCECEF"/>
                </a:solidFill>
              </a:rPr>
              <a:t>It never grows wider than 620px, so lines stay easy to read.</a:t>
            </a:r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1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01AEFD"/>
                </a:solidFill>
              </a:rPr>
              <a:t>Type this into style.css   -   line 9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60120"/>
            <a:ext cx="11155680" cy="4297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7  </a:t>
            </a:r>
            <a:r>
              <a:rPr sz="1800">
                <a:solidFill>
                  <a:srgbClr val="6D8C97"/>
                </a:solidFill>
                <a:latin typeface="Consolas"/>
              </a:rPr>
              <a:t>.app {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8  </a:t>
            </a:r>
            <a:r>
              <a:rPr sz="1800">
                <a:solidFill>
                  <a:srgbClr val="6D8C97"/>
                </a:solidFill>
                <a:latin typeface="Consolas"/>
              </a:rPr>
              <a:t>  max-width: 620px;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9  </a:t>
            </a:r>
            <a:r>
              <a:rPr sz="1800">
                <a:solidFill>
                  <a:srgbClr val="7FE0A0"/>
                </a:solidFill>
                <a:latin typeface="Consolas"/>
              </a:rPr>
              <a:t>  margin: 0 auto;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23560"/>
            <a:ext cx="110642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>
                <a:solidFill>
                  <a:srgbClr val="DCECEF"/>
                </a:solidFill>
              </a:rPr>
              <a:t>margin: 0 auto centres it: no top/bottom margin, equal left/right.</a:t>
            </a:r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800" b="1">
                <a:solidFill>
                  <a:srgbClr val="1F2A37"/>
                </a:solidFill>
              </a:rPr>
              <a:t>padding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8680" y="502920"/>
            <a:ext cx="5486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01AEFD"/>
                </a:solidFill>
              </a:rPr>
              <a:t>CSS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828800"/>
            <a:ext cx="105156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Space INSIDE a box, between its edge and its contents.</a:t>
            </a:r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365760"/>
            <a:ext cx="7315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01AEFD"/>
                </a:solidFill>
              </a:rPr>
              <a:t>ON THE PAGE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658368"/>
            <a:ext cx="10515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>
                <a:solidFill>
                  <a:srgbClr val="1F2A37"/>
                </a:solidFill>
              </a:rPr>
              <a:t>padding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454237" y="1641896"/>
            <a:ext cx="5249387" cy="3918021"/>
          </a:xfrm>
          <a:prstGeom prst="roundRect">
            <a:avLst/>
          </a:prstGeom>
          <a:solidFill>
            <a:srgbClr val="0F1F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3606393" y="2022287"/>
            <a:ext cx="4945075" cy="437448"/>
          </a:xfrm>
          <a:prstGeom prst="roundRect">
            <a:avLst/>
          </a:prstGeom>
          <a:solidFill>
            <a:srgbClr val="1630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3720510" y="2155423"/>
            <a:ext cx="1426463" cy="190195"/>
          </a:xfrm>
          <a:prstGeom prst="roundRect">
            <a:avLst/>
          </a:prstGeom>
          <a:solidFill>
            <a:srgbClr val="4A6B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3606393" y="2554833"/>
            <a:ext cx="4945075" cy="1730776"/>
          </a:xfrm>
          <a:prstGeom prst="roundRect">
            <a:avLst/>
          </a:prstGeom>
          <a:solidFill>
            <a:srgbClr val="0B17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3720510" y="2668950"/>
            <a:ext cx="2852927" cy="399409"/>
          </a:xfrm>
          <a:prstGeom prst="roundRect">
            <a:avLst/>
          </a:prstGeom>
          <a:solidFill>
            <a:srgbClr val="1B35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5584423" y="3182477"/>
            <a:ext cx="2852927" cy="399409"/>
          </a:xfrm>
          <a:prstGeom prst="roundRect">
            <a:avLst/>
          </a:prstGeom>
          <a:solidFill>
            <a:srgbClr val="123A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3720510" y="3696004"/>
            <a:ext cx="3138220" cy="399409"/>
          </a:xfrm>
          <a:prstGeom prst="roundRect">
            <a:avLst/>
          </a:prstGeom>
          <a:solidFill>
            <a:srgbClr val="1B35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3701491" y="4409236"/>
            <a:ext cx="1426463" cy="228234"/>
          </a:xfrm>
          <a:prstGeom prst="roundRect">
            <a:avLst/>
          </a:prstGeom>
          <a:solidFill>
            <a:srgbClr val="1630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5223052" y="4409236"/>
            <a:ext cx="1426463" cy="228234"/>
          </a:xfrm>
          <a:prstGeom prst="roundRect">
            <a:avLst/>
          </a:prstGeom>
          <a:solidFill>
            <a:srgbClr val="1630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3701491" y="4856195"/>
            <a:ext cx="3899001" cy="323331"/>
          </a:xfrm>
          <a:prstGeom prst="roundRect">
            <a:avLst/>
          </a:prstGeom>
          <a:solidFill>
            <a:srgbClr val="1630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7695590" y="4856195"/>
            <a:ext cx="779800" cy="323331"/>
          </a:xfrm>
          <a:prstGeom prst="roundRect">
            <a:avLst/>
          </a:prstGeom>
          <a:solidFill>
            <a:srgbClr val="01AE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3720510" y="5407761"/>
            <a:ext cx="1616659" cy="95097"/>
          </a:xfrm>
          <a:prstGeom prst="roundRect">
            <a:avLst/>
          </a:prstGeom>
          <a:solidFill>
            <a:srgbClr val="2A45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3682471" y="2630911"/>
            <a:ext cx="2929006" cy="475488"/>
          </a:xfrm>
          <a:prstGeom prst="roundRect">
            <a:avLst/>
          </a:prstGeom>
          <a:noFill/>
          <a:ln w="44450">
            <a:solidFill>
              <a:srgbClr val="FFD6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2960" y="617220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>
                <a:solidFill>
                  <a:srgbClr val="0A6299"/>
                </a:solidFill>
              </a:rPr>
              <a:t>Padding is the space INSIDE a bubble, around its text.</a:t>
            </a:r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1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01AEFD"/>
                </a:solidFill>
              </a:rPr>
              <a:t>Type this into style.css   -   line 10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60120"/>
            <a:ext cx="11155680" cy="4297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7  </a:t>
            </a:r>
            <a:r>
              <a:rPr sz="1800">
                <a:solidFill>
                  <a:srgbClr val="6D8C97"/>
                </a:solidFill>
                <a:latin typeface="Consolas"/>
              </a:rPr>
              <a:t>.app {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8  </a:t>
            </a:r>
            <a:r>
              <a:rPr sz="1800">
                <a:solidFill>
                  <a:srgbClr val="6D8C97"/>
                </a:solidFill>
                <a:latin typeface="Consolas"/>
              </a:rPr>
              <a:t>  max-width: 620px;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9  </a:t>
            </a:r>
            <a:r>
              <a:rPr sz="1800">
                <a:solidFill>
                  <a:srgbClr val="6D8C97"/>
                </a:solidFill>
                <a:latin typeface="Consolas"/>
              </a:rPr>
              <a:t>  margin: 0 auto;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10  </a:t>
            </a:r>
            <a:r>
              <a:rPr sz="1800">
                <a:solidFill>
                  <a:srgbClr val="7FE0A0"/>
                </a:solidFill>
                <a:latin typeface="Consolas"/>
              </a:rPr>
              <a:t>  padding: 20px;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23560"/>
            <a:ext cx="110642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>
                <a:solidFill>
                  <a:srgbClr val="DCECEF"/>
                </a:solidFill>
              </a:rPr>
              <a:t>Space inside the box so text is not jammed against the edge.</a:t>
            </a:r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1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01AEFD"/>
                </a:solidFill>
              </a:rPr>
              <a:t>Type this into style.css   -   line 11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60120"/>
            <a:ext cx="11155680" cy="4297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7  </a:t>
            </a:r>
            <a:r>
              <a:rPr sz="1800">
                <a:solidFill>
                  <a:srgbClr val="6D8C97"/>
                </a:solidFill>
                <a:latin typeface="Consolas"/>
              </a:rPr>
              <a:t>.app {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8  </a:t>
            </a:r>
            <a:r>
              <a:rPr sz="1800">
                <a:solidFill>
                  <a:srgbClr val="6D8C97"/>
                </a:solidFill>
                <a:latin typeface="Consolas"/>
              </a:rPr>
              <a:t>  max-width: 620px;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9  </a:t>
            </a:r>
            <a:r>
              <a:rPr sz="1800">
                <a:solidFill>
                  <a:srgbClr val="6D8C97"/>
                </a:solidFill>
                <a:latin typeface="Consolas"/>
              </a:rPr>
              <a:t>  margin: 0 auto;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10  </a:t>
            </a:r>
            <a:r>
              <a:rPr sz="1800">
                <a:solidFill>
                  <a:srgbClr val="6D8C97"/>
                </a:solidFill>
                <a:latin typeface="Consolas"/>
              </a:rPr>
              <a:t>  padding: 20px;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11  </a:t>
            </a:r>
            <a:r>
              <a:rPr sz="1800">
                <a:solidFill>
                  <a:srgbClr val="7FE0A0"/>
                </a:solidFill>
                <a:latin typeface="Consolas"/>
              </a:rPr>
              <a:t>}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23560"/>
            <a:ext cx="110642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>
                <a:solidFill>
                  <a:srgbClr val="DCECEF"/>
                </a:solidFill>
              </a:rPr>
              <a:t>Closes the .app rule.</a:t>
            </a:r>
          </a:p>
        </p:txBody>
      </p:sp>
    </p:spTree>
  </p:cSld>
  <p:clrMapOvr>
    <a:masterClrMapping/>
  </p:clrMapOvr>
</p:sld>
</file>

<file path=ppt/slides/slide7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800" b="1">
                <a:solidFill>
                  <a:srgbClr val="1F2A37"/>
                </a:solidFill>
              </a:rPr>
              <a:t>Selector: nested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8680" y="502920"/>
            <a:ext cx="5486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01AEFD"/>
                </a:solidFill>
              </a:rPr>
              <a:t>CSS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828800"/>
            <a:ext cx="105156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.top h1 { } styles an &lt;h1&gt; that is INSIDE .top.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A space between names means 'inside'.</a:t>
            </a:r>
          </a:p>
        </p:txBody>
      </p:sp>
    </p:spTree>
  </p:cSld>
  <p:clrMapOvr>
    <a:masterClrMapping/>
  </p:clrMapOvr>
</p:sld>
</file>

<file path=ppt/slides/slide7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800" b="1">
                <a:solidFill>
                  <a:srgbClr val="1F2A37"/>
                </a:solidFill>
              </a:rPr>
              <a:t>font-size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8680" y="502920"/>
            <a:ext cx="5486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01AEFD"/>
                </a:solidFill>
              </a:rPr>
              <a:t>CSS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828800"/>
            <a:ext cx="105156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How big the text is, usually in px.</a:t>
            </a:r>
          </a:p>
        </p:txBody>
      </p:sp>
    </p:spTree>
  </p:cSld>
  <p:clrMapOvr>
    <a:masterClrMapping/>
  </p:clrMapOvr>
</p:sld>
</file>

<file path=ppt/slides/slide7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365760"/>
            <a:ext cx="7315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01AEFD"/>
                </a:solidFill>
              </a:rPr>
              <a:t>ON THE PAGE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658368"/>
            <a:ext cx="10515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>
                <a:solidFill>
                  <a:srgbClr val="1F2A37"/>
                </a:solidFill>
              </a:rPr>
              <a:t>font-size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454237" y="1641896"/>
            <a:ext cx="5249387" cy="3918021"/>
          </a:xfrm>
          <a:prstGeom prst="roundRect">
            <a:avLst/>
          </a:prstGeom>
          <a:solidFill>
            <a:srgbClr val="0F1F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3606393" y="2022287"/>
            <a:ext cx="4945075" cy="437448"/>
          </a:xfrm>
          <a:prstGeom prst="roundRect">
            <a:avLst/>
          </a:prstGeom>
          <a:solidFill>
            <a:srgbClr val="1630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3720510" y="2155423"/>
            <a:ext cx="1426463" cy="190195"/>
          </a:xfrm>
          <a:prstGeom prst="roundRect">
            <a:avLst/>
          </a:prstGeom>
          <a:solidFill>
            <a:srgbClr val="4A6B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3606393" y="2554833"/>
            <a:ext cx="4945075" cy="1730776"/>
          </a:xfrm>
          <a:prstGeom prst="roundRect">
            <a:avLst/>
          </a:prstGeom>
          <a:solidFill>
            <a:srgbClr val="0B17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3720510" y="2668950"/>
            <a:ext cx="2852927" cy="399409"/>
          </a:xfrm>
          <a:prstGeom prst="roundRect">
            <a:avLst/>
          </a:prstGeom>
          <a:solidFill>
            <a:srgbClr val="1B35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5584423" y="3182477"/>
            <a:ext cx="2852927" cy="399409"/>
          </a:xfrm>
          <a:prstGeom prst="roundRect">
            <a:avLst/>
          </a:prstGeom>
          <a:solidFill>
            <a:srgbClr val="123A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3720510" y="3696004"/>
            <a:ext cx="3138220" cy="399409"/>
          </a:xfrm>
          <a:prstGeom prst="roundRect">
            <a:avLst/>
          </a:prstGeom>
          <a:solidFill>
            <a:srgbClr val="1B35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3701491" y="4409236"/>
            <a:ext cx="1426463" cy="228234"/>
          </a:xfrm>
          <a:prstGeom prst="roundRect">
            <a:avLst/>
          </a:prstGeom>
          <a:solidFill>
            <a:srgbClr val="1630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5223052" y="4409236"/>
            <a:ext cx="1426463" cy="228234"/>
          </a:xfrm>
          <a:prstGeom prst="roundRect">
            <a:avLst/>
          </a:prstGeom>
          <a:solidFill>
            <a:srgbClr val="1630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3701491" y="4856195"/>
            <a:ext cx="3899001" cy="323331"/>
          </a:xfrm>
          <a:prstGeom prst="roundRect">
            <a:avLst/>
          </a:prstGeom>
          <a:solidFill>
            <a:srgbClr val="1630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7695590" y="4856195"/>
            <a:ext cx="779800" cy="323331"/>
          </a:xfrm>
          <a:prstGeom prst="roundRect">
            <a:avLst/>
          </a:prstGeom>
          <a:solidFill>
            <a:srgbClr val="01AE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3720510" y="5407761"/>
            <a:ext cx="1616659" cy="95097"/>
          </a:xfrm>
          <a:prstGeom prst="roundRect">
            <a:avLst/>
          </a:prstGeom>
          <a:solidFill>
            <a:srgbClr val="2A45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3682471" y="2117384"/>
            <a:ext cx="1502542" cy="266273"/>
          </a:xfrm>
          <a:prstGeom prst="roundRect">
            <a:avLst/>
          </a:prstGeom>
          <a:noFill/>
          <a:ln w="44450">
            <a:solidFill>
              <a:srgbClr val="FFD6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2960" y="617220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>
                <a:solidFill>
                  <a:srgbClr val="0A6299"/>
                </a:solidFill>
              </a:rPr>
              <a:t>font-size sets how big text is - the title is largest.</a:t>
            </a:r>
          </a:p>
        </p:txBody>
      </p:sp>
    </p:spTree>
  </p:cSld>
  <p:clrMapOvr>
    <a:masterClrMapping/>
  </p:clrMapOvr>
</p:sld>
</file>

<file path=ppt/slides/slide7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1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01AEFD"/>
                </a:solidFill>
              </a:rPr>
              <a:t>Type this into style.css   -   line 12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60120"/>
            <a:ext cx="11155680" cy="4297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7  </a:t>
            </a:r>
            <a:r>
              <a:rPr sz="1800">
                <a:solidFill>
                  <a:srgbClr val="6D8C97"/>
                </a:solidFill>
                <a:latin typeface="Consolas"/>
              </a:rPr>
              <a:t>.app {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8  </a:t>
            </a:r>
            <a:r>
              <a:rPr sz="1800">
                <a:solidFill>
                  <a:srgbClr val="6D8C97"/>
                </a:solidFill>
                <a:latin typeface="Consolas"/>
              </a:rPr>
              <a:t>  max-width: 620px;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9  </a:t>
            </a:r>
            <a:r>
              <a:rPr sz="1800">
                <a:solidFill>
                  <a:srgbClr val="6D8C97"/>
                </a:solidFill>
                <a:latin typeface="Consolas"/>
              </a:rPr>
              <a:t>  margin: 0 auto;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10  </a:t>
            </a:r>
            <a:r>
              <a:rPr sz="1800">
                <a:solidFill>
                  <a:srgbClr val="6D8C97"/>
                </a:solidFill>
                <a:latin typeface="Consolas"/>
              </a:rPr>
              <a:t>  padding: 20px;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11  </a:t>
            </a:r>
            <a:r>
              <a:rPr sz="1800">
                <a:solidFill>
                  <a:srgbClr val="6D8C97"/>
                </a:solidFill>
                <a:latin typeface="Consolas"/>
              </a:rPr>
              <a:t>}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12  </a:t>
            </a:r>
            <a:r>
              <a:rPr sz="1800">
                <a:solidFill>
                  <a:srgbClr val="7FE0A0"/>
                </a:solidFill>
                <a:latin typeface="Consolas"/>
              </a:rPr>
              <a:t>.top h1 { margin: 0 0 4px; font-size: 26px; }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23560"/>
            <a:ext cx="110642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>
                <a:solidFill>
                  <a:srgbClr val="DCECEF"/>
                </a:solidFill>
              </a:rPr>
              <a:t>Styles the &lt;h1&gt; inside .top: no margin except a little below, and a 26px size. (A one-line rule.)</a:t>
            </a:r>
          </a:p>
        </p:txBody>
      </p:sp>
    </p:spTree>
  </p:cSld>
  <p:clrMapOvr>
    <a:masterClrMapping/>
  </p:clrMapOvr>
</p:sld>
</file>

<file path=ppt/slides/slide7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1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01AEFD"/>
                </a:solidFill>
              </a:rPr>
              <a:t>Type this into style.css   -   line 13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60120"/>
            <a:ext cx="11155680" cy="4297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7  </a:t>
            </a:r>
            <a:r>
              <a:rPr sz="1800">
                <a:solidFill>
                  <a:srgbClr val="6D8C97"/>
                </a:solidFill>
                <a:latin typeface="Consolas"/>
              </a:rPr>
              <a:t>.app {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8  </a:t>
            </a:r>
            <a:r>
              <a:rPr sz="1800">
                <a:solidFill>
                  <a:srgbClr val="6D8C97"/>
                </a:solidFill>
                <a:latin typeface="Consolas"/>
              </a:rPr>
              <a:t>  max-width: 620px;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9  </a:t>
            </a:r>
            <a:r>
              <a:rPr sz="1800">
                <a:solidFill>
                  <a:srgbClr val="6D8C97"/>
                </a:solidFill>
                <a:latin typeface="Consolas"/>
              </a:rPr>
              <a:t>  margin: 0 auto;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10  </a:t>
            </a:r>
            <a:r>
              <a:rPr sz="1800">
                <a:solidFill>
                  <a:srgbClr val="6D8C97"/>
                </a:solidFill>
                <a:latin typeface="Consolas"/>
              </a:rPr>
              <a:t>  padding: 20px;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11  </a:t>
            </a:r>
            <a:r>
              <a:rPr sz="1800">
                <a:solidFill>
                  <a:srgbClr val="6D8C97"/>
                </a:solidFill>
                <a:latin typeface="Consolas"/>
              </a:rPr>
              <a:t>}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12  </a:t>
            </a:r>
            <a:r>
              <a:rPr sz="1800">
                <a:solidFill>
                  <a:srgbClr val="6D8C97"/>
                </a:solidFill>
                <a:latin typeface="Consolas"/>
              </a:rPr>
              <a:t>.top h1 { margin: 0 0 4px; font-size: 26px; }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13  </a:t>
            </a:r>
            <a:r>
              <a:rPr sz="1800">
                <a:solidFill>
                  <a:srgbClr val="7FE0A0"/>
                </a:solidFill>
                <a:latin typeface="Consolas"/>
              </a:rPr>
              <a:t>.tag { margin: 0 0 18px; color: #6b7787; font-size: 14px; }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23560"/>
            <a:ext cx="110642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>
                <a:solidFill>
                  <a:srgbClr val="DCECEF"/>
                </a:solidFill>
              </a:rPr>
              <a:t>Styles the .tag paragraph: spaced below, grey, and small.</a:t>
            </a:r>
          </a:p>
        </p:txBody>
      </p:sp>
    </p:spTree>
  </p:cSld>
  <p:clrMapOvr>
    <a:masterClrMapping/>
  </p:clrMapOvr>
</p:sld>
</file>

<file path=ppt/slides/slide7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1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01AEFD"/>
                </a:solidFill>
              </a:rPr>
              <a:t>Type this into style.css   -   line 14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60120"/>
            <a:ext cx="11155680" cy="4297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7  </a:t>
            </a:r>
            <a:r>
              <a:rPr sz="1800">
                <a:solidFill>
                  <a:srgbClr val="6D8C97"/>
                </a:solidFill>
                <a:latin typeface="Consolas"/>
              </a:rPr>
              <a:t>.app {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8  </a:t>
            </a:r>
            <a:r>
              <a:rPr sz="1800">
                <a:solidFill>
                  <a:srgbClr val="6D8C97"/>
                </a:solidFill>
                <a:latin typeface="Consolas"/>
              </a:rPr>
              <a:t>  max-width: 620px;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9  </a:t>
            </a:r>
            <a:r>
              <a:rPr sz="1800">
                <a:solidFill>
                  <a:srgbClr val="6D8C97"/>
                </a:solidFill>
                <a:latin typeface="Consolas"/>
              </a:rPr>
              <a:t>  margin: 0 auto;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10  </a:t>
            </a:r>
            <a:r>
              <a:rPr sz="1800">
                <a:solidFill>
                  <a:srgbClr val="6D8C97"/>
                </a:solidFill>
                <a:latin typeface="Consolas"/>
              </a:rPr>
              <a:t>  padding: 20px;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11  </a:t>
            </a:r>
            <a:r>
              <a:rPr sz="1800">
                <a:solidFill>
                  <a:srgbClr val="6D8C97"/>
                </a:solidFill>
                <a:latin typeface="Consolas"/>
              </a:rPr>
              <a:t>}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12  </a:t>
            </a:r>
            <a:r>
              <a:rPr sz="1800">
                <a:solidFill>
                  <a:srgbClr val="6D8C97"/>
                </a:solidFill>
                <a:latin typeface="Consolas"/>
              </a:rPr>
              <a:t>.top h1 { margin: 0 0 4px; font-size: 26px; }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13  </a:t>
            </a:r>
            <a:r>
              <a:rPr sz="1800">
                <a:solidFill>
                  <a:srgbClr val="6D8C97"/>
                </a:solidFill>
                <a:latin typeface="Consolas"/>
              </a:rPr>
              <a:t>.tag { margin: 0 0 18px; color: #6b7787; font-size: 14px; }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14  </a:t>
            </a:r>
            <a:r>
              <a:rPr sz="1800">
                <a:solidFill>
                  <a:srgbClr val="7FE0A0"/>
                </a:solidFill>
                <a:latin typeface="Consolas"/>
              </a:rPr>
              <a:t>.chat {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23560"/>
            <a:ext cx="110642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>
                <a:solidFill>
                  <a:srgbClr val="DCECEF"/>
                </a:solidFill>
              </a:rPr>
              <a:t>Starts a rule for the .chat box.</a:t>
            </a:r>
          </a:p>
        </p:txBody>
      </p:sp>
    </p:spTree>
  </p:cSld>
  <p:clrMapOvr>
    <a:masterClrMapping/>
  </p:clrMapOvr>
</p:sld>
</file>

<file path=ppt/slides/slide7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800" b="1">
                <a:solidFill>
                  <a:srgbClr val="1F2A37"/>
                </a:solidFill>
              </a:rPr>
              <a:t>min-height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8680" y="502920"/>
            <a:ext cx="5486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01AEFD"/>
                </a:solidFill>
              </a:rPr>
              <a:t>CSS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828800"/>
            <a:ext cx="105156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The box is at least this tall, even when empty.</a:t>
            </a:r>
          </a:p>
        </p:txBody>
      </p:sp>
    </p:spTree>
  </p:cSld>
  <p:clrMapOvr>
    <a:masterClrMapping/>
  </p:clrMapOvr>
</p:sld>
</file>

<file path=ppt/slides/slide8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365760"/>
            <a:ext cx="7315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01AEFD"/>
                </a:solidFill>
              </a:rPr>
              <a:t>ON THE PAGE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658368"/>
            <a:ext cx="10515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>
                <a:solidFill>
                  <a:srgbClr val="1F2A37"/>
                </a:solidFill>
              </a:rPr>
              <a:t>min-height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454237" y="1641896"/>
            <a:ext cx="5249387" cy="3918021"/>
          </a:xfrm>
          <a:prstGeom prst="roundRect">
            <a:avLst/>
          </a:prstGeom>
          <a:solidFill>
            <a:srgbClr val="0F1F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3606393" y="2022287"/>
            <a:ext cx="4945075" cy="437448"/>
          </a:xfrm>
          <a:prstGeom prst="roundRect">
            <a:avLst/>
          </a:prstGeom>
          <a:solidFill>
            <a:srgbClr val="1630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3720510" y="2155423"/>
            <a:ext cx="1426463" cy="190195"/>
          </a:xfrm>
          <a:prstGeom prst="roundRect">
            <a:avLst/>
          </a:prstGeom>
          <a:solidFill>
            <a:srgbClr val="4A6B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3606393" y="2554833"/>
            <a:ext cx="4945075" cy="1730776"/>
          </a:xfrm>
          <a:prstGeom prst="roundRect">
            <a:avLst/>
          </a:prstGeom>
          <a:solidFill>
            <a:srgbClr val="0B17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3720510" y="2668950"/>
            <a:ext cx="2852927" cy="399409"/>
          </a:xfrm>
          <a:prstGeom prst="roundRect">
            <a:avLst/>
          </a:prstGeom>
          <a:solidFill>
            <a:srgbClr val="1B35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5584423" y="3182477"/>
            <a:ext cx="2852927" cy="399409"/>
          </a:xfrm>
          <a:prstGeom prst="roundRect">
            <a:avLst/>
          </a:prstGeom>
          <a:solidFill>
            <a:srgbClr val="123A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3720510" y="3696004"/>
            <a:ext cx="3138220" cy="399409"/>
          </a:xfrm>
          <a:prstGeom prst="roundRect">
            <a:avLst/>
          </a:prstGeom>
          <a:solidFill>
            <a:srgbClr val="1B35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3701491" y="4409236"/>
            <a:ext cx="1426463" cy="228234"/>
          </a:xfrm>
          <a:prstGeom prst="roundRect">
            <a:avLst/>
          </a:prstGeom>
          <a:solidFill>
            <a:srgbClr val="1630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5223052" y="4409236"/>
            <a:ext cx="1426463" cy="228234"/>
          </a:xfrm>
          <a:prstGeom prst="roundRect">
            <a:avLst/>
          </a:prstGeom>
          <a:solidFill>
            <a:srgbClr val="1630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3701491" y="4856195"/>
            <a:ext cx="3899001" cy="323331"/>
          </a:xfrm>
          <a:prstGeom prst="roundRect">
            <a:avLst/>
          </a:prstGeom>
          <a:solidFill>
            <a:srgbClr val="1630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7695590" y="4856195"/>
            <a:ext cx="779800" cy="323331"/>
          </a:xfrm>
          <a:prstGeom prst="roundRect">
            <a:avLst/>
          </a:prstGeom>
          <a:solidFill>
            <a:srgbClr val="01AE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3720510" y="5407761"/>
            <a:ext cx="1616659" cy="95097"/>
          </a:xfrm>
          <a:prstGeom prst="roundRect">
            <a:avLst/>
          </a:prstGeom>
          <a:solidFill>
            <a:srgbClr val="2A45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3568354" y="2516794"/>
            <a:ext cx="5021153" cy="1806854"/>
          </a:xfrm>
          <a:prstGeom prst="roundRect">
            <a:avLst/>
          </a:prstGeom>
          <a:noFill/>
          <a:ln w="44450">
            <a:solidFill>
              <a:srgbClr val="FFD6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2960" y="617220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>
                <a:solidFill>
                  <a:srgbClr val="0A6299"/>
                </a:solidFill>
              </a:rPr>
              <a:t>min-height keeps the log tall even when it's empty.</a:t>
            </a:r>
          </a:p>
        </p:txBody>
      </p:sp>
    </p:spTree>
  </p:cSld>
  <p:clrMapOvr>
    <a:masterClrMapping/>
  </p:clrMapOvr>
</p:sld>
</file>

<file path=ppt/slides/slide8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1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01AEFD"/>
                </a:solidFill>
              </a:rPr>
              <a:t>Type this into style.css   -   line 15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60120"/>
            <a:ext cx="11155680" cy="4297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7  </a:t>
            </a:r>
            <a:r>
              <a:rPr sz="1800">
                <a:solidFill>
                  <a:srgbClr val="6D8C97"/>
                </a:solidFill>
                <a:latin typeface="Consolas"/>
              </a:rPr>
              <a:t>.app {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8  </a:t>
            </a:r>
            <a:r>
              <a:rPr sz="1800">
                <a:solidFill>
                  <a:srgbClr val="6D8C97"/>
                </a:solidFill>
                <a:latin typeface="Consolas"/>
              </a:rPr>
              <a:t>  max-width: 620px;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9  </a:t>
            </a:r>
            <a:r>
              <a:rPr sz="1800">
                <a:solidFill>
                  <a:srgbClr val="6D8C97"/>
                </a:solidFill>
                <a:latin typeface="Consolas"/>
              </a:rPr>
              <a:t>  margin: 0 auto;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10  </a:t>
            </a:r>
            <a:r>
              <a:rPr sz="1800">
                <a:solidFill>
                  <a:srgbClr val="6D8C97"/>
                </a:solidFill>
                <a:latin typeface="Consolas"/>
              </a:rPr>
              <a:t>  padding: 20px;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11  </a:t>
            </a:r>
            <a:r>
              <a:rPr sz="1800">
                <a:solidFill>
                  <a:srgbClr val="6D8C97"/>
                </a:solidFill>
                <a:latin typeface="Consolas"/>
              </a:rPr>
              <a:t>}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12  </a:t>
            </a:r>
            <a:r>
              <a:rPr sz="1800">
                <a:solidFill>
                  <a:srgbClr val="6D8C97"/>
                </a:solidFill>
                <a:latin typeface="Consolas"/>
              </a:rPr>
              <a:t>.top h1 { margin: 0 0 4px; font-size: 26px; }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13  </a:t>
            </a:r>
            <a:r>
              <a:rPr sz="1800">
                <a:solidFill>
                  <a:srgbClr val="6D8C97"/>
                </a:solidFill>
                <a:latin typeface="Consolas"/>
              </a:rPr>
              <a:t>.tag { margin: 0 0 18px; color: #6b7787; font-size: 14px; }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14  </a:t>
            </a:r>
            <a:r>
              <a:rPr sz="1800">
                <a:solidFill>
                  <a:srgbClr val="6D8C97"/>
                </a:solidFill>
                <a:latin typeface="Consolas"/>
              </a:rPr>
              <a:t>.chat {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15  </a:t>
            </a:r>
            <a:r>
              <a:rPr sz="1800">
                <a:solidFill>
                  <a:srgbClr val="7FE0A0"/>
                </a:solidFill>
                <a:latin typeface="Consolas"/>
              </a:rPr>
              <a:t>  min-height: 260px;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23560"/>
            <a:ext cx="110642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>
                <a:solidFill>
                  <a:srgbClr val="DCECEF"/>
                </a:solidFill>
              </a:rPr>
              <a:t>Keeps it at least 260px tall so it reads as a chat area even when empty.</a:t>
            </a:r>
          </a:p>
        </p:txBody>
      </p:sp>
    </p:spTree>
  </p:cSld>
  <p:clrMapOvr>
    <a:masterClrMapping/>
  </p:clrMapOvr>
</p:sld>
</file>

<file path=ppt/slides/slide8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1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01AEFD"/>
                </a:solidFill>
              </a:rPr>
              <a:t>Type this into style.css   -   line 16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60120"/>
            <a:ext cx="11155680" cy="4297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7  </a:t>
            </a:r>
            <a:r>
              <a:rPr sz="1800">
                <a:solidFill>
                  <a:srgbClr val="6D8C97"/>
                </a:solidFill>
                <a:latin typeface="Consolas"/>
              </a:rPr>
              <a:t>.app {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8  </a:t>
            </a:r>
            <a:r>
              <a:rPr sz="1800">
                <a:solidFill>
                  <a:srgbClr val="6D8C97"/>
                </a:solidFill>
                <a:latin typeface="Consolas"/>
              </a:rPr>
              <a:t>  max-width: 620px;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9  </a:t>
            </a:r>
            <a:r>
              <a:rPr sz="1800">
                <a:solidFill>
                  <a:srgbClr val="6D8C97"/>
                </a:solidFill>
                <a:latin typeface="Consolas"/>
              </a:rPr>
              <a:t>  margin: 0 auto;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10  </a:t>
            </a:r>
            <a:r>
              <a:rPr sz="1800">
                <a:solidFill>
                  <a:srgbClr val="6D8C97"/>
                </a:solidFill>
                <a:latin typeface="Consolas"/>
              </a:rPr>
              <a:t>  padding: 20px;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11  </a:t>
            </a:r>
            <a:r>
              <a:rPr sz="1800">
                <a:solidFill>
                  <a:srgbClr val="6D8C97"/>
                </a:solidFill>
                <a:latin typeface="Consolas"/>
              </a:rPr>
              <a:t>}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12  </a:t>
            </a:r>
            <a:r>
              <a:rPr sz="1800">
                <a:solidFill>
                  <a:srgbClr val="6D8C97"/>
                </a:solidFill>
                <a:latin typeface="Consolas"/>
              </a:rPr>
              <a:t>.top h1 { margin: 0 0 4px; font-size: 26px; }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13  </a:t>
            </a:r>
            <a:r>
              <a:rPr sz="1800">
                <a:solidFill>
                  <a:srgbClr val="6D8C97"/>
                </a:solidFill>
                <a:latin typeface="Consolas"/>
              </a:rPr>
              <a:t>.tag { margin: 0 0 18px; color: #6b7787; font-size: 14px; }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14  </a:t>
            </a:r>
            <a:r>
              <a:rPr sz="1800">
                <a:solidFill>
                  <a:srgbClr val="6D8C97"/>
                </a:solidFill>
                <a:latin typeface="Consolas"/>
              </a:rPr>
              <a:t>.chat {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15  </a:t>
            </a:r>
            <a:r>
              <a:rPr sz="1800">
                <a:solidFill>
                  <a:srgbClr val="6D8C97"/>
                </a:solidFill>
                <a:latin typeface="Consolas"/>
              </a:rPr>
              <a:t>  min-height: 260px;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16  </a:t>
            </a:r>
            <a:r>
              <a:rPr sz="1800">
                <a:solidFill>
                  <a:srgbClr val="7FE0A0"/>
                </a:solidFill>
                <a:latin typeface="Consolas"/>
              </a:rPr>
              <a:t>  padding: 12px;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23560"/>
            <a:ext cx="110642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>
                <a:solidFill>
                  <a:srgbClr val="DCECEF"/>
                </a:solidFill>
              </a:rPr>
              <a:t>Space inside the chat box.</a:t>
            </a:r>
          </a:p>
        </p:txBody>
      </p:sp>
    </p:spTree>
  </p:cSld>
  <p:clrMapOvr>
    <a:masterClrMapping/>
  </p:clrMapOvr>
</p:sld>
</file>

<file path=ppt/slides/slide8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1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01AEFD"/>
                </a:solidFill>
              </a:rPr>
              <a:t>Type this into style.css   -   line 17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60120"/>
            <a:ext cx="11155680" cy="4297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 7  </a:t>
            </a:r>
            <a:r>
              <a:rPr sz="1300">
                <a:solidFill>
                  <a:srgbClr val="6D8C97"/>
                </a:solidFill>
                <a:latin typeface="Consolas"/>
              </a:rPr>
              <a:t>.app {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 8  </a:t>
            </a:r>
            <a:r>
              <a:rPr sz="1300">
                <a:solidFill>
                  <a:srgbClr val="6D8C97"/>
                </a:solidFill>
                <a:latin typeface="Consolas"/>
              </a:rPr>
              <a:t>  max-width: 620px;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 9  </a:t>
            </a:r>
            <a:r>
              <a:rPr sz="1300">
                <a:solidFill>
                  <a:srgbClr val="6D8C97"/>
                </a:solidFill>
                <a:latin typeface="Consolas"/>
              </a:rPr>
              <a:t>  margin: 0 auto;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10  </a:t>
            </a:r>
            <a:r>
              <a:rPr sz="1300">
                <a:solidFill>
                  <a:srgbClr val="6D8C97"/>
                </a:solidFill>
                <a:latin typeface="Consolas"/>
              </a:rPr>
              <a:t>  padding: 20px;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11  </a:t>
            </a:r>
            <a:r>
              <a:rPr sz="1300">
                <a:solidFill>
                  <a:srgbClr val="6D8C97"/>
                </a:solidFill>
                <a:latin typeface="Consolas"/>
              </a:rPr>
              <a:t>}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12  </a:t>
            </a:r>
            <a:r>
              <a:rPr sz="1300">
                <a:solidFill>
                  <a:srgbClr val="6D8C97"/>
                </a:solidFill>
                <a:latin typeface="Consolas"/>
              </a:rPr>
              <a:t>.top h1 { margin: 0 0 4px; font-size: 26px; }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13  </a:t>
            </a:r>
            <a:r>
              <a:rPr sz="1300">
                <a:solidFill>
                  <a:srgbClr val="6D8C97"/>
                </a:solidFill>
                <a:latin typeface="Consolas"/>
              </a:rPr>
              <a:t>.tag { margin: 0 0 18px; color: #6b7787; font-size: 14px; }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14  </a:t>
            </a:r>
            <a:r>
              <a:rPr sz="1300">
                <a:solidFill>
                  <a:srgbClr val="6D8C97"/>
                </a:solidFill>
                <a:latin typeface="Consolas"/>
              </a:rPr>
              <a:t>.chat {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15  </a:t>
            </a:r>
            <a:r>
              <a:rPr sz="1300">
                <a:solidFill>
                  <a:srgbClr val="6D8C97"/>
                </a:solidFill>
                <a:latin typeface="Consolas"/>
              </a:rPr>
              <a:t>  min-height: 260px;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16  </a:t>
            </a:r>
            <a:r>
              <a:rPr sz="1300">
                <a:solidFill>
                  <a:srgbClr val="6D8C97"/>
                </a:solidFill>
                <a:latin typeface="Consolas"/>
              </a:rPr>
              <a:t>  padding: 12px;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17  </a:t>
            </a:r>
            <a:r>
              <a:rPr sz="1300">
                <a:solidFill>
                  <a:srgbClr val="7FE0A0"/>
                </a:solidFill>
                <a:latin typeface="Consolas"/>
              </a:rPr>
              <a:t>  background: #ffffff;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23560"/>
            <a:ext cx="110642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>
                <a:solidFill>
                  <a:srgbClr val="DCECEF"/>
                </a:solidFill>
              </a:rPr>
              <a:t>A white background so messages stand out from the page.</a:t>
            </a:r>
          </a:p>
        </p:txBody>
      </p:sp>
    </p:spTree>
  </p:cSld>
  <p:clrMapOvr>
    <a:masterClrMapping/>
  </p:clrMapOvr>
</p:sld>
</file>

<file path=ppt/slides/slide8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800" b="1">
                <a:solidFill>
                  <a:srgbClr val="1F2A37"/>
                </a:solidFill>
              </a:rPr>
              <a:t>border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8680" y="502920"/>
            <a:ext cx="5486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01AEFD"/>
                </a:solidFill>
              </a:rPr>
              <a:t>CSS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828800"/>
            <a:ext cx="105156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A line around the edge: thickness, style, then colour.</a:t>
            </a:r>
          </a:p>
        </p:txBody>
      </p:sp>
    </p:spTree>
  </p:cSld>
  <p:clrMapOvr>
    <a:masterClrMapping/>
  </p:clrMapOvr>
</p:sld>
</file>

<file path=ppt/slides/slide8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365760"/>
            <a:ext cx="7315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01AEFD"/>
                </a:solidFill>
              </a:rPr>
              <a:t>ON THE PAGE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658368"/>
            <a:ext cx="10515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>
                <a:solidFill>
                  <a:srgbClr val="1F2A37"/>
                </a:solidFill>
              </a:rPr>
              <a:t>border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454237" y="1641896"/>
            <a:ext cx="5249387" cy="3918021"/>
          </a:xfrm>
          <a:prstGeom prst="roundRect">
            <a:avLst/>
          </a:prstGeom>
          <a:solidFill>
            <a:srgbClr val="0F1F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3606393" y="2022287"/>
            <a:ext cx="4945075" cy="437448"/>
          </a:xfrm>
          <a:prstGeom prst="roundRect">
            <a:avLst/>
          </a:prstGeom>
          <a:solidFill>
            <a:srgbClr val="1630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3720510" y="2155423"/>
            <a:ext cx="1426463" cy="190195"/>
          </a:xfrm>
          <a:prstGeom prst="roundRect">
            <a:avLst/>
          </a:prstGeom>
          <a:solidFill>
            <a:srgbClr val="4A6B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3606393" y="2554833"/>
            <a:ext cx="4945075" cy="1730776"/>
          </a:xfrm>
          <a:prstGeom prst="roundRect">
            <a:avLst/>
          </a:prstGeom>
          <a:solidFill>
            <a:srgbClr val="0B17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3720510" y="2668950"/>
            <a:ext cx="2852927" cy="399409"/>
          </a:xfrm>
          <a:prstGeom prst="roundRect">
            <a:avLst/>
          </a:prstGeom>
          <a:solidFill>
            <a:srgbClr val="1B35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5584423" y="3182477"/>
            <a:ext cx="2852927" cy="399409"/>
          </a:xfrm>
          <a:prstGeom prst="roundRect">
            <a:avLst/>
          </a:prstGeom>
          <a:solidFill>
            <a:srgbClr val="123A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3720510" y="3696004"/>
            <a:ext cx="3138220" cy="399409"/>
          </a:xfrm>
          <a:prstGeom prst="roundRect">
            <a:avLst/>
          </a:prstGeom>
          <a:solidFill>
            <a:srgbClr val="1B35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3701491" y="4409236"/>
            <a:ext cx="1426463" cy="228234"/>
          </a:xfrm>
          <a:prstGeom prst="roundRect">
            <a:avLst/>
          </a:prstGeom>
          <a:solidFill>
            <a:srgbClr val="1630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5223052" y="4409236"/>
            <a:ext cx="1426463" cy="228234"/>
          </a:xfrm>
          <a:prstGeom prst="roundRect">
            <a:avLst/>
          </a:prstGeom>
          <a:solidFill>
            <a:srgbClr val="1630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3701491" y="4856195"/>
            <a:ext cx="3899001" cy="323331"/>
          </a:xfrm>
          <a:prstGeom prst="roundRect">
            <a:avLst/>
          </a:prstGeom>
          <a:solidFill>
            <a:srgbClr val="1630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7695590" y="4856195"/>
            <a:ext cx="779800" cy="323331"/>
          </a:xfrm>
          <a:prstGeom prst="roundRect">
            <a:avLst/>
          </a:prstGeom>
          <a:solidFill>
            <a:srgbClr val="01AE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3720510" y="5407761"/>
            <a:ext cx="1616659" cy="95097"/>
          </a:xfrm>
          <a:prstGeom prst="roundRect">
            <a:avLst/>
          </a:prstGeom>
          <a:solidFill>
            <a:srgbClr val="2A45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3663452" y="4818156"/>
            <a:ext cx="3975079" cy="399409"/>
          </a:xfrm>
          <a:prstGeom prst="roundRect">
            <a:avLst/>
          </a:prstGeom>
          <a:noFill/>
          <a:ln w="44450">
            <a:solidFill>
              <a:srgbClr val="FFD6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2960" y="617220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>
                <a:solidFill>
                  <a:srgbClr val="0A6299"/>
                </a:solidFill>
              </a:rPr>
              <a:t>The message box has a border around it.</a:t>
            </a:r>
          </a:p>
        </p:txBody>
      </p:sp>
    </p:spTree>
  </p:cSld>
  <p:clrMapOvr>
    <a:masterClrMapping/>
  </p:clrMapOvr>
</p:sld>
</file>

<file path=ppt/slides/slide8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1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01AEFD"/>
                </a:solidFill>
              </a:rPr>
              <a:t>Type this into style.css   -   line 18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60120"/>
            <a:ext cx="11155680" cy="4297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 7  </a:t>
            </a:r>
            <a:r>
              <a:rPr sz="1300">
                <a:solidFill>
                  <a:srgbClr val="6D8C97"/>
                </a:solidFill>
                <a:latin typeface="Consolas"/>
              </a:rPr>
              <a:t>.app {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 8  </a:t>
            </a:r>
            <a:r>
              <a:rPr sz="1300">
                <a:solidFill>
                  <a:srgbClr val="6D8C97"/>
                </a:solidFill>
                <a:latin typeface="Consolas"/>
              </a:rPr>
              <a:t>  max-width: 620px;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 9  </a:t>
            </a:r>
            <a:r>
              <a:rPr sz="1300">
                <a:solidFill>
                  <a:srgbClr val="6D8C97"/>
                </a:solidFill>
                <a:latin typeface="Consolas"/>
              </a:rPr>
              <a:t>  margin: 0 auto;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10  </a:t>
            </a:r>
            <a:r>
              <a:rPr sz="1300">
                <a:solidFill>
                  <a:srgbClr val="6D8C97"/>
                </a:solidFill>
                <a:latin typeface="Consolas"/>
              </a:rPr>
              <a:t>  padding: 20px;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11  </a:t>
            </a:r>
            <a:r>
              <a:rPr sz="1300">
                <a:solidFill>
                  <a:srgbClr val="6D8C97"/>
                </a:solidFill>
                <a:latin typeface="Consolas"/>
              </a:rPr>
              <a:t>}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12  </a:t>
            </a:r>
            <a:r>
              <a:rPr sz="1300">
                <a:solidFill>
                  <a:srgbClr val="6D8C97"/>
                </a:solidFill>
                <a:latin typeface="Consolas"/>
              </a:rPr>
              <a:t>.top h1 { margin: 0 0 4px; font-size: 26px; }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13  </a:t>
            </a:r>
            <a:r>
              <a:rPr sz="1300">
                <a:solidFill>
                  <a:srgbClr val="6D8C97"/>
                </a:solidFill>
                <a:latin typeface="Consolas"/>
              </a:rPr>
              <a:t>.tag { margin: 0 0 18px; color: #6b7787; font-size: 14px; }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14  </a:t>
            </a:r>
            <a:r>
              <a:rPr sz="1300">
                <a:solidFill>
                  <a:srgbClr val="6D8C97"/>
                </a:solidFill>
                <a:latin typeface="Consolas"/>
              </a:rPr>
              <a:t>.chat {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15  </a:t>
            </a:r>
            <a:r>
              <a:rPr sz="1300">
                <a:solidFill>
                  <a:srgbClr val="6D8C97"/>
                </a:solidFill>
                <a:latin typeface="Consolas"/>
              </a:rPr>
              <a:t>  min-height: 260px;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16  </a:t>
            </a:r>
            <a:r>
              <a:rPr sz="1300">
                <a:solidFill>
                  <a:srgbClr val="6D8C97"/>
                </a:solidFill>
                <a:latin typeface="Consolas"/>
              </a:rPr>
              <a:t>  padding: 12px;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17  </a:t>
            </a:r>
            <a:r>
              <a:rPr sz="1300">
                <a:solidFill>
                  <a:srgbClr val="6D8C97"/>
                </a:solidFill>
                <a:latin typeface="Consolas"/>
              </a:rPr>
              <a:t>  background: #ffffff;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18  </a:t>
            </a:r>
            <a:r>
              <a:rPr sz="1300">
                <a:solidFill>
                  <a:srgbClr val="7FE0A0"/>
                </a:solidFill>
                <a:latin typeface="Consolas"/>
              </a:rPr>
              <a:t>  border: 1px solid #dbe3ec;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23560"/>
            <a:ext cx="110642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>
                <a:solidFill>
                  <a:srgbClr val="DCECEF"/>
                </a:solidFill>
              </a:rPr>
              <a:t>A thin grey line around it.</a:t>
            </a:r>
          </a:p>
        </p:txBody>
      </p:sp>
    </p:spTree>
  </p:cSld>
  <p:clrMapOvr>
    <a:masterClrMapping/>
  </p:clrMapOvr>
</p:sld>
</file>

<file path=ppt/slides/slide8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800" b="1">
                <a:solidFill>
                  <a:srgbClr val="1F2A37"/>
                </a:solidFill>
              </a:rPr>
              <a:t>border-radius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8680" y="502920"/>
            <a:ext cx="5486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01AEFD"/>
                </a:solidFill>
              </a:rPr>
              <a:t>CSS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828800"/>
            <a:ext cx="105156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Rounds the corners. Bigger number, rounder.</a:t>
            </a:r>
          </a:p>
        </p:txBody>
      </p:sp>
    </p:spTree>
  </p:cSld>
  <p:clrMapOvr>
    <a:masterClrMapping/>
  </p:clrMapOvr>
</p:sld>
</file>

<file path=ppt/slides/slide8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365760"/>
            <a:ext cx="7315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01AEFD"/>
                </a:solidFill>
              </a:rPr>
              <a:t>ON THE PAGE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658368"/>
            <a:ext cx="10515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>
                <a:solidFill>
                  <a:srgbClr val="1F2A37"/>
                </a:solidFill>
              </a:rPr>
              <a:t>border-radius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454237" y="1641896"/>
            <a:ext cx="5249387" cy="3918021"/>
          </a:xfrm>
          <a:prstGeom prst="roundRect">
            <a:avLst/>
          </a:prstGeom>
          <a:solidFill>
            <a:srgbClr val="0F1F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3606393" y="2022287"/>
            <a:ext cx="4945075" cy="437448"/>
          </a:xfrm>
          <a:prstGeom prst="roundRect">
            <a:avLst/>
          </a:prstGeom>
          <a:solidFill>
            <a:srgbClr val="1630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3720510" y="2155423"/>
            <a:ext cx="1426463" cy="190195"/>
          </a:xfrm>
          <a:prstGeom prst="roundRect">
            <a:avLst/>
          </a:prstGeom>
          <a:solidFill>
            <a:srgbClr val="4A6B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3606393" y="2554833"/>
            <a:ext cx="4945075" cy="1730776"/>
          </a:xfrm>
          <a:prstGeom prst="roundRect">
            <a:avLst/>
          </a:prstGeom>
          <a:solidFill>
            <a:srgbClr val="0B17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3720510" y="2668950"/>
            <a:ext cx="2852927" cy="399409"/>
          </a:xfrm>
          <a:prstGeom prst="roundRect">
            <a:avLst/>
          </a:prstGeom>
          <a:solidFill>
            <a:srgbClr val="1B35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5584423" y="3182477"/>
            <a:ext cx="2852927" cy="399409"/>
          </a:xfrm>
          <a:prstGeom prst="roundRect">
            <a:avLst/>
          </a:prstGeom>
          <a:solidFill>
            <a:srgbClr val="123A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3720510" y="3696004"/>
            <a:ext cx="3138220" cy="399409"/>
          </a:xfrm>
          <a:prstGeom prst="roundRect">
            <a:avLst/>
          </a:prstGeom>
          <a:solidFill>
            <a:srgbClr val="1B35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3701491" y="4409236"/>
            <a:ext cx="1426463" cy="228234"/>
          </a:xfrm>
          <a:prstGeom prst="roundRect">
            <a:avLst/>
          </a:prstGeom>
          <a:solidFill>
            <a:srgbClr val="1630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5223052" y="4409236"/>
            <a:ext cx="1426463" cy="228234"/>
          </a:xfrm>
          <a:prstGeom prst="roundRect">
            <a:avLst/>
          </a:prstGeom>
          <a:solidFill>
            <a:srgbClr val="1630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3701491" y="4856195"/>
            <a:ext cx="3899001" cy="323331"/>
          </a:xfrm>
          <a:prstGeom prst="roundRect">
            <a:avLst/>
          </a:prstGeom>
          <a:solidFill>
            <a:srgbClr val="1630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7695590" y="4856195"/>
            <a:ext cx="779800" cy="323331"/>
          </a:xfrm>
          <a:prstGeom prst="roundRect">
            <a:avLst/>
          </a:prstGeom>
          <a:solidFill>
            <a:srgbClr val="01AE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3720510" y="5407761"/>
            <a:ext cx="1616659" cy="95097"/>
          </a:xfrm>
          <a:prstGeom prst="roundRect">
            <a:avLst/>
          </a:prstGeom>
          <a:solidFill>
            <a:srgbClr val="2A45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3682471" y="2630911"/>
            <a:ext cx="2929006" cy="475488"/>
          </a:xfrm>
          <a:prstGeom prst="roundRect">
            <a:avLst/>
          </a:prstGeom>
          <a:noFill/>
          <a:ln w="44450">
            <a:solidFill>
              <a:srgbClr val="FFD6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2960" y="617220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>
                <a:solidFill>
                  <a:srgbClr val="0A6299"/>
                </a:solidFill>
              </a:rPr>
              <a:t>border-radius rounds a bubble's corners.</a:t>
            </a:r>
          </a:p>
        </p:txBody>
      </p:sp>
    </p:spTree>
  </p:cSld>
  <p:clrMapOvr>
    <a:masterClrMapping/>
  </p:clrMapOvr>
</p:sld>
</file>

<file path=ppt/slides/slide8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1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01AEFD"/>
                </a:solidFill>
              </a:rPr>
              <a:t>Type this into style.css   -   line 19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60120"/>
            <a:ext cx="11155680" cy="4297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 7  </a:t>
            </a:r>
            <a:r>
              <a:rPr sz="1300">
                <a:solidFill>
                  <a:srgbClr val="6D8C97"/>
                </a:solidFill>
                <a:latin typeface="Consolas"/>
              </a:rPr>
              <a:t>.app {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 8  </a:t>
            </a:r>
            <a:r>
              <a:rPr sz="1300">
                <a:solidFill>
                  <a:srgbClr val="6D8C97"/>
                </a:solidFill>
                <a:latin typeface="Consolas"/>
              </a:rPr>
              <a:t>  max-width: 620px;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 9  </a:t>
            </a:r>
            <a:r>
              <a:rPr sz="1300">
                <a:solidFill>
                  <a:srgbClr val="6D8C97"/>
                </a:solidFill>
                <a:latin typeface="Consolas"/>
              </a:rPr>
              <a:t>  margin: 0 auto;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10  </a:t>
            </a:r>
            <a:r>
              <a:rPr sz="1300">
                <a:solidFill>
                  <a:srgbClr val="6D8C97"/>
                </a:solidFill>
                <a:latin typeface="Consolas"/>
              </a:rPr>
              <a:t>  padding: 20px;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11  </a:t>
            </a:r>
            <a:r>
              <a:rPr sz="1300">
                <a:solidFill>
                  <a:srgbClr val="6D8C97"/>
                </a:solidFill>
                <a:latin typeface="Consolas"/>
              </a:rPr>
              <a:t>}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12  </a:t>
            </a:r>
            <a:r>
              <a:rPr sz="1300">
                <a:solidFill>
                  <a:srgbClr val="6D8C97"/>
                </a:solidFill>
                <a:latin typeface="Consolas"/>
              </a:rPr>
              <a:t>.top h1 { margin: 0 0 4px; font-size: 26px; }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13  </a:t>
            </a:r>
            <a:r>
              <a:rPr sz="1300">
                <a:solidFill>
                  <a:srgbClr val="6D8C97"/>
                </a:solidFill>
                <a:latin typeface="Consolas"/>
              </a:rPr>
              <a:t>.tag { margin: 0 0 18px; color: #6b7787; font-size: 14px; }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14  </a:t>
            </a:r>
            <a:r>
              <a:rPr sz="1300">
                <a:solidFill>
                  <a:srgbClr val="6D8C97"/>
                </a:solidFill>
                <a:latin typeface="Consolas"/>
              </a:rPr>
              <a:t>.chat {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15  </a:t>
            </a:r>
            <a:r>
              <a:rPr sz="1300">
                <a:solidFill>
                  <a:srgbClr val="6D8C97"/>
                </a:solidFill>
                <a:latin typeface="Consolas"/>
              </a:rPr>
              <a:t>  min-height: 260px;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16  </a:t>
            </a:r>
            <a:r>
              <a:rPr sz="1300">
                <a:solidFill>
                  <a:srgbClr val="6D8C97"/>
                </a:solidFill>
                <a:latin typeface="Consolas"/>
              </a:rPr>
              <a:t>  padding: 12px;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17  </a:t>
            </a:r>
            <a:r>
              <a:rPr sz="1300">
                <a:solidFill>
                  <a:srgbClr val="6D8C97"/>
                </a:solidFill>
                <a:latin typeface="Consolas"/>
              </a:rPr>
              <a:t>  background: #ffffff;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18  </a:t>
            </a:r>
            <a:r>
              <a:rPr sz="1300">
                <a:solidFill>
                  <a:srgbClr val="6D8C97"/>
                </a:solidFill>
                <a:latin typeface="Consolas"/>
              </a:rPr>
              <a:t>  border: 1px solid #dbe3ec;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19  </a:t>
            </a:r>
            <a:r>
              <a:rPr sz="1300">
                <a:solidFill>
                  <a:srgbClr val="7FE0A0"/>
                </a:solidFill>
                <a:latin typeface="Consolas"/>
              </a:rPr>
              <a:t>  border-radius: 8px;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23560"/>
            <a:ext cx="110642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>
                <a:solidFill>
                  <a:srgbClr val="DCECEF"/>
                </a:solidFill>
              </a:rPr>
              <a:t>Rounds the corners a little.</a:t>
            </a:r>
          </a:p>
        </p:txBody>
      </p:sp>
    </p:spTree>
  </p:cSld>
  <p:clrMapOvr>
    <a:masterClrMapping/>
  </p:clrMapOvr>
</p:sld>
</file>

<file path=ppt/slides/slide9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1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01AEFD"/>
                </a:solidFill>
              </a:rPr>
              <a:t>Type this into style.css   -   line 20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60120"/>
            <a:ext cx="11155680" cy="4297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 7  </a:t>
            </a:r>
            <a:r>
              <a:rPr sz="1300">
                <a:solidFill>
                  <a:srgbClr val="6D8C97"/>
                </a:solidFill>
                <a:latin typeface="Consolas"/>
              </a:rPr>
              <a:t>.app {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 8  </a:t>
            </a:r>
            <a:r>
              <a:rPr sz="1300">
                <a:solidFill>
                  <a:srgbClr val="6D8C97"/>
                </a:solidFill>
                <a:latin typeface="Consolas"/>
              </a:rPr>
              <a:t>  max-width: 620px;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 9  </a:t>
            </a:r>
            <a:r>
              <a:rPr sz="1300">
                <a:solidFill>
                  <a:srgbClr val="6D8C97"/>
                </a:solidFill>
                <a:latin typeface="Consolas"/>
              </a:rPr>
              <a:t>  margin: 0 auto;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10  </a:t>
            </a:r>
            <a:r>
              <a:rPr sz="1300">
                <a:solidFill>
                  <a:srgbClr val="6D8C97"/>
                </a:solidFill>
                <a:latin typeface="Consolas"/>
              </a:rPr>
              <a:t>  padding: 20px;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11  </a:t>
            </a:r>
            <a:r>
              <a:rPr sz="1300">
                <a:solidFill>
                  <a:srgbClr val="6D8C97"/>
                </a:solidFill>
                <a:latin typeface="Consolas"/>
              </a:rPr>
              <a:t>}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12  </a:t>
            </a:r>
            <a:r>
              <a:rPr sz="1300">
                <a:solidFill>
                  <a:srgbClr val="6D8C97"/>
                </a:solidFill>
                <a:latin typeface="Consolas"/>
              </a:rPr>
              <a:t>.top h1 { margin: 0 0 4px; font-size: 26px; }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13  </a:t>
            </a:r>
            <a:r>
              <a:rPr sz="1300">
                <a:solidFill>
                  <a:srgbClr val="6D8C97"/>
                </a:solidFill>
                <a:latin typeface="Consolas"/>
              </a:rPr>
              <a:t>.tag { margin: 0 0 18px; color: #6b7787; font-size: 14px; }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14  </a:t>
            </a:r>
            <a:r>
              <a:rPr sz="1300">
                <a:solidFill>
                  <a:srgbClr val="6D8C97"/>
                </a:solidFill>
                <a:latin typeface="Consolas"/>
              </a:rPr>
              <a:t>.chat {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15  </a:t>
            </a:r>
            <a:r>
              <a:rPr sz="1300">
                <a:solidFill>
                  <a:srgbClr val="6D8C97"/>
                </a:solidFill>
                <a:latin typeface="Consolas"/>
              </a:rPr>
              <a:t>  min-height: 260px;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16  </a:t>
            </a:r>
            <a:r>
              <a:rPr sz="1300">
                <a:solidFill>
                  <a:srgbClr val="6D8C97"/>
                </a:solidFill>
                <a:latin typeface="Consolas"/>
              </a:rPr>
              <a:t>  padding: 12px;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17  </a:t>
            </a:r>
            <a:r>
              <a:rPr sz="1300">
                <a:solidFill>
                  <a:srgbClr val="6D8C97"/>
                </a:solidFill>
                <a:latin typeface="Consolas"/>
              </a:rPr>
              <a:t>  background: #ffffff;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18  </a:t>
            </a:r>
            <a:r>
              <a:rPr sz="1300">
                <a:solidFill>
                  <a:srgbClr val="6D8C97"/>
                </a:solidFill>
                <a:latin typeface="Consolas"/>
              </a:rPr>
              <a:t>  border: 1px solid #dbe3ec;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19  </a:t>
            </a:r>
            <a:r>
              <a:rPr sz="1300">
                <a:solidFill>
                  <a:srgbClr val="6D8C97"/>
                </a:solidFill>
                <a:latin typeface="Consolas"/>
              </a:rPr>
              <a:t>  border-radius: 8px;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20  </a:t>
            </a:r>
            <a:r>
              <a:rPr sz="1300">
                <a:solidFill>
                  <a:srgbClr val="7FE0A0"/>
                </a:solidFill>
                <a:latin typeface="Consolas"/>
              </a:rPr>
              <a:t>}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23560"/>
            <a:ext cx="110642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>
                <a:solidFill>
                  <a:srgbClr val="DCECEF"/>
                </a:solidFill>
              </a:rPr>
              <a:t>Closes the .chat rule.</a:t>
            </a:r>
          </a:p>
        </p:txBody>
      </p:sp>
    </p:spTree>
  </p:cSld>
  <p:clrMapOvr>
    <a:masterClrMapping/>
  </p:clrMapOvr>
</p:sld>
</file>

<file path=ppt/slides/slide9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1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01AEFD"/>
                </a:solidFill>
              </a:rPr>
              <a:t>All together in style.css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60120"/>
            <a:ext cx="11155680" cy="4297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 7  </a:t>
            </a:r>
            <a:r>
              <a:rPr sz="1300">
                <a:solidFill>
                  <a:srgbClr val="7FE0A0"/>
                </a:solidFill>
                <a:latin typeface="Consolas"/>
              </a:rPr>
              <a:t>.app {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 8  </a:t>
            </a:r>
            <a:r>
              <a:rPr sz="1300">
                <a:solidFill>
                  <a:srgbClr val="7FE0A0"/>
                </a:solidFill>
                <a:latin typeface="Consolas"/>
              </a:rPr>
              <a:t>  max-width: 620px;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 9  </a:t>
            </a:r>
            <a:r>
              <a:rPr sz="1300">
                <a:solidFill>
                  <a:srgbClr val="7FE0A0"/>
                </a:solidFill>
                <a:latin typeface="Consolas"/>
              </a:rPr>
              <a:t>  margin: 0 auto;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10  </a:t>
            </a:r>
            <a:r>
              <a:rPr sz="1300">
                <a:solidFill>
                  <a:srgbClr val="7FE0A0"/>
                </a:solidFill>
                <a:latin typeface="Consolas"/>
              </a:rPr>
              <a:t>  padding: 20px;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11  </a:t>
            </a:r>
            <a:r>
              <a:rPr sz="1300">
                <a:solidFill>
                  <a:srgbClr val="7FE0A0"/>
                </a:solidFill>
                <a:latin typeface="Consolas"/>
              </a:rPr>
              <a:t>}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12  </a:t>
            </a:r>
            <a:r>
              <a:rPr sz="1300">
                <a:solidFill>
                  <a:srgbClr val="7FE0A0"/>
                </a:solidFill>
                <a:latin typeface="Consolas"/>
              </a:rPr>
              <a:t>.top h1 { margin: 0 0 4px; font-size: 26px; }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13  </a:t>
            </a:r>
            <a:r>
              <a:rPr sz="1300">
                <a:solidFill>
                  <a:srgbClr val="7FE0A0"/>
                </a:solidFill>
                <a:latin typeface="Consolas"/>
              </a:rPr>
              <a:t>.tag { margin: 0 0 18px; color: #6b7787; font-size: 14px; }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14  </a:t>
            </a:r>
            <a:r>
              <a:rPr sz="1300">
                <a:solidFill>
                  <a:srgbClr val="7FE0A0"/>
                </a:solidFill>
                <a:latin typeface="Consolas"/>
              </a:rPr>
              <a:t>.chat {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15  </a:t>
            </a:r>
            <a:r>
              <a:rPr sz="1300">
                <a:solidFill>
                  <a:srgbClr val="7FE0A0"/>
                </a:solidFill>
                <a:latin typeface="Consolas"/>
              </a:rPr>
              <a:t>  min-height: 260px;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16  </a:t>
            </a:r>
            <a:r>
              <a:rPr sz="1300">
                <a:solidFill>
                  <a:srgbClr val="7FE0A0"/>
                </a:solidFill>
                <a:latin typeface="Consolas"/>
              </a:rPr>
              <a:t>  padding: 12px;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17  </a:t>
            </a:r>
            <a:r>
              <a:rPr sz="1300">
                <a:solidFill>
                  <a:srgbClr val="7FE0A0"/>
                </a:solidFill>
                <a:latin typeface="Consolas"/>
              </a:rPr>
              <a:t>  background: #ffffff;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18  </a:t>
            </a:r>
            <a:r>
              <a:rPr sz="1300">
                <a:solidFill>
                  <a:srgbClr val="7FE0A0"/>
                </a:solidFill>
                <a:latin typeface="Consolas"/>
              </a:rPr>
              <a:t>  border: 1px solid #dbe3ec;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19  </a:t>
            </a:r>
            <a:r>
              <a:rPr sz="1300">
                <a:solidFill>
                  <a:srgbClr val="7FE0A0"/>
                </a:solidFill>
                <a:latin typeface="Consolas"/>
              </a:rPr>
              <a:t>  border-radius: 8px;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20  </a:t>
            </a:r>
            <a:r>
              <a:rPr sz="1300">
                <a:solidFill>
                  <a:srgbClr val="7FE0A0"/>
                </a:solidFill>
                <a:latin typeface="Consolas"/>
              </a:rPr>
              <a:t>}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23560"/>
            <a:ext cx="110642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>
                <a:solidFill>
                  <a:srgbClr val="DCECEF"/>
                </a:solidFill>
              </a:rPr>
              <a:t>That is the whole piece. Check yours looks the same before moving on.</a:t>
            </a:r>
          </a:p>
        </p:txBody>
      </p:sp>
    </p:spTree>
  </p:cSld>
  <p:clrMapOvr>
    <a:masterClrMapping/>
  </p:clrMapOvr>
</p:sld>
</file>

<file path=ppt/slides/slide9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800" b="1">
                <a:solidFill>
                  <a:srgbClr val="1F2A37"/>
                </a:solidFill>
              </a:rPr>
              <a:t>display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8680" y="502920"/>
            <a:ext cx="5486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01AEFD"/>
                </a:solidFill>
              </a:rPr>
              <a:t>CSS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828800"/>
            <a:ext cx="105156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Lays a box's children in a ROW instead of stacking them.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Perfect for the text box and Send button side by side.</a:t>
            </a:r>
          </a:p>
        </p:txBody>
      </p:sp>
    </p:spTree>
  </p:cSld>
  <p:clrMapOvr>
    <a:masterClrMapping/>
  </p:clrMapOvr>
</p:sld>
</file>

<file path=ppt/slides/slide9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365760"/>
            <a:ext cx="7315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01AEFD"/>
                </a:solidFill>
              </a:rPr>
              <a:t>ON THE PAGE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658368"/>
            <a:ext cx="10515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>
                <a:solidFill>
                  <a:srgbClr val="1F2A37"/>
                </a:solidFill>
              </a:rPr>
              <a:t>display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454237" y="1641896"/>
            <a:ext cx="5249387" cy="3918021"/>
          </a:xfrm>
          <a:prstGeom prst="roundRect">
            <a:avLst/>
          </a:prstGeom>
          <a:solidFill>
            <a:srgbClr val="0F1F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3606393" y="2022287"/>
            <a:ext cx="4945075" cy="437448"/>
          </a:xfrm>
          <a:prstGeom prst="roundRect">
            <a:avLst/>
          </a:prstGeom>
          <a:solidFill>
            <a:srgbClr val="1630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3720510" y="2155423"/>
            <a:ext cx="1426463" cy="190195"/>
          </a:xfrm>
          <a:prstGeom prst="roundRect">
            <a:avLst/>
          </a:prstGeom>
          <a:solidFill>
            <a:srgbClr val="4A6B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3606393" y="2554833"/>
            <a:ext cx="4945075" cy="1730776"/>
          </a:xfrm>
          <a:prstGeom prst="roundRect">
            <a:avLst/>
          </a:prstGeom>
          <a:solidFill>
            <a:srgbClr val="0B17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3720510" y="2668950"/>
            <a:ext cx="2852927" cy="399409"/>
          </a:xfrm>
          <a:prstGeom prst="roundRect">
            <a:avLst/>
          </a:prstGeom>
          <a:solidFill>
            <a:srgbClr val="1B35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5584423" y="3182477"/>
            <a:ext cx="2852927" cy="399409"/>
          </a:xfrm>
          <a:prstGeom prst="roundRect">
            <a:avLst/>
          </a:prstGeom>
          <a:solidFill>
            <a:srgbClr val="123A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3720510" y="3696004"/>
            <a:ext cx="3138220" cy="399409"/>
          </a:xfrm>
          <a:prstGeom prst="roundRect">
            <a:avLst/>
          </a:prstGeom>
          <a:solidFill>
            <a:srgbClr val="1B35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3701491" y="4409236"/>
            <a:ext cx="1426463" cy="228234"/>
          </a:xfrm>
          <a:prstGeom prst="roundRect">
            <a:avLst/>
          </a:prstGeom>
          <a:solidFill>
            <a:srgbClr val="1630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5223052" y="4409236"/>
            <a:ext cx="1426463" cy="228234"/>
          </a:xfrm>
          <a:prstGeom prst="roundRect">
            <a:avLst/>
          </a:prstGeom>
          <a:solidFill>
            <a:srgbClr val="1630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3701491" y="4856195"/>
            <a:ext cx="3899001" cy="323331"/>
          </a:xfrm>
          <a:prstGeom prst="roundRect">
            <a:avLst/>
          </a:prstGeom>
          <a:solidFill>
            <a:srgbClr val="1630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7695590" y="4856195"/>
            <a:ext cx="779800" cy="323331"/>
          </a:xfrm>
          <a:prstGeom prst="roundRect">
            <a:avLst/>
          </a:prstGeom>
          <a:solidFill>
            <a:srgbClr val="01AE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3720510" y="5407761"/>
            <a:ext cx="1616659" cy="95097"/>
          </a:xfrm>
          <a:prstGeom prst="roundRect">
            <a:avLst/>
          </a:prstGeom>
          <a:solidFill>
            <a:srgbClr val="2A45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3568354" y="4742078"/>
            <a:ext cx="5021153" cy="551566"/>
          </a:xfrm>
          <a:prstGeom prst="roundRect">
            <a:avLst/>
          </a:prstGeom>
          <a:noFill/>
          <a:ln w="44450">
            <a:solidFill>
              <a:srgbClr val="FFD6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2960" y="617220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>
                <a:solidFill>
                  <a:srgbClr val="0A6299"/>
                </a:solidFill>
              </a:rPr>
              <a:t>display: flex lines the box and button up in a row.</a:t>
            </a:r>
          </a:p>
        </p:txBody>
      </p:sp>
    </p:spTree>
  </p:cSld>
  <p:clrMapOvr>
    <a:masterClrMapping/>
  </p:clrMapOvr>
</p:sld>
</file>

<file path=ppt/slides/slide9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800" b="1">
                <a:solidFill>
                  <a:srgbClr val="1F2A37"/>
                </a:solidFill>
              </a:rPr>
              <a:t>gap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8680" y="502920"/>
            <a:ext cx="5486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01AEFD"/>
                </a:solidFill>
              </a:rPr>
              <a:t>CSS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828800"/>
            <a:ext cx="105156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The space between children in a flex row.</a:t>
            </a:r>
          </a:p>
        </p:txBody>
      </p:sp>
    </p:spTree>
  </p:cSld>
  <p:clrMapOvr>
    <a:masterClrMapping/>
  </p:clrMapOvr>
</p:sld>
</file>

<file path=ppt/slides/slide9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365760"/>
            <a:ext cx="7315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01AEFD"/>
                </a:solidFill>
              </a:rPr>
              <a:t>ON THE PAGE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658368"/>
            <a:ext cx="10515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>
                <a:solidFill>
                  <a:srgbClr val="1F2A37"/>
                </a:solidFill>
              </a:rPr>
              <a:t>gap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454237" y="1641896"/>
            <a:ext cx="5249387" cy="3918021"/>
          </a:xfrm>
          <a:prstGeom prst="roundRect">
            <a:avLst/>
          </a:prstGeom>
          <a:solidFill>
            <a:srgbClr val="0F1F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3606393" y="2022287"/>
            <a:ext cx="4945075" cy="437448"/>
          </a:xfrm>
          <a:prstGeom prst="roundRect">
            <a:avLst/>
          </a:prstGeom>
          <a:solidFill>
            <a:srgbClr val="1630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3720510" y="2155423"/>
            <a:ext cx="1426463" cy="190195"/>
          </a:xfrm>
          <a:prstGeom prst="roundRect">
            <a:avLst/>
          </a:prstGeom>
          <a:solidFill>
            <a:srgbClr val="4A6B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3606393" y="2554833"/>
            <a:ext cx="4945075" cy="1730776"/>
          </a:xfrm>
          <a:prstGeom prst="roundRect">
            <a:avLst/>
          </a:prstGeom>
          <a:solidFill>
            <a:srgbClr val="0B17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3720510" y="2668950"/>
            <a:ext cx="2852927" cy="399409"/>
          </a:xfrm>
          <a:prstGeom prst="roundRect">
            <a:avLst/>
          </a:prstGeom>
          <a:solidFill>
            <a:srgbClr val="1B35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5584423" y="3182477"/>
            <a:ext cx="2852927" cy="399409"/>
          </a:xfrm>
          <a:prstGeom prst="roundRect">
            <a:avLst/>
          </a:prstGeom>
          <a:solidFill>
            <a:srgbClr val="123A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3720510" y="3696004"/>
            <a:ext cx="3138220" cy="399409"/>
          </a:xfrm>
          <a:prstGeom prst="roundRect">
            <a:avLst/>
          </a:prstGeom>
          <a:solidFill>
            <a:srgbClr val="1B35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3701491" y="4409236"/>
            <a:ext cx="1426463" cy="228234"/>
          </a:xfrm>
          <a:prstGeom prst="roundRect">
            <a:avLst/>
          </a:prstGeom>
          <a:solidFill>
            <a:srgbClr val="1630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5223052" y="4409236"/>
            <a:ext cx="1426463" cy="228234"/>
          </a:xfrm>
          <a:prstGeom prst="roundRect">
            <a:avLst/>
          </a:prstGeom>
          <a:solidFill>
            <a:srgbClr val="1630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3701491" y="4856195"/>
            <a:ext cx="3899001" cy="323331"/>
          </a:xfrm>
          <a:prstGeom prst="roundRect">
            <a:avLst/>
          </a:prstGeom>
          <a:solidFill>
            <a:srgbClr val="1630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7695590" y="4856195"/>
            <a:ext cx="779800" cy="323331"/>
          </a:xfrm>
          <a:prstGeom prst="roundRect">
            <a:avLst/>
          </a:prstGeom>
          <a:solidFill>
            <a:srgbClr val="01AE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3720510" y="5407761"/>
            <a:ext cx="1616659" cy="95097"/>
          </a:xfrm>
          <a:prstGeom prst="roundRect">
            <a:avLst/>
          </a:prstGeom>
          <a:solidFill>
            <a:srgbClr val="2A45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3568354" y="4742078"/>
            <a:ext cx="5021153" cy="551566"/>
          </a:xfrm>
          <a:prstGeom prst="roundRect">
            <a:avLst/>
          </a:prstGeom>
          <a:noFill/>
          <a:ln w="44450">
            <a:solidFill>
              <a:srgbClr val="FFD6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2960" y="617220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>
                <a:solidFill>
                  <a:srgbClr val="0A6299"/>
                </a:solidFill>
              </a:rPr>
              <a:t>gap is the even space between the box and the button.</a:t>
            </a:r>
          </a:p>
        </p:txBody>
      </p:sp>
    </p:spTree>
  </p:cSld>
  <p:clrMapOvr>
    <a:masterClrMapping/>
  </p:clrMapOvr>
</p:sld>
</file>

<file path=ppt/slides/slide9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800" b="1">
                <a:solidFill>
                  <a:srgbClr val="1F2A37"/>
                </a:solidFill>
              </a:rPr>
              <a:t>margin-top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8680" y="502920"/>
            <a:ext cx="5486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01AEFD"/>
                </a:solidFill>
              </a:rPr>
              <a:t>CSS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828800"/>
            <a:ext cx="105156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Space above the box, pushing it down from what is above it.</a:t>
            </a:r>
          </a:p>
        </p:txBody>
      </p:sp>
    </p:spTree>
  </p:cSld>
  <p:clrMapOvr>
    <a:masterClrMapping/>
  </p:clrMapOvr>
</p:sld>
</file>

<file path=ppt/slides/slide9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365760"/>
            <a:ext cx="7315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01AEFD"/>
                </a:solidFill>
              </a:rPr>
              <a:t>ON THE PAGE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658368"/>
            <a:ext cx="10515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>
                <a:solidFill>
                  <a:srgbClr val="1F2A37"/>
                </a:solidFill>
              </a:rPr>
              <a:t>margin-top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454237" y="1641896"/>
            <a:ext cx="5249387" cy="3918021"/>
          </a:xfrm>
          <a:prstGeom prst="roundRect">
            <a:avLst/>
          </a:prstGeom>
          <a:solidFill>
            <a:srgbClr val="0F1F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3606393" y="2022287"/>
            <a:ext cx="4945075" cy="437448"/>
          </a:xfrm>
          <a:prstGeom prst="roundRect">
            <a:avLst/>
          </a:prstGeom>
          <a:solidFill>
            <a:srgbClr val="1630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3720510" y="2155423"/>
            <a:ext cx="1426463" cy="190195"/>
          </a:xfrm>
          <a:prstGeom prst="roundRect">
            <a:avLst/>
          </a:prstGeom>
          <a:solidFill>
            <a:srgbClr val="4A6B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3606393" y="2554833"/>
            <a:ext cx="4945075" cy="1730776"/>
          </a:xfrm>
          <a:prstGeom prst="roundRect">
            <a:avLst/>
          </a:prstGeom>
          <a:solidFill>
            <a:srgbClr val="0B17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3720510" y="2668950"/>
            <a:ext cx="2852927" cy="399409"/>
          </a:xfrm>
          <a:prstGeom prst="roundRect">
            <a:avLst/>
          </a:prstGeom>
          <a:solidFill>
            <a:srgbClr val="1B35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5584423" y="3182477"/>
            <a:ext cx="2852927" cy="399409"/>
          </a:xfrm>
          <a:prstGeom prst="roundRect">
            <a:avLst/>
          </a:prstGeom>
          <a:solidFill>
            <a:srgbClr val="123A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3720510" y="3696004"/>
            <a:ext cx="3138220" cy="399409"/>
          </a:xfrm>
          <a:prstGeom prst="roundRect">
            <a:avLst/>
          </a:prstGeom>
          <a:solidFill>
            <a:srgbClr val="1B35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3701491" y="4409236"/>
            <a:ext cx="1426463" cy="228234"/>
          </a:xfrm>
          <a:prstGeom prst="roundRect">
            <a:avLst/>
          </a:prstGeom>
          <a:solidFill>
            <a:srgbClr val="1630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5223052" y="4409236"/>
            <a:ext cx="1426463" cy="228234"/>
          </a:xfrm>
          <a:prstGeom prst="roundRect">
            <a:avLst/>
          </a:prstGeom>
          <a:solidFill>
            <a:srgbClr val="1630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3701491" y="4856195"/>
            <a:ext cx="3899001" cy="323331"/>
          </a:xfrm>
          <a:prstGeom prst="roundRect">
            <a:avLst/>
          </a:prstGeom>
          <a:solidFill>
            <a:srgbClr val="1630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7695590" y="4856195"/>
            <a:ext cx="779800" cy="323331"/>
          </a:xfrm>
          <a:prstGeom prst="roundRect">
            <a:avLst/>
          </a:prstGeom>
          <a:solidFill>
            <a:srgbClr val="01AE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3720510" y="5407761"/>
            <a:ext cx="1616659" cy="95097"/>
          </a:xfrm>
          <a:prstGeom prst="roundRect">
            <a:avLst/>
          </a:prstGeom>
          <a:solidFill>
            <a:srgbClr val="2A45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3682471" y="2630911"/>
            <a:ext cx="2929006" cy="475488"/>
          </a:xfrm>
          <a:prstGeom prst="roundRect">
            <a:avLst/>
          </a:prstGeom>
          <a:noFill/>
          <a:ln w="44450">
            <a:solidFill>
              <a:srgbClr val="FFD6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2960" y="617220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>
                <a:solidFill>
                  <a:srgbClr val="0A6299"/>
                </a:solidFill>
              </a:rPr>
              <a:t>margin-top spaces a bubble from the one above.</a:t>
            </a:r>
          </a:p>
        </p:txBody>
      </p:sp>
    </p:spTree>
  </p:cSld>
  <p:clrMapOvr>
    <a:masterClrMapping/>
  </p:clrMapOvr>
</p:sld>
</file>

<file path=ppt/slides/slide9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1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01AEFD"/>
                </a:solidFill>
              </a:rPr>
              <a:t>Type this into style.css   -   line 21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60120"/>
            <a:ext cx="11155680" cy="4297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21  </a:t>
            </a:r>
            <a:r>
              <a:rPr sz="1800">
                <a:solidFill>
                  <a:srgbClr val="7FE0A0"/>
                </a:solidFill>
                <a:latin typeface="Consolas"/>
              </a:rPr>
              <a:t>.composer { display: flex; gap: 8px; margin-top: 12px; }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23560"/>
            <a:ext cx="110642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>
                <a:solidFill>
                  <a:srgbClr val="DCECEF"/>
                </a:solidFill>
              </a:rPr>
              <a:t>Lays the form's children in a row with a small gap and a little space above. display: flex is the key part.</a:t>
            </a:r>
          </a:p>
        </p:txBody>
      </p:sp>
    </p:spTree>
  </p:cSld>
  <p:clrMapOvr>
    <a:masterClrMapping/>
  </p:clrMapOvr>
</p:sld>
</file>

<file path=ppt/slides/slide9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1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01AEFD"/>
                </a:solidFill>
              </a:rPr>
              <a:t>Type this into style.css   -   line 22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60120"/>
            <a:ext cx="11155680" cy="4297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21  </a:t>
            </a:r>
            <a:r>
              <a:rPr sz="1800">
                <a:solidFill>
                  <a:srgbClr val="6D8C97"/>
                </a:solidFill>
                <a:latin typeface="Consolas"/>
              </a:rPr>
              <a:t>.composer { display: flex; gap: 8px; margin-top: 12px; }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22  </a:t>
            </a:r>
            <a:r>
              <a:rPr sz="1800">
                <a:solidFill>
                  <a:srgbClr val="7FE0A0"/>
                </a:solidFill>
                <a:latin typeface="Consolas"/>
              </a:rPr>
              <a:t>.composer input {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23560"/>
            <a:ext cx="110642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>
                <a:solidFill>
                  <a:srgbClr val="DCECEF"/>
                </a:solidFill>
              </a:rPr>
              <a:t>Starts a rule for the input inside .composer.</a:t>
            </a:r>
          </a:p>
        </p:txBody>
      </p:sp>
    </p:spTree>
  </p:cSld>
  <p:clrMapOvr>
    <a:masterClrMapping/>
  </p:clrMapOvr>
</p:sld>
</file>

<file path=ppt/slides/slide10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800" b="1">
                <a:solidFill>
                  <a:srgbClr val="1F2A37"/>
                </a:solidFill>
              </a:rPr>
              <a:t>flex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8680" y="502920"/>
            <a:ext cx="5486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01AEFD"/>
                </a:solidFill>
              </a:rPr>
              <a:t>CSS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828800"/>
            <a:ext cx="105156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Tells one flex child to stretch and fill the leftover space.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The text box grows; the button stays its own size.</a:t>
            </a:r>
          </a:p>
        </p:txBody>
      </p:sp>
    </p:spTree>
  </p:cSld>
  <p:clrMapOvr>
    <a:masterClrMapping/>
  </p:clrMapOvr>
</p:sld>
</file>

<file path=ppt/slides/slide10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365760"/>
            <a:ext cx="7315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01AEFD"/>
                </a:solidFill>
              </a:rPr>
              <a:t>ON THE PAGE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658368"/>
            <a:ext cx="10515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>
                <a:solidFill>
                  <a:srgbClr val="1F2A37"/>
                </a:solidFill>
              </a:rPr>
              <a:t>flex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454237" y="1641896"/>
            <a:ext cx="5249387" cy="3918021"/>
          </a:xfrm>
          <a:prstGeom prst="roundRect">
            <a:avLst/>
          </a:prstGeom>
          <a:solidFill>
            <a:srgbClr val="0F1F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3606393" y="2022287"/>
            <a:ext cx="4945075" cy="437448"/>
          </a:xfrm>
          <a:prstGeom prst="roundRect">
            <a:avLst/>
          </a:prstGeom>
          <a:solidFill>
            <a:srgbClr val="1630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3720510" y="2155423"/>
            <a:ext cx="1426463" cy="190195"/>
          </a:xfrm>
          <a:prstGeom prst="roundRect">
            <a:avLst/>
          </a:prstGeom>
          <a:solidFill>
            <a:srgbClr val="4A6B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3606393" y="2554833"/>
            <a:ext cx="4945075" cy="1730776"/>
          </a:xfrm>
          <a:prstGeom prst="roundRect">
            <a:avLst/>
          </a:prstGeom>
          <a:solidFill>
            <a:srgbClr val="0B17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3720510" y="2668950"/>
            <a:ext cx="2852927" cy="399409"/>
          </a:xfrm>
          <a:prstGeom prst="roundRect">
            <a:avLst/>
          </a:prstGeom>
          <a:solidFill>
            <a:srgbClr val="1B35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5584423" y="3182477"/>
            <a:ext cx="2852927" cy="399409"/>
          </a:xfrm>
          <a:prstGeom prst="roundRect">
            <a:avLst/>
          </a:prstGeom>
          <a:solidFill>
            <a:srgbClr val="123A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3720510" y="3696004"/>
            <a:ext cx="3138220" cy="399409"/>
          </a:xfrm>
          <a:prstGeom prst="roundRect">
            <a:avLst/>
          </a:prstGeom>
          <a:solidFill>
            <a:srgbClr val="1B35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3701491" y="4409236"/>
            <a:ext cx="1426463" cy="228234"/>
          </a:xfrm>
          <a:prstGeom prst="roundRect">
            <a:avLst/>
          </a:prstGeom>
          <a:solidFill>
            <a:srgbClr val="1630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5223052" y="4409236"/>
            <a:ext cx="1426463" cy="228234"/>
          </a:xfrm>
          <a:prstGeom prst="roundRect">
            <a:avLst/>
          </a:prstGeom>
          <a:solidFill>
            <a:srgbClr val="1630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3701491" y="4856195"/>
            <a:ext cx="3899001" cy="323331"/>
          </a:xfrm>
          <a:prstGeom prst="roundRect">
            <a:avLst/>
          </a:prstGeom>
          <a:solidFill>
            <a:srgbClr val="1630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7695590" y="4856195"/>
            <a:ext cx="779800" cy="323331"/>
          </a:xfrm>
          <a:prstGeom prst="roundRect">
            <a:avLst/>
          </a:prstGeom>
          <a:solidFill>
            <a:srgbClr val="01AE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3720510" y="5407761"/>
            <a:ext cx="1616659" cy="95097"/>
          </a:xfrm>
          <a:prstGeom prst="roundRect">
            <a:avLst/>
          </a:prstGeom>
          <a:solidFill>
            <a:srgbClr val="2A45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3663452" y="4818156"/>
            <a:ext cx="3975079" cy="399409"/>
          </a:xfrm>
          <a:prstGeom prst="roundRect">
            <a:avLst/>
          </a:prstGeom>
          <a:noFill/>
          <a:ln w="44450">
            <a:solidFill>
              <a:srgbClr val="FFD6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2960" y="617220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>
                <a:solidFill>
                  <a:srgbClr val="0A6299"/>
                </a:solidFill>
              </a:rPr>
              <a:t>flex: 1 lets the message box stretch to fill the row.</a:t>
            </a:r>
          </a:p>
        </p:txBody>
      </p:sp>
    </p:spTree>
  </p:cSld>
  <p:clrMapOvr>
    <a:masterClrMapping/>
  </p:clrMapOvr>
</p:sld>
</file>

<file path=ppt/slides/slide10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1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01AEFD"/>
                </a:solidFill>
              </a:rPr>
              <a:t>Type this into style.css   -   line 23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60120"/>
            <a:ext cx="11155680" cy="4297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21  </a:t>
            </a:r>
            <a:r>
              <a:rPr sz="1800">
                <a:solidFill>
                  <a:srgbClr val="6D8C97"/>
                </a:solidFill>
                <a:latin typeface="Consolas"/>
              </a:rPr>
              <a:t>.composer { display: flex; gap: 8px; margin-top: 12px; }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22  </a:t>
            </a:r>
            <a:r>
              <a:rPr sz="1800">
                <a:solidFill>
                  <a:srgbClr val="6D8C97"/>
                </a:solidFill>
                <a:latin typeface="Consolas"/>
              </a:rPr>
              <a:t>.composer input {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23  </a:t>
            </a:r>
            <a:r>
              <a:rPr sz="1800">
                <a:solidFill>
                  <a:srgbClr val="7FE0A0"/>
                </a:solidFill>
                <a:latin typeface="Consolas"/>
              </a:rPr>
              <a:t>  flex: 1;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23560"/>
            <a:ext cx="110642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>
                <a:solidFill>
                  <a:srgbClr val="DCECEF"/>
                </a:solidFill>
              </a:rPr>
              <a:t>flex: 1 makes the text box stretch to fill the space the button leaves.</a:t>
            </a:r>
          </a:p>
        </p:txBody>
      </p:sp>
    </p:spTree>
  </p:cSld>
  <p:clrMapOvr>
    <a:masterClrMapping/>
  </p:clrMapOvr>
</p:sld>
</file>

<file path=ppt/slides/slide10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1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01AEFD"/>
                </a:solidFill>
              </a:rPr>
              <a:t>Type this into style.css   -   line 24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60120"/>
            <a:ext cx="11155680" cy="4297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21  </a:t>
            </a:r>
            <a:r>
              <a:rPr sz="1800">
                <a:solidFill>
                  <a:srgbClr val="6D8C97"/>
                </a:solidFill>
                <a:latin typeface="Consolas"/>
              </a:rPr>
              <a:t>.composer { display: flex; gap: 8px; margin-top: 12px; }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22  </a:t>
            </a:r>
            <a:r>
              <a:rPr sz="1800">
                <a:solidFill>
                  <a:srgbClr val="6D8C97"/>
                </a:solidFill>
                <a:latin typeface="Consolas"/>
              </a:rPr>
              <a:t>.composer input {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23  </a:t>
            </a:r>
            <a:r>
              <a:rPr sz="1800">
                <a:solidFill>
                  <a:srgbClr val="6D8C97"/>
                </a:solidFill>
                <a:latin typeface="Consolas"/>
              </a:rPr>
              <a:t>  flex: 1;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24  </a:t>
            </a:r>
            <a:r>
              <a:rPr sz="1800">
                <a:solidFill>
                  <a:srgbClr val="7FE0A0"/>
                </a:solidFill>
                <a:latin typeface="Consolas"/>
              </a:rPr>
              <a:t>  padding: 11px;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23560"/>
            <a:ext cx="110642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>
                <a:solidFill>
                  <a:srgbClr val="DCECEF"/>
                </a:solidFill>
              </a:rPr>
              <a:t>Space inside the text box.</a:t>
            </a:r>
          </a:p>
        </p:txBody>
      </p:sp>
    </p:spTree>
  </p:cSld>
  <p:clrMapOvr>
    <a:masterClrMapping/>
  </p:clrMapOvr>
</p:sld>
</file>

<file path=ppt/slides/slide10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1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01AEFD"/>
                </a:solidFill>
              </a:rPr>
              <a:t>Type this into style.css   -   line 25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60120"/>
            <a:ext cx="11155680" cy="4297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21  </a:t>
            </a:r>
            <a:r>
              <a:rPr sz="1800">
                <a:solidFill>
                  <a:srgbClr val="6D8C97"/>
                </a:solidFill>
                <a:latin typeface="Consolas"/>
              </a:rPr>
              <a:t>.composer { display: flex; gap: 8px; margin-top: 12px; }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22  </a:t>
            </a:r>
            <a:r>
              <a:rPr sz="1800">
                <a:solidFill>
                  <a:srgbClr val="6D8C97"/>
                </a:solidFill>
                <a:latin typeface="Consolas"/>
              </a:rPr>
              <a:t>.composer input {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23  </a:t>
            </a:r>
            <a:r>
              <a:rPr sz="1800">
                <a:solidFill>
                  <a:srgbClr val="6D8C97"/>
                </a:solidFill>
                <a:latin typeface="Consolas"/>
              </a:rPr>
              <a:t>  flex: 1;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24  </a:t>
            </a:r>
            <a:r>
              <a:rPr sz="1800">
                <a:solidFill>
                  <a:srgbClr val="6D8C97"/>
                </a:solidFill>
                <a:latin typeface="Consolas"/>
              </a:rPr>
              <a:t>  padding: 11px;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25  </a:t>
            </a:r>
            <a:r>
              <a:rPr sz="1800">
                <a:solidFill>
                  <a:srgbClr val="7FE0A0"/>
                </a:solidFill>
                <a:latin typeface="Consolas"/>
              </a:rPr>
              <a:t>  border: 1px solid #dbe3ec;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23560"/>
            <a:ext cx="110642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>
                <a:solidFill>
                  <a:srgbClr val="DCECEF"/>
                </a:solidFill>
              </a:rPr>
              <a:t>A thin grey border to match the chat box.</a:t>
            </a:r>
          </a:p>
        </p:txBody>
      </p:sp>
    </p:spTree>
  </p:cSld>
  <p:clrMapOvr>
    <a:masterClrMapping/>
  </p:clrMapOvr>
</p:sld>
</file>

<file path=ppt/slides/slide10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1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01AEFD"/>
                </a:solidFill>
              </a:rPr>
              <a:t>Type this into style.css   -   line 26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60120"/>
            <a:ext cx="11155680" cy="4297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21  </a:t>
            </a:r>
            <a:r>
              <a:rPr sz="1800">
                <a:solidFill>
                  <a:srgbClr val="6D8C97"/>
                </a:solidFill>
                <a:latin typeface="Consolas"/>
              </a:rPr>
              <a:t>.composer { display: flex; gap: 8px; margin-top: 12px; }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22  </a:t>
            </a:r>
            <a:r>
              <a:rPr sz="1800">
                <a:solidFill>
                  <a:srgbClr val="6D8C97"/>
                </a:solidFill>
                <a:latin typeface="Consolas"/>
              </a:rPr>
              <a:t>.composer input {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23  </a:t>
            </a:r>
            <a:r>
              <a:rPr sz="1800">
                <a:solidFill>
                  <a:srgbClr val="6D8C97"/>
                </a:solidFill>
                <a:latin typeface="Consolas"/>
              </a:rPr>
              <a:t>  flex: 1;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24  </a:t>
            </a:r>
            <a:r>
              <a:rPr sz="1800">
                <a:solidFill>
                  <a:srgbClr val="6D8C97"/>
                </a:solidFill>
                <a:latin typeface="Consolas"/>
              </a:rPr>
              <a:t>  padding: 11px;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25  </a:t>
            </a:r>
            <a:r>
              <a:rPr sz="1800">
                <a:solidFill>
                  <a:srgbClr val="6D8C97"/>
                </a:solidFill>
                <a:latin typeface="Consolas"/>
              </a:rPr>
              <a:t>  border: 1px solid #dbe3ec;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26  </a:t>
            </a:r>
            <a:r>
              <a:rPr sz="1800">
                <a:solidFill>
                  <a:srgbClr val="7FE0A0"/>
                </a:solidFill>
                <a:latin typeface="Consolas"/>
              </a:rPr>
              <a:t>  border-radius: 6px;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23560"/>
            <a:ext cx="110642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>
                <a:solidFill>
                  <a:srgbClr val="DCECEF"/>
                </a:solidFill>
              </a:rPr>
              <a:t>Rounded corners.</a:t>
            </a:r>
          </a:p>
        </p:txBody>
      </p:sp>
    </p:spTree>
  </p:cSld>
  <p:clrMapOvr>
    <a:masterClrMapping/>
  </p:clrMapOvr>
</p:sld>
</file>

<file path=ppt/slides/slide10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1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01AEFD"/>
                </a:solidFill>
              </a:rPr>
              <a:t>Type this into style.css   -   line 27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60120"/>
            <a:ext cx="11155680" cy="4297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21  </a:t>
            </a:r>
            <a:r>
              <a:rPr sz="1800">
                <a:solidFill>
                  <a:srgbClr val="6D8C97"/>
                </a:solidFill>
                <a:latin typeface="Consolas"/>
              </a:rPr>
              <a:t>.composer { display: flex; gap: 8px; margin-top: 12px; }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22  </a:t>
            </a:r>
            <a:r>
              <a:rPr sz="1800">
                <a:solidFill>
                  <a:srgbClr val="6D8C97"/>
                </a:solidFill>
                <a:latin typeface="Consolas"/>
              </a:rPr>
              <a:t>.composer input {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23  </a:t>
            </a:r>
            <a:r>
              <a:rPr sz="1800">
                <a:solidFill>
                  <a:srgbClr val="6D8C97"/>
                </a:solidFill>
                <a:latin typeface="Consolas"/>
              </a:rPr>
              <a:t>  flex: 1;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24  </a:t>
            </a:r>
            <a:r>
              <a:rPr sz="1800">
                <a:solidFill>
                  <a:srgbClr val="6D8C97"/>
                </a:solidFill>
                <a:latin typeface="Consolas"/>
              </a:rPr>
              <a:t>  padding: 11px;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25  </a:t>
            </a:r>
            <a:r>
              <a:rPr sz="1800">
                <a:solidFill>
                  <a:srgbClr val="6D8C97"/>
                </a:solidFill>
                <a:latin typeface="Consolas"/>
              </a:rPr>
              <a:t>  border: 1px solid #dbe3ec;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26  </a:t>
            </a:r>
            <a:r>
              <a:rPr sz="1800">
                <a:solidFill>
                  <a:srgbClr val="6D8C97"/>
                </a:solidFill>
                <a:latin typeface="Consolas"/>
              </a:rPr>
              <a:t>  border-radius: 6px;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27  </a:t>
            </a:r>
            <a:r>
              <a:rPr sz="1800">
                <a:solidFill>
                  <a:srgbClr val="7FE0A0"/>
                </a:solidFill>
                <a:latin typeface="Consolas"/>
              </a:rPr>
              <a:t>  font-size: 15px;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23560"/>
            <a:ext cx="110642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>
                <a:solidFill>
                  <a:srgbClr val="DCECEF"/>
                </a:solidFill>
              </a:rPr>
              <a:t>Comfortable text size.</a:t>
            </a:r>
          </a:p>
        </p:txBody>
      </p:sp>
    </p:spTree>
  </p:cSld>
  <p:clrMapOvr>
    <a:masterClrMapping/>
  </p:clrMapOvr>
</p:sld>
</file>

<file path=ppt/slides/slide10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1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01AEFD"/>
                </a:solidFill>
              </a:rPr>
              <a:t>Type this into style.css   -   line 28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60120"/>
            <a:ext cx="11155680" cy="4297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21  </a:t>
            </a:r>
            <a:r>
              <a:rPr sz="1800">
                <a:solidFill>
                  <a:srgbClr val="6D8C97"/>
                </a:solidFill>
                <a:latin typeface="Consolas"/>
              </a:rPr>
              <a:t>.composer { display: flex; gap: 8px; margin-top: 12px; }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22  </a:t>
            </a:r>
            <a:r>
              <a:rPr sz="1800">
                <a:solidFill>
                  <a:srgbClr val="6D8C97"/>
                </a:solidFill>
                <a:latin typeface="Consolas"/>
              </a:rPr>
              <a:t>.composer input {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23  </a:t>
            </a:r>
            <a:r>
              <a:rPr sz="1800">
                <a:solidFill>
                  <a:srgbClr val="6D8C97"/>
                </a:solidFill>
                <a:latin typeface="Consolas"/>
              </a:rPr>
              <a:t>  flex: 1;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24  </a:t>
            </a:r>
            <a:r>
              <a:rPr sz="1800">
                <a:solidFill>
                  <a:srgbClr val="6D8C97"/>
                </a:solidFill>
                <a:latin typeface="Consolas"/>
              </a:rPr>
              <a:t>  padding: 11px;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25  </a:t>
            </a:r>
            <a:r>
              <a:rPr sz="1800">
                <a:solidFill>
                  <a:srgbClr val="6D8C97"/>
                </a:solidFill>
                <a:latin typeface="Consolas"/>
              </a:rPr>
              <a:t>  border: 1px solid #dbe3ec;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26  </a:t>
            </a:r>
            <a:r>
              <a:rPr sz="1800">
                <a:solidFill>
                  <a:srgbClr val="6D8C97"/>
                </a:solidFill>
                <a:latin typeface="Consolas"/>
              </a:rPr>
              <a:t>  border-radius: 6px;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27  </a:t>
            </a:r>
            <a:r>
              <a:rPr sz="1800">
                <a:solidFill>
                  <a:srgbClr val="6D8C97"/>
                </a:solidFill>
                <a:latin typeface="Consolas"/>
              </a:rPr>
              <a:t>  font-size: 15px;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28  </a:t>
            </a:r>
            <a:r>
              <a:rPr sz="1800">
                <a:solidFill>
                  <a:srgbClr val="7FE0A0"/>
                </a:solidFill>
                <a:latin typeface="Consolas"/>
              </a:rPr>
              <a:t>}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23560"/>
            <a:ext cx="110642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>
                <a:solidFill>
                  <a:srgbClr val="DCECEF"/>
                </a:solidFill>
              </a:rPr>
              <a:t>Closes the input rule.</a:t>
            </a:r>
          </a:p>
        </p:txBody>
      </p:sp>
    </p:spTree>
  </p:cSld>
  <p:clrMapOvr>
    <a:masterClrMapping/>
  </p:clrMapOvr>
</p:sld>
</file>

<file path=ppt/slides/slide10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1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01AEFD"/>
                </a:solidFill>
              </a:rPr>
              <a:t>Type this into style.css   -   line 29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60120"/>
            <a:ext cx="11155680" cy="4297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21  </a:t>
            </a:r>
            <a:r>
              <a:rPr sz="1800">
                <a:solidFill>
                  <a:srgbClr val="6D8C97"/>
                </a:solidFill>
                <a:latin typeface="Consolas"/>
              </a:rPr>
              <a:t>.composer { display: flex; gap: 8px; margin-top: 12px; }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22  </a:t>
            </a:r>
            <a:r>
              <a:rPr sz="1800">
                <a:solidFill>
                  <a:srgbClr val="6D8C97"/>
                </a:solidFill>
                <a:latin typeface="Consolas"/>
              </a:rPr>
              <a:t>.composer input {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23  </a:t>
            </a:r>
            <a:r>
              <a:rPr sz="1800">
                <a:solidFill>
                  <a:srgbClr val="6D8C97"/>
                </a:solidFill>
                <a:latin typeface="Consolas"/>
              </a:rPr>
              <a:t>  flex: 1;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24  </a:t>
            </a:r>
            <a:r>
              <a:rPr sz="1800">
                <a:solidFill>
                  <a:srgbClr val="6D8C97"/>
                </a:solidFill>
                <a:latin typeface="Consolas"/>
              </a:rPr>
              <a:t>  padding: 11px;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25  </a:t>
            </a:r>
            <a:r>
              <a:rPr sz="1800">
                <a:solidFill>
                  <a:srgbClr val="6D8C97"/>
                </a:solidFill>
                <a:latin typeface="Consolas"/>
              </a:rPr>
              <a:t>  border: 1px solid #dbe3ec;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26  </a:t>
            </a:r>
            <a:r>
              <a:rPr sz="1800">
                <a:solidFill>
                  <a:srgbClr val="6D8C97"/>
                </a:solidFill>
                <a:latin typeface="Consolas"/>
              </a:rPr>
              <a:t>  border-radius: 6px;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27  </a:t>
            </a:r>
            <a:r>
              <a:rPr sz="1800">
                <a:solidFill>
                  <a:srgbClr val="6D8C97"/>
                </a:solidFill>
                <a:latin typeface="Consolas"/>
              </a:rPr>
              <a:t>  font-size: 15px;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28  </a:t>
            </a:r>
            <a:r>
              <a:rPr sz="1800">
                <a:solidFill>
                  <a:srgbClr val="6D8C97"/>
                </a:solidFill>
                <a:latin typeface="Consolas"/>
              </a:rPr>
              <a:t>}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29  </a:t>
            </a:r>
            <a:r>
              <a:rPr sz="1800">
                <a:solidFill>
                  <a:srgbClr val="7FE0A0"/>
                </a:solidFill>
                <a:latin typeface="Consolas"/>
              </a:rPr>
              <a:t>.composer button {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23560"/>
            <a:ext cx="110642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>
                <a:solidFill>
                  <a:srgbClr val="DCECEF"/>
                </a:solidFill>
              </a:rPr>
              <a:t>Starts a rule for the button inside .composer.</a:t>
            </a:r>
          </a:p>
        </p:txBody>
      </p:sp>
    </p:spTree>
  </p:cSld>
  <p:clrMapOvr>
    <a:masterClrMapping/>
  </p:clrMapOvr>
</p:sld>
</file>

<file path=ppt/slides/slide10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1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01AEFD"/>
                </a:solidFill>
              </a:rPr>
              <a:t>Type this into style.css   -   line 30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60120"/>
            <a:ext cx="11155680" cy="4297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21  </a:t>
            </a:r>
            <a:r>
              <a:rPr sz="1800">
                <a:solidFill>
                  <a:srgbClr val="6D8C97"/>
                </a:solidFill>
                <a:latin typeface="Consolas"/>
              </a:rPr>
              <a:t>.composer { display: flex; gap: 8px; margin-top: 12px; }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22  </a:t>
            </a:r>
            <a:r>
              <a:rPr sz="1800">
                <a:solidFill>
                  <a:srgbClr val="6D8C97"/>
                </a:solidFill>
                <a:latin typeface="Consolas"/>
              </a:rPr>
              <a:t>.composer input {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23  </a:t>
            </a:r>
            <a:r>
              <a:rPr sz="1800">
                <a:solidFill>
                  <a:srgbClr val="6D8C97"/>
                </a:solidFill>
                <a:latin typeface="Consolas"/>
              </a:rPr>
              <a:t>  flex: 1;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24  </a:t>
            </a:r>
            <a:r>
              <a:rPr sz="1800">
                <a:solidFill>
                  <a:srgbClr val="6D8C97"/>
                </a:solidFill>
                <a:latin typeface="Consolas"/>
              </a:rPr>
              <a:t>  padding: 11px;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25  </a:t>
            </a:r>
            <a:r>
              <a:rPr sz="1800">
                <a:solidFill>
                  <a:srgbClr val="6D8C97"/>
                </a:solidFill>
                <a:latin typeface="Consolas"/>
              </a:rPr>
              <a:t>  border: 1px solid #dbe3ec;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26  </a:t>
            </a:r>
            <a:r>
              <a:rPr sz="1800">
                <a:solidFill>
                  <a:srgbClr val="6D8C97"/>
                </a:solidFill>
                <a:latin typeface="Consolas"/>
              </a:rPr>
              <a:t>  border-radius: 6px;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27  </a:t>
            </a:r>
            <a:r>
              <a:rPr sz="1800">
                <a:solidFill>
                  <a:srgbClr val="6D8C97"/>
                </a:solidFill>
                <a:latin typeface="Consolas"/>
              </a:rPr>
              <a:t>  font-size: 15px;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28  </a:t>
            </a:r>
            <a:r>
              <a:rPr sz="1800">
                <a:solidFill>
                  <a:srgbClr val="6D8C97"/>
                </a:solidFill>
                <a:latin typeface="Consolas"/>
              </a:rPr>
              <a:t>}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29  </a:t>
            </a:r>
            <a:r>
              <a:rPr sz="1800">
                <a:solidFill>
                  <a:srgbClr val="6D8C97"/>
                </a:solidFill>
                <a:latin typeface="Consolas"/>
              </a:rPr>
              <a:t>.composer button {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30  </a:t>
            </a:r>
            <a:r>
              <a:rPr sz="1800">
                <a:solidFill>
                  <a:srgbClr val="7FE0A0"/>
                </a:solidFill>
                <a:latin typeface="Consolas"/>
              </a:rPr>
              <a:t>  padding: 11px 18px;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23560"/>
            <a:ext cx="110642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>
                <a:solidFill>
                  <a:srgbClr val="DCECEF"/>
                </a:solidFill>
              </a:rPr>
              <a:t>Padding to make the button a comfortable size to tap.</a:t>
            </a:r>
          </a:p>
        </p:txBody>
      </p:sp>
    </p:spTree>
  </p:cSld>
  <p:clrMapOvr>
    <a:masterClrMapping/>
  </p:clrMapOvr>
</p:sld>
</file>

<file path=ppt/slides/slide1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1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01AEFD"/>
                </a:solidFill>
              </a:rPr>
              <a:t>Type this into style.css   -   line 31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60120"/>
            <a:ext cx="11155680" cy="4297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21  </a:t>
            </a:r>
            <a:r>
              <a:rPr sz="1300">
                <a:solidFill>
                  <a:srgbClr val="6D8C97"/>
                </a:solidFill>
                <a:latin typeface="Consolas"/>
              </a:rPr>
              <a:t>.composer { display: flex; gap: 8px; margin-top: 12px; }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22  </a:t>
            </a:r>
            <a:r>
              <a:rPr sz="1300">
                <a:solidFill>
                  <a:srgbClr val="6D8C97"/>
                </a:solidFill>
                <a:latin typeface="Consolas"/>
              </a:rPr>
              <a:t>.composer input {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23  </a:t>
            </a:r>
            <a:r>
              <a:rPr sz="1300">
                <a:solidFill>
                  <a:srgbClr val="6D8C97"/>
                </a:solidFill>
                <a:latin typeface="Consolas"/>
              </a:rPr>
              <a:t>  flex: 1;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24  </a:t>
            </a:r>
            <a:r>
              <a:rPr sz="1300">
                <a:solidFill>
                  <a:srgbClr val="6D8C97"/>
                </a:solidFill>
                <a:latin typeface="Consolas"/>
              </a:rPr>
              <a:t>  padding: 11px;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25  </a:t>
            </a:r>
            <a:r>
              <a:rPr sz="1300">
                <a:solidFill>
                  <a:srgbClr val="6D8C97"/>
                </a:solidFill>
                <a:latin typeface="Consolas"/>
              </a:rPr>
              <a:t>  border: 1px solid #dbe3ec;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26  </a:t>
            </a:r>
            <a:r>
              <a:rPr sz="1300">
                <a:solidFill>
                  <a:srgbClr val="6D8C97"/>
                </a:solidFill>
                <a:latin typeface="Consolas"/>
              </a:rPr>
              <a:t>  border-radius: 6px;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27  </a:t>
            </a:r>
            <a:r>
              <a:rPr sz="1300">
                <a:solidFill>
                  <a:srgbClr val="6D8C97"/>
                </a:solidFill>
                <a:latin typeface="Consolas"/>
              </a:rPr>
              <a:t>  font-size: 15px;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28  </a:t>
            </a:r>
            <a:r>
              <a:rPr sz="1300">
                <a:solidFill>
                  <a:srgbClr val="6D8C97"/>
                </a:solidFill>
                <a:latin typeface="Consolas"/>
              </a:rPr>
              <a:t>}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29  </a:t>
            </a:r>
            <a:r>
              <a:rPr sz="1300">
                <a:solidFill>
                  <a:srgbClr val="6D8C97"/>
                </a:solidFill>
                <a:latin typeface="Consolas"/>
              </a:rPr>
              <a:t>.composer button {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30  </a:t>
            </a:r>
            <a:r>
              <a:rPr sz="1300">
                <a:solidFill>
                  <a:srgbClr val="6D8C97"/>
                </a:solidFill>
                <a:latin typeface="Consolas"/>
              </a:rPr>
              <a:t>  padding: 11px 18px;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31  </a:t>
            </a:r>
            <a:r>
              <a:rPr sz="1300">
                <a:solidFill>
                  <a:srgbClr val="7FE0A0"/>
                </a:solidFill>
                <a:latin typeface="Consolas"/>
              </a:rPr>
              <a:t>  border: 0;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23560"/>
            <a:ext cx="110642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>
                <a:solidFill>
                  <a:srgbClr val="DCECEF"/>
                </a:solidFill>
              </a:rPr>
              <a:t>border: 0 removes the default button outline.</a:t>
            </a:r>
          </a:p>
        </p:txBody>
      </p:sp>
    </p:spTree>
  </p:cSld>
  <p:clrMapOvr>
    <a:masterClrMapping/>
  </p:clrMapOvr>
</p:sld>
</file>

<file path=ppt/slides/slide1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1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01AEFD"/>
                </a:solidFill>
              </a:rPr>
              <a:t>Type this into style.css   -   line 32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60120"/>
            <a:ext cx="11155680" cy="4297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21  </a:t>
            </a:r>
            <a:r>
              <a:rPr sz="1300">
                <a:solidFill>
                  <a:srgbClr val="6D8C97"/>
                </a:solidFill>
                <a:latin typeface="Consolas"/>
              </a:rPr>
              <a:t>.composer { display: flex; gap: 8px; margin-top: 12px; }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22  </a:t>
            </a:r>
            <a:r>
              <a:rPr sz="1300">
                <a:solidFill>
                  <a:srgbClr val="6D8C97"/>
                </a:solidFill>
                <a:latin typeface="Consolas"/>
              </a:rPr>
              <a:t>.composer input {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23  </a:t>
            </a:r>
            <a:r>
              <a:rPr sz="1300">
                <a:solidFill>
                  <a:srgbClr val="6D8C97"/>
                </a:solidFill>
                <a:latin typeface="Consolas"/>
              </a:rPr>
              <a:t>  flex: 1;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24  </a:t>
            </a:r>
            <a:r>
              <a:rPr sz="1300">
                <a:solidFill>
                  <a:srgbClr val="6D8C97"/>
                </a:solidFill>
                <a:latin typeface="Consolas"/>
              </a:rPr>
              <a:t>  padding: 11px;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25  </a:t>
            </a:r>
            <a:r>
              <a:rPr sz="1300">
                <a:solidFill>
                  <a:srgbClr val="6D8C97"/>
                </a:solidFill>
                <a:latin typeface="Consolas"/>
              </a:rPr>
              <a:t>  border: 1px solid #dbe3ec;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26  </a:t>
            </a:r>
            <a:r>
              <a:rPr sz="1300">
                <a:solidFill>
                  <a:srgbClr val="6D8C97"/>
                </a:solidFill>
                <a:latin typeface="Consolas"/>
              </a:rPr>
              <a:t>  border-radius: 6px;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27  </a:t>
            </a:r>
            <a:r>
              <a:rPr sz="1300">
                <a:solidFill>
                  <a:srgbClr val="6D8C97"/>
                </a:solidFill>
                <a:latin typeface="Consolas"/>
              </a:rPr>
              <a:t>  font-size: 15px;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28  </a:t>
            </a:r>
            <a:r>
              <a:rPr sz="1300">
                <a:solidFill>
                  <a:srgbClr val="6D8C97"/>
                </a:solidFill>
                <a:latin typeface="Consolas"/>
              </a:rPr>
              <a:t>}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29  </a:t>
            </a:r>
            <a:r>
              <a:rPr sz="1300">
                <a:solidFill>
                  <a:srgbClr val="6D8C97"/>
                </a:solidFill>
                <a:latin typeface="Consolas"/>
              </a:rPr>
              <a:t>.composer button {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30  </a:t>
            </a:r>
            <a:r>
              <a:rPr sz="1300">
                <a:solidFill>
                  <a:srgbClr val="6D8C97"/>
                </a:solidFill>
                <a:latin typeface="Consolas"/>
              </a:rPr>
              <a:t>  padding: 11px 18px;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31  </a:t>
            </a:r>
            <a:r>
              <a:rPr sz="1300">
                <a:solidFill>
                  <a:srgbClr val="6D8C97"/>
                </a:solidFill>
                <a:latin typeface="Consolas"/>
              </a:rPr>
              <a:t>  border: 0;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32  </a:t>
            </a:r>
            <a:r>
              <a:rPr sz="1300">
                <a:solidFill>
                  <a:srgbClr val="7FE0A0"/>
                </a:solidFill>
                <a:latin typeface="Consolas"/>
              </a:rPr>
              <a:t>  border-radius: 6px;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23560"/>
            <a:ext cx="110642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>
                <a:solidFill>
                  <a:srgbClr val="DCECEF"/>
                </a:solidFill>
              </a:rPr>
              <a:t>Rounded corners.</a:t>
            </a:r>
          </a:p>
        </p:txBody>
      </p:sp>
    </p:spTree>
  </p:cSld>
  <p:clrMapOvr>
    <a:masterClrMapping/>
  </p:clrMapOvr>
</p:sld>
</file>

<file path=ppt/slides/slide1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1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01AEFD"/>
                </a:solidFill>
              </a:rPr>
              <a:t>Type this into style.css   -   line 33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60120"/>
            <a:ext cx="11155680" cy="4297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21  </a:t>
            </a:r>
            <a:r>
              <a:rPr sz="1300">
                <a:solidFill>
                  <a:srgbClr val="6D8C97"/>
                </a:solidFill>
                <a:latin typeface="Consolas"/>
              </a:rPr>
              <a:t>.composer { display: flex; gap: 8px; margin-top: 12px; }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22  </a:t>
            </a:r>
            <a:r>
              <a:rPr sz="1300">
                <a:solidFill>
                  <a:srgbClr val="6D8C97"/>
                </a:solidFill>
                <a:latin typeface="Consolas"/>
              </a:rPr>
              <a:t>.composer input {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23  </a:t>
            </a:r>
            <a:r>
              <a:rPr sz="1300">
                <a:solidFill>
                  <a:srgbClr val="6D8C97"/>
                </a:solidFill>
                <a:latin typeface="Consolas"/>
              </a:rPr>
              <a:t>  flex: 1;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24  </a:t>
            </a:r>
            <a:r>
              <a:rPr sz="1300">
                <a:solidFill>
                  <a:srgbClr val="6D8C97"/>
                </a:solidFill>
                <a:latin typeface="Consolas"/>
              </a:rPr>
              <a:t>  padding: 11px;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25  </a:t>
            </a:r>
            <a:r>
              <a:rPr sz="1300">
                <a:solidFill>
                  <a:srgbClr val="6D8C97"/>
                </a:solidFill>
                <a:latin typeface="Consolas"/>
              </a:rPr>
              <a:t>  border: 1px solid #dbe3ec;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26  </a:t>
            </a:r>
            <a:r>
              <a:rPr sz="1300">
                <a:solidFill>
                  <a:srgbClr val="6D8C97"/>
                </a:solidFill>
                <a:latin typeface="Consolas"/>
              </a:rPr>
              <a:t>  border-radius: 6px;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27  </a:t>
            </a:r>
            <a:r>
              <a:rPr sz="1300">
                <a:solidFill>
                  <a:srgbClr val="6D8C97"/>
                </a:solidFill>
                <a:latin typeface="Consolas"/>
              </a:rPr>
              <a:t>  font-size: 15px;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28  </a:t>
            </a:r>
            <a:r>
              <a:rPr sz="1300">
                <a:solidFill>
                  <a:srgbClr val="6D8C97"/>
                </a:solidFill>
                <a:latin typeface="Consolas"/>
              </a:rPr>
              <a:t>}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29  </a:t>
            </a:r>
            <a:r>
              <a:rPr sz="1300">
                <a:solidFill>
                  <a:srgbClr val="6D8C97"/>
                </a:solidFill>
                <a:latin typeface="Consolas"/>
              </a:rPr>
              <a:t>.composer button {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30  </a:t>
            </a:r>
            <a:r>
              <a:rPr sz="1300">
                <a:solidFill>
                  <a:srgbClr val="6D8C97"/>
                </a:solidFill>
                <a:latin typeface="Consolas"/>
              </a:rPr>
              <a:t>  padding: 11px 18px;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31  </a:t>
            </a:r>
            <a:r>
              <a:rPr sz="1300">
                <a:solidFill>
                  <a:srgbClr val="6D8C97"/>
                </a:solidFill>
                <a:latin typeface="Consolas"/>
              </a:rPr>
              <a:t>  border: 0;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32  </a:t>
            </a:r>
            <a:r>
              <a:rPr sz="1300">
                <a:solidFill>
                  <a:srgbClr val="6D8C97"/>
                </a:solidFill>
                <a:latin typeface="Consolas"/>
              </a:rPr>
              <a:t>  border-radius: 6px;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33  </a:t>
            </a:r>
            <a:r>
              <a:rPr sz="1300">
                <a:solidFill>
                  <a:srgbClr val="7FE0A0"/>
                </a:solidFill>
                <a:latin typeface="Consolas"/>
              </a:rPr>
              <a:t>  background: #01aefd;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23560"/>
            <a:ext cx="110642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>
                <a:solidFill>
                  <a:srgbClr val="DCECEF"/>
                </a:solidFill>
              </a:rPr>
              <a:t>The brand blue as its background.</a:t>
            </a:r>
          </a:p>
        </p:txBody>
      </p:sp>
    </p:spTree>
  </p:cSld>
  <p:clrMapOvr>
    <a:masterClrMapping/>
  </p:clrMapOvr>
</p:sld>
</file>

<file path=ppt/slides/slide1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1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01AEFD"/>
                </a:solidFill>
              </a:rPr>
              <a:t>Type this into style.css   -   line 34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60120"/>
            <a:ext cx="11155680" cy="4297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21  </a:t>
            </a:r>
            <a:r>
              <a:rPr sz="1300">
                <a:solidFill>
                  <a:srgbClr val="6D8C97"/>
                </a:solidFill>
                <a:latin typeface="Consolas"/>
              </a:rPr>
              <a:t>.composer { display: flex; gap: 8px; margin-top: 12px; }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22  </a:t>
            </a:r>
            <a:r>
              <a:rPr sz="1300">
                <a:solidFill>
                  <a:srgbClr val="6D8C97"/>
                </a:solidFill>
                <a:latin typeface="Consolas"/>
              </a:rPr>
              <a:t>.composer input {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23  </a:t>
            </a:r>
            <a:r>
              <a:rPr sz="1300">
                <a:solidFill>
                  <a:srgbClr val="6D8C97"/>
                </a:solidFill>
                <a:latin typeface="Consolas"/>
              </a:rPr>
              <a:t>  flex: 1;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24  </a:t>
            </a:r>
            <a:r>
              <a:rPr sz="1300">
                <a:solidFill>
                  <a:srgbClr val="6D8C97"/>
                </a:solidFill>
                <a:latin typeface="Consolas"/>
              </a:rPr>
              <a:t>  padding: 11px;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25  </a:t>
            </a:r>
            <a:r>
              <a:rPr sz="1300">
                <a:solidFill>
                  <a:srgbClr val="6D8C97"/>
                </a:solidFill>
                <a:latin typeface="Consolas"/>
              </a:rPr>
              <a:t>  border: 1px solid #dbe3ec;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26  </a:t>
            </a:r>
            <a:r>
              <a:rPr sz="1300">
                <a:solidFill>
                  <a:srgbClr val="6D8C97"/>
                </a:solidFill>
                <a:latin typeface="Consolas"/>
              </a:rPr>
              <a:t>  border-radius: 6px;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27  </a:t>
            </a:r>
            <a:r>
              <a:rPr sz="1300">
                <a:solidFill>
                  <a:srgbClr val="6D8C97"/>
                </a:solidFill>
                <a:latin typeface="Consolas"/>
              </a:rPr>
              <a:t>  font-size: 15px;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28  </a:t>
            </a:r>
            <a:r>
              <a:rPr sz="1300">
                <a:solidFill>
                  <a:srgbClr val="6D8C97"/>
                </a:solidFill>
                <a:latin typeface="Consolas"/>
              </a:rPr>
              <a:t>}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29  </a:t>
            </a:r>
            <a:r>
              <a:rPr sz="1300">
                <a:solidFill>
                  <a:srgbClr val="6D8C97"/>
                </a:solidFill>
                <a:latin typeface="Consolas"/>
              </a:rPr>
              <a:t>.composer button {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30  </a:t>
            </a:r>
            <a:r>
              <a:rPr sz="1300">
                <a:solidFill>
                  <a:srgbClr val="6D8C97"/>
                </a:solidFill>
                <a:latin typeface="Consolas"/>
              </a:rPr>
              <a:t>  padding: 11px 18px;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31  </a:t>
            </a:r>
            <a:r>
              <a:rPr sz="1300">
                <a:solidFill>
                  <a:srgbClr val="6D8C97"/>
                </a:solidFill>
                <a:latin typeface="Consolas"/>
              </a:rPr>
              <a:t>  border: 0;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32  </a:t>
            </a:r>
            <a:r>
              <a:rPr sz="1300">
                <a:solidFill>
                  <a:srgbClr val="6D8C97"/>
                </a:solidFill>
                <a:latin typeface="Consolas"/>
              </a:rPr>
              <a:t>  border-radius: 6px;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33  </a:t>
            </a:r>
            <a:r>
              <a:rPr sz="1300">
                <a:solidFill>
                  <a:srgbClr val="6D8C97"/>
                </a:solidFill>
                <a:latin typeface="Consolas"/>
              </a:rPr>
              <a:t>  background: #01aefd;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34  </a:t>
            </a:r>
            <a:r>
              <a:rPr sz="1300">
                <a:solidFill>
                  <a:srgbClr val="7FE0A0"/>
                </a:solidFill>
                <a:latin typeface="Consolas"/>
              </a:rPr>
              <a:t>  color: #ffffff;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23560"/>
            <a:ext cx="110642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>
                <a:solidFill>
                  <a:srgbClr val="DCECEF"/>
                </a:solidFill>
              </a:rPr>
              <a:t>White text on the blue.</a:t>
            </a:r>
          </a:p>
        </p:txBody>
      </p:sp>
    </p:spTree>
  </p:cSld>
  <p:clrMapOvr>
    <a:masterClrMapping/>
  </p:clrMapOvr>
</p:sld>
</file>

<file path=ppt/slides/slide1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1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01AEFD"/>
                </a:solidFill>
              </a:rPr>
              <a:t>Type this into style.css   -   line 35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60120"/>
            <a:ext cx="11155680" cy="4297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21  </a:t>
            </a:r>
            <a:r>
              <a:rPr sz="1300">
                <a:solidFill>
                  <a:srgbClr val="6D8C97"/>
                </a:solidFill>
                <a:latin typeface="Consolas"/>
              </a:rPr>
              <a:t>.composer { display: flex; gap: 8px; margin-top: 12px; }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22  </a:t>
            </a:r>
            <a:r>
              <a:rPr sz="1300">
                <a:solidFill>
                  <a:srgbClr val="6D8C97"/>
                </a:solidFill>
                <a:latin typeface="Consolas"/>
              </a:rPr>
              <a:t>.composer input {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23  </a:t>
            </a:r>
            <a:r>
              <a:rPr sz="1300">
                <a:solidFill>
                  <a:srgbClr val="6D8C97"/>
                </a:solidFill>
                <a:latin typeface="Consolas"/>
              </a:rPr>
              <a:t>  flex: 1;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24  </a:t>
            </a:r>
            <a:r>
              <a:rPr sz="1300">
                <a:solidFill>
                  <a:srgbClr val="6D8C97"/>
                </a:solidFill>
                <a:latin typeface="Consolas"/>
              </a:rPr>
              <a:t>  padding: 11px;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25  </a:t>
            </a:r>
            <a:r>
              <a:rPr sz="1300">
                <a:solidFill>
                  <a:srgbClr val="6D8C97"/>
                </a:solidFill>
                <a:latin typeface="Consolas"/>
              </a:rPr>
              <a:t>  border: 1px solid #dbe3ec;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26  </a:t>
            </a:r>
            <a:r>
              <a:rPr sz="1300">
                <a:solidFill>
                  <a:srgbClr val="6D8C97"/>
                </a:solidFill>
                <a:latin typeface="Consolas"/>
              </a:rPr>
              <a:t>  border-radius: 6px;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27  </a:t>
            </a:r>
            <a:r>
              <a:rPr sz="1300">
                <a:solidFill>
                  <a:srgbClr val="6D8C97"/>
                </a:solidFill>
                <a:latin typeface="Consolas"/>
              </a:rPr>
              <a:t>  font-size: 15px;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28  </a:t>
            </a:r>
            <a:r>
              <a:rPr sz="1300">
                <a:solidFill>
                  <a:srgbClr val="6D8C97"/>
                </a:solidFill>
                <a:latin typeface="Consolas"/>
              </a:rPr>
              <a:t>}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29  </a:t>
            </a:r>
            <a:r>
              <a:rPr sz="1300">
                <a:solidFill>
                  <a:srgbClr val="6D8C97"/>
                </a:solidFill>
                <a:latin typeface="Consolas"/>
              </a:rPr>
              <a:t>.composer button {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30  </a:t>
            </a:r>
            <a:r>
              <a:rPr sz="1300">
                <a:solidFill>
                  <a:srgbClr val="6D8C97"/>
                </a:solidFill>
                <a:latin typeface="Consolas"/>
              </a:rPr>
              <a:t>  padding: 11px 18px;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31  </a:t>
            </a:r>
            <a:r>
              <a:rPr sz="1300">
                <a:solidFill>
                  <a:srgbClr val="6D8C97"/>
                </a:solidFill>
                <a:latin typeface="Consolas"/>
              </a:rPr>
              <a:t>  border: 0;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32  </a:t>
            </a:r>
            <a:r>
              <a:rPr sz="1300">
                <a:solidFill>
                  <a:srgbClr val="6D8C97"/>
                </a:solidFill>
                <a:latin typeface="Consolas"/>
              </a:rPr>
              <a:t>  border-radius: 6px;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33  </a:t>
            </a:r>
            <a:r>
              <a:rPr sz="1300">
                <a:solidFill>
                  <a:srgbClr val="6D8C97"/>
                </a:solidFill>
                <a:latin typeface="Consolas"/>
              </a:rPr>
              <a:t>  background: #01aefd;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34  </a:t>
            </a:r>
            <a:r>
              <a:rPr sz="1300">
                <a:solidFill>
                  <a:srgbClr val="6D8C97"/>
                </a:solidFill>
                <a:latin typeface="Consolas"/>
              </a:rPr>
              <a:t>  color: #ffffff;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35  </a:t>
            </a:r>
            <a:r>
              <a:rPr sz="1300">
                <a:solidFill>
                  <a:srgbClr val="7FE0A0"/>
                </a:solidFill>
                <a:latin typeface="Consolas"/>
              </a:rPr>
              <a:t>  font-size: 15px;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23560"/>
            <a:ext cx="110642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>
                <a:solidFill>
                  <a:srgbClr val="DCECEF"/>
                </a:solidFill>
              </a:rPr>
              <a:t>Readable text size.</a:t>
            </a:r>
          </a:p>
        </p:txBody>
      </p:sp>
    </p:spTree>
  </p:cSld>
  <p:clrMapOvr>
    <a:masterClrMapping/>
  </p:clrMapOvr>
</p:sld>
</file>

<file path=ppt/slides/slide1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800" b="1">
                <a:solidFill>
                  <a:srgbClr val="1F2A37"/>
                </a:solidFill>
              </a:rPr>
              <a:t>cursor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8680" y="502920"/>
            <a:ext cx="5486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01AEFD"/>
                </a:solidFill>
              </a:rPr>
              <a:t>CSS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828800"/>
            <a:ext cx="105156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The mouse-pointer shape.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pointer shows a hand, so it looks clickable.</a:t>
            </a:r>
          </a:p>
        </p:txBody>
      </p:sp>
    </p:spTree>
  </p:cSld>
  <p:clrMapOvr>
    <a:masterClrMapping/>
  </p:clrMapOvr>
</p:sld>
</file>

<file path=ppt/slides/slide1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365760"/>
            <a:ext cx="7315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01AEFD"/>
                </a:solidFill>
              </a:rPr>
              <a:t>ON THE PAGE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658368"/>
            <a:ext cx="10515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>
                <a:solidFill>
                  <a:srgbClr val="1F2A37"/>
                </a:solidFill>
              </a:rPr>
              <a:t>cursor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454237" y="1641896"/>
            <a:ext cx="5249387" cy="3918021"/>
          </a:xfrm>
          <a:prstGeom prst="roundRect">
            <a:avLst/>
          </a:prstGeom>
          <a:solidFill>
            <a:srgbClr val="0F1F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3606393" y="2022287"/>
            <a:ext cx="4945075" cy="437448"/>
          </a:xfrm>
          <a:prstGeom prst="roundRect">
            <a:avLst/>
          </a:prstGeom>
          <a:solidFill>
            <a:srgbClr val="1630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3720510" y="2155423"/>
            <a:ext cx="1426463" cy="190195"/>
          </a:xfrm>
          <a:prstGeom prst="roundRect">
            <a:avLst/>
          </a:prstGeom>
          <a:solidFill>
            <a:srgbClr val="4A6B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3606393" y="2554833"/>
            <a:ext cx="4945075" cy="1730776"/>
          </a:xfrm>
          <a:prstGeom prst="roundRect">
            <a:avLst/>
          </a:prstGeom>
          <a:solidFill>
            <a:srgbClr val="0B17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3720510" y="2668950"/>
            <a:ext cx="2852927" cy="399409"/>
          </a:xfrm>
          <a:prstGeom prst="roundRect">
            <a:avLst/>
          </a:prstGeom>
          <a:solidFill>
            <a:srgbClr val="1B35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5584423" y="3182477"/>
            <a:ext cx="2852927" cy="399409"/>
          </a:xfrm>
          <a:prstGeom prst="roundRect">
            <a:avLst/>
          </a:prstGeom>
          <a:solidFill>
            <a:srgbClr val="123A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3720510" y="3696004"/>
            <a:ext cx="3138220" cy="399409"/>
          </a:xfrm>
          <a:prstGeom prst="roundRect">
            <a:avLst/>
          </a:prstGeom>
          <a:solidFill>
            <a:srgbClr val="1B35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3701491" y="4409236"/>
            <a:ext cx="1426463" cy="228234"/>
          </a:xfrm>
          <a:prstGeom prst="roundRect">
            <a:avLst/>
          </a:prstGeom>
          <a:solidFill>
            <a:srgbClr val="1630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5223052" y="4409236"/>
            <a:ext cx="1426463" cy="228234"/>
          </a:xfrm>
          <a:prstGeom prst="roundRect">
            <a:avLst/>
          </a:prstGeom>
          <a:solidFill>
            <a:srgbClr val="1630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3701491" y="4856195"/>
            <a:ext cx="3899001" cy="323331"/>
          </a:xfrm>
          <a:prstGeom prst="roundRect">
            <a:avLst/>
          </a:prstGeom>
          <a:solidFill>
            <a:srgbClr val="1630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7695590" y="4856195"/>
            <a:ext cx="779800" cy="323331"/>
          </a:xfrm>
          <a:prstGeom prst="roundRect">
            <a:avLst/>
          </a:prstGeom>
          <a:solidFill>
            <a:srgbClr val="01AE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3720510" y="5407761"/>
            <a:ext cx="1616659" cy="95097"/>
          </a:xfrm>
          <a:prstGeom prst="roundRect">
            <a:avLst/>
          </a:prstGeom>
          <a:solidFill>
            <a:srgbClr val="2A45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7657551" y="4818156"/>
            <a:ext cx="855878" cy="399409"/>
          </a:xfrm>
          <a:prstGeom prst="roundRect">
            <a:avLst/>
          </a:prstGeom>
          <a:noFill/>
          <a:ln w="44450">
            <a:solidFill>
              <a:srgbClr val="FFD6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2960" y="617220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>
                <a:solidFill>
                  <a:srgbClr val="0A6299"/>
                </a:solidFill>
              </a:rPr>
              <a:t>cursor: pointer makes the mouse a hand over the button.</a:t>
            </a:r>
          </a:p>
        </p:txBody>
      </p:sp>
    </p:spTree>
  </p:cSld>
  <p:clrMapOvr>
    <a:masterClrMapping/>
  </p:clrMapOvr>
</p:sld>
</file>

<file path=ppt/slides/slide1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1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01AEFD"/>
                </a:solidFill>
              </a:rPr>
              <a:t>Type this into style.css   -   line 36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60120"/>
            <a:ext cx="11155680" cy="4297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21  </a:t>
            </a:r>
            <a:r>
              <a:rPr sz="1300">
                <a:solidFill>
                  <a:srgbClr val="6D8C97"/>
                </a:solidFill>
                <a:latin typeface="Consolas"/>
              </a:rPr>
              <a:t>.composer { display: flex; gap: 8px; margin-top: 12px; }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22  </a:t>
            </a:r>
            <a:r>
              <a:rPr sz="1300">
                <a:solidFill>
                  <a:srgbClr val="6D8C97"/>
                </a:solidFill>
                <a:latin typeface="Consolas"/>
              </a:rPr>
              <a:t>.composer input {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23  </a:t>
            </a:r>
            <a:r>
              <a:rPr sz="1300">
                <a:solidFill>
                  <a:srgbClr val="6D8C97"/>
                </a:solidFill>
                <a:latin typeface="Consolas"/>
              </a:rPr>
              <a:t>  flex: 1;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24  </a:t>
            </a:r>
            <a:r>
              <a:rPr sz="1300">
                <a:solidFill>
                  <a:srgbClr val="6D8C97"/>
                </a:solidFill>
                <a:latin typeface="Consolas"/>
              </a:rPr>
              <a:t>  padding: 11px;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25  </a:t>
            </a:r>
            <a:r>
              <a:rPr sz="1300">
                <a:solidFill>
                  <a:srgbClr val="6D8C97"/>
                </a:solidFill>
                <a:latin typeface="Consolas"/>
              </a:rPr>
              <a:t>  border: 1px solid #dbe3ec;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26  </a:t>
            </a:r>
            <a:r>
              <a:rPr sz="1300">
                <a:solidFill>
                  <a:srgbClr val="6D8C97"/>
                </a:solidFill>
                <a:latin typeface="Consolas"/>
              </a:rPr>
              <a:t>  border-radius: 6px;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27  </a:t>
            </a:r>
            <a:r>
              <a:rPr sz="1300">
                <a:solidFill>
                  <a:srgbClr val="6D8C97"/>
                </a:solidFill>
                <a:latin typeface="Consolas"/>
              </a:rPr>
              <a:t>  font-size: 15px;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28  </a:t>
            </a:r>
            <a:r>
              <a:rPr sz="1300">
                <a:solidFill>
                  <a:srgbClr val="6D8C97"/>
                </a:solidFill>
                <a:latin typeface="Consolas"/>
              </a:rPr>
              <a:t>}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29  </a:t>
            </a:r>
            <a:r>
              <a:rPr sz="1300">
                <a:solidFill>
                  <a:srgbClr val="6D8C97"/>
                </a:solidFill>
                <a:latin typeface="Consolas"/>
              </a:rPr>
              <a:t>.composer button {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30  </a:t>
            </a:r>
            <a:r>
              <a:rPr sz="1300">
                <a:solidFill>
                  <a:srgbClr val="6D8C97"/>
                </a:solidFill>
                <a:latin typeface="Consolas"/>
              </a:rPr>
              <a:t>  padding: 11px 18px;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31  </a:t>
            </a:r>
            <a:r>
              <a:rPr sz="1300">
                <a:solidFill>
                  <a:srgbClr val="6D8C97"/>
                </a:solidFill>
                <a:latin typeface="Consolas"/>
              </a:rPr>
              <a:t>  border: 0;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32  </a:t>
            </a:r>
            <a:r>
              <a:rPr sz="1300">
                <a:solidFill>
                  <a:srgbClr val="6D8C97"/>
                </a:solidFill>
                <a:latin typeface="Consolas"/>
              </a:rPr>
              <a:t>  border-radius: 6px;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33  </a:t>
            </a:r>
            <a:r>
              <a:rPr sz="1300">
                <a:solidFill>
                  <a:srgbClr val="6D8C97"/>
                </a:solidFill>
                <a:latin typeface="Consolas"/>
              </a:rPr>
              <a:t>  background: #01aefd;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34  </a:t>
            </a:r>
            <a:r>
              <a:rPr sz="1300">
                <a:solidFill>
                  <a:srgbClr val="6D8C97"/>
                </a:solidFill>
                <a:latin typeface="Consolas"/>
              </a:rPr>
              <a:t>  color: #ffffff;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35  </a:t>
            </a:r>
            <a:r>
              <a:rPr sz="1300">
                <a:solidFill>
                  <a:srgbClr val="6D8C97"/>
                </a:solidFill>
                <a:latin typeface="Consolas"/>
              </a:rPr>
              <a:t>  font-size: 15px;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36  </a:t>
            </a:r>
            <a:r>
              <a:rPr sz="1300">
                <a:solidFill>
                  <a:srgbClr val="7FE0A0"/>
                </a:solidFill>
                <a:latin typeface="Consolas"/>
              </a:rPr>
              <a:t>  cursor: pointer;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23560"/>
            <a:ext cx="110642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>
                <a:solidFill>
                  <a:srgbClr val="DCECEF"/>
                </a:solidFill>
              </a:rPr>
              <a:t>cursor: pointer shows a hand so it looks clickable.</a:t>
            </a:r>
          </a:p>
        </p:txBody>
      </p:sp>
    </p:spTree>
  </p:cSld>
  <p:clrMapOvr>
    <a:masterClrMapping/>
  </p:clrMapOvr>
</p:sld>
</file>

<file path=ppt/slides/slide1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1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01AEFD"/>
                </a:solidFill>
              </a:rPr>
              <a:t>Type this into style.css   -   line 37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60120"/>
            <a:ext cx="11155680" cy="4297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21  </a:t>
            </a:r>
            <a:r>
              <a:rPr sz="1300">
                <a:solidFill>
                  <a:srgbClr val="6D8C97"/>
                </a:solidFill>
                <a:latin typeface="Consolas"/>
              </a:rPr>
              <a:t>.composer { display: flex; gap: 8px; margin-top: 12px; }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22  </a:t>
            </a:r>
            <a:r>
              <a:rPr sz="1300">
                <a:solidFill>
                  <a:srgbClr val="6D8C97"/>
                </a:solidFill>
                <a:latin typeface="Consolas"/>
              </a:rPr>
              <a:t>.composer input {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23  </a:t>
            </a:r>
            <a:r>
              <a:rPr sz="1300">
                <a:solidFill>
                  <a:srgbClr val="6D8C97"/>
                </a:solidFill>
                <a:latin typeface="Consolas"/>
              </a:rPr>
              <a:t>  flex: 1;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24  </a:t>
            </a:r>
            <a:r>
              <a:rPr sz="1300">
                <a:solidFill>
                  <a:srgbClr val="6D8C97"/>
                </a:solidFill>
                <a:latin typeface="Consolas"/>
              </a:rPr>
              <a:t>  padding: 11px;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25  </a:t>
            </a:r>
            <a:r>
              <a:rPr sz="1300">
                <a:solidFill>
                  <a:srgbClr val="6D8C97"/>
                </a:solidFill>
                <a:latin typeface="Consolas"/>
              </a:rPr>
              <a:t>  border: 1px solid #dbe3ec;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26  </a:t>
            </a:r>
            <a:r>
              <a:rPr sz="1300">
                <a:solidFill>
                  <a:srgbClr val="6D8C97"/>
                </a:solidFill>
                <a:latin typeface="Consolas"/>
              </a:rPr>
              <a:t>  border-radius: 6px;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27  </a:t>
            </a:r>
            <a:r>
              <a:rPr sz="1300">
                <a:solidFill>
                  <a:srgbClr val="6D8C97"/>
                </a:solidFill>
                <a:latin typeface="Consolas"/>
              </a:rPr>
              <a:t>  font-size: 15px;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28  </a:t>
            </a:r>
            <a:r>
              <a:rPr sz="1300">
                <a:solidFill>
                  <a:srgbClr val="6D8C97"/>
                </a:solidFill>
                <a:latin typeface="Consolas"/>
              </a:rPr>
              <a:t>}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29  </a:t>
            </a:r>
            <a:r>
              <a:rPr sz="1300">
                <a:solidFill>
                  <a:srgbClr val="6D8C97"/>
                </a:solidFill>
                <a:latin typeface="Consolas"/>
              </a:rPr>
              <a:t>.composer button {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30  </a:t>
            </a:r>
            <a:r>
              <a:rPr sz="1300">
                <a:solidFill>
                  <a:srgbClr val="6D8C97"/>
                </a:solidFill>
                <a:latin typeface="Consolas"/>
              </a:rPr>
              <a:t>  padding: 11px 18px;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31  </a:t>
            </a:r>
            <a:r>
              <a:rPr sz="1300">
                <a:solidFill>
                  <a:srgbClr val="6D8C97"/>
                </a:solidFill>
                <a:latin typeface="Consolas"/>
              </a:rPr>
              <a:t>  border: 0;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32  </a:t>
            </a:r>
            <a:r>
              <a:rPr sz="1300">
                <a:solidFill>
                  <a:srgbClr val="6D8C97"/>
                </a:solidFill>
                <a:latin typeface="Consolas"/>
              </a:rPr>
              <a:t>  border-radius: 6px;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33  </a:t>
            </a:r>
            <a:r>
              <a:rPr sz="1300">
                <a:solidFill>
                  <a:srgbClr val="6D8C97"/>
                </a:solidFill>
                <a:latin typeface="Consolas"/>
              </a:rPr>
              <a:t>  background: #01aefd;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34  </a:t>
            </a:r>
            <a:r>
              <a:rPr sz="1300">
                <a:solidFill>
                  <a:srgbClr val="6D8C97"/>
                </a:solidFill>
                <a:latin typeface="Consolas"/>
              </a:rPr>
              <a:t>  color: #ffffff;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35  </a:t>
            </a:r>
            <a:r>
              <a:rPr sz="1300">
                <a:solidFill>
                  <a:srgbClr val="6D8C97"/>
                </a:solidFill>
                <a:latin typeface="Consolas"/>
              </a:rPr>
              <a:t>  font-size: 15px;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36  </a:t>
            </a:r>
            <a:r>
              <a:rPr sz="1300">
                <a:solidFill>
                  <a:srgbClr val="6D8C97"/>
                </a:solidFill>
                <a:latin typeface="Consolas"/>
              </a:rPr>
              <a:t>  cursor: pointer;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37  </a:t>
            </a:r>
            <a:r>
              <a:rPr sz="1300">
                <a:solidFill>
                  <a:srgbClr val="7FE0A0"/>
                </a:solidFill>
                <a:latin typeface="Consolas"/>
              </a:rPr>
              <a:t>}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23560"/>
            <a:ext cx="110642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>
                <a:solidFill>
                  <a:srgbClr val="DCECEF"/>
                </a:solidFill>
              </a:rPr>
              <a:t>Closes the button rule.</a:t>
            </a:r>
          </a:p>
        </p:txBody>
      </p:sp>
    </p:spTree>
  </p:cSld>
  <p:clrMapOvr>
    <a:masterClrMapping/>
  </p:clrMapOvr>
</p:sld>
</file>

<file path=ppt/slides/slide1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1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01AEFD"/>
                </a:solidFill>
              </a:rPr>
              <a:t>All together in style.css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60120"/>
            <a:ext cx="11155680" cy="4297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21  </a:t>
            </a:r>
            <a:r>
              <a:rPr sz="1300">
                <a:solidFill>
                  <a:srgbClr val="7FE0A0"/>
                </a:solidFill>
                <a:latin typeface="Consolas"/>
              </a:rPr>
              <a:t>.composer { display: flex; gap: 8px; margin-top: 12px; }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22  </a:t>
            </a:r>
            <a:r>
              <a:rPr sz="1300">
                <a:solidFill>
                  <a:srgbClr val="7FE0A0"/>
                </a:solidFill>
                <a:latin typeface="Consolas"/>
              </a:rPr>
              <a:t>.composer input {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23  </a:t>
            </a:r>
            <a:r>
              <a:rPr sz="1300">
                <a:solidFill>
                  <a:srgbClr val="7FE0A0"/>
                </a:solidFill>
                <a:latin typeface="Consolas"/>
              </a:rPr>
              <a:t>  flex: 1;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24  </a:t>
            </a:r>
            <a:r>
              <a:rPr sz="1300">
                <a:solidFill>
                  <a:srgbClr val="7FE0A0"/>
                </a:solidFill>
                <a:latin typeface="Consolas"/>
              </a:rPr>
              <a:t>  padding: 11px;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25  </a:t>
            </a:r>
            <a:r>
              <a:rPr sz="1300">
                <a:solidFill>
                  <a:srgbClr val="7FE0A0"/>
                </a:solidFill>
                <a:latin typeface="Consolas"/>
              </a:rPr>
              <a:t>  border: 1px solid #dbe3ec;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26  </a:t>
            </a:r>
            <a:r>
              <a:rPr sz="1300">
                <a:solidFill>
                  <a:srgbClr val="7FE0A0"/>
                </a:solidFill>
                <a:latin typeface="Consolas"/>
              </a:rPr>
              <a:t>  border-radius: 6px;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27  </a:t>
            </a:r>
            <a:r>
              <a:rPr sz="1300">
                <a:solidFill>
                  <a:srgbClr val="7FE0A0"/>
                </a:solidFill>
                <a:latin typeface="Consolas"/>
              </a:rPr>
              <a:t>  font-size: 15px;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28  </a:t>
            </a:r>
            <a:r>
              <a:rPr sz="1300">
                <a:solidFill>
                  <a:srgbClr val="7FE0A0"/>
                </a:solidFill>
                <a:latin typeface="Consolas"/>
              </a:rPr>
              <a:t>}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29  </a:t>
            </a:r>
            <a:r>
              <a:rPr sz="1300">
                <a:solidFill>
                  <a:srgbClr val="7FE0A0"/>
                </a:solidFill>
                <a:latin typeface="Consolas"/>
              </a:rPr>
              <a:t>.composer button {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30  </a:t>
            </a:r>
            <a:r>
              <a:rPr sz="1300">
                <a:solidFill>
                  <a:srgbClr val="7FE0A0"/>
                </a:solidFill>
                <a:latin typeface="Consolas"/>
              </a:rPr>
              <a:t>  padding: 11px 18px;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31  </a:t>
            </a:r>
            <a:r>
              <a:rPr sz="1300">
                <a:solidFill>
                  <a:srgbClr val="7FE0A0"/>
                </a:solidFill>
                <a:latin typeface="Consolas"/>
              </a:rPr>
              <a:t>  border: 0;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32  </a:t>
            </a:r>
            <a:r>
              <a:rPr sz="1300">
                <a:solidFill>
                  <a:srgbClr val="7FE0A0"/>
                </a:solidFill>
                <a:latin typeface="Consolas"/>
              </a:rPr>
              <a:t>  border-radius: 6px;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33  </a:t>
            </a:r>
            <a:r>
              <a:rPr sz="1300">
                <a:solidFill>
                  <a:srgbClr val="7FE0A0"/>
                </a:solidFill>
                <a:latin typeface="Consolas"/>
              </a:rPr>
              <a:t>  background: #01aefd;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34  </a:t>
            </a:r>
            <a:r>
              <a:rPr sz="1300">
                <a:solidFill>
                  <a:srgbClr val="7FE0A0"/>
                </a:solidFill>
                <a:latin typeface="Consolas"/>
              </a:rPr>
              <a:t>  color: #ffffff;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35  </a:t>
            </a:r>
            <a:r>
              <a:rPr sz="1300">
                <a:solidFill>
                  <a:srgbClr val="7FE0A0"/>
                </a:solidFill>
                <a:latin typeface="Consolas"/>
              </a:rPr>
              <a:t>  font-size: 15px;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36  </a:t>
            </a:r>
            <a:r>
              <a:rPr sz="1300">
                <a:solidFill>
                  <a:srgbClr val="7FE0A0"/>
                </a:solidFill>
                <a:latin typeface="Consolas"/>
              </a:rPr>
              <a:t>  cursor: pointer;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37  </a:t>
            </a:r>
            <a:r>
              <a:rPr sz="1300">
                <a:solidFill>
                  <a:srgbClr val="7FE0A0"/>
                </a:solidFill>
                <a:latin typeface="Consolas"/>
              </a:rPr>
              <a:t>}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23560"/>
            <a:ext cx="110642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>
                <a:solidFill>
                  <a:srgbClr val="DCECEF"/>
                </a:solidFill>
              </a:rPr>
              <a:t>That is the whole piece. Check yours looks the same before moving on.</a:t>
            </a:r>
          </a:p>
        </p:txBody>
      </p:sp>
    </p:spTree>
  </p:cSld>
  <p:clrMapOvr>
    <a:masterClrMapping/>
  </p:clrMapOvr>
</p:sld>
</file>

<file path=ppt/slides/slide1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800" b="1">
                <a:solidFill>
                  <a:srgbClr val="1F2A37"/>
                </a:solidFill>
              </a:rPr>
              <a:t>In &lt;button&gt;Send&lt;/button&gt;, what is 'Send'?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8680" y="502920"/>
            <a:ext cx="5486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01AEFD"/>
                </a:solidFill>
              </a:rPr>
              <a:t>QUICK CHECK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828800"/>
            <a:ext cx="105156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A. The content shown on the button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B. The tag's name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C. An attribute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D. A CSS class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Pick one - the answer is on the next slide.</a:t>
            </a:r>
          </a:p>
        </p:txBody>
      </p:sp>
    </p:spTree>
  </p:cSld>
  <p:clrMapOvr>
    <a:masterClrMapping/>
  </p:clrMapOvr>
</p:sld>
</file>

<file path=ppt/slides/slide1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800" b="1">
                <a:solidFill>
                  <a:srgbClr val="1F2A37"/>
                </a:solidFill>
              </a:rPr>
              <a:t>In &lt;button&gt;Send&lt;/button&gt;, what is 'Send'?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8680" y="502920"/>
            <a:ext cx="5486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01AEFD"/>
                </a:solidFill>
              </a:rPr>
              <a:t>ANSWER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828800"/>
            <a:ext cx="105156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A. The content shown on the button (correct)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B. The tag's name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C. An attribute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D. A CSS class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Whatever sits between the opening and closing tags is the content.</a:t>
            </a:r>
          </a:p>
        </p:txBody>
      </p:sp>
    </p:spTree>
  </p:cSld>
  <p:clrMapOvr>
    <a:masterClrMapping/>
  </p:clrMapOvr>
</p:sld>
</file>

<file path=ppt/slides/slide1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800" b="1">
                <a:solidFill>
                  <a:srgbClr val="1F2A37"/>
                </a:solidFill>
              </a:rPr>
              <a:t>In  body { background: #0d1b21; }  what is 'background'?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8680" y="502920"/>
            <a:ext cx="5486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01AEFD"/>
                </a:solidFill>
              </a:rPr>
              <a:t>QUICK CHECK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828800"/>
            <a:ext cx="105156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A. The selector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B. The property being set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C. The value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D. A comment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Pick one - the answer is on the next slide.</a:t>
            </a:r>
          </a:p>
        </p:txBody>
      </p:sp>
    </p:spTree>
  </p:cSld>
  <p:clrMapOvr>
    <a:masterClrMapping/>
  </p:clrMapOvr>
</p:sld>
</file>

<file path=ppt/slides/slide1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800" b="1">
                <a:solidFill>
                  <a:srgbClr val="1F2A37"/>
                </a:solidFill>
              </a:rPr>
              <a:t>In  body { background: #0d1b21; }  what is 'background'?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8680" y="502920"/>
            <a:ext cx="5486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01AEFD"/>
                </a:solidFill>
              </a:rPr>
              <a:t>ANSWER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828800"/>
            <a:ext cx="105156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A. The selector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B. The property being set (correct)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C. The value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D. A comment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A rule is  selector { property: value; }  - background is the property.</a:t>
            </a:r>
          </a:p>
        </p:txBody>
      </p:sp>
    </p:spTree>
  </p:cSld>
  <p:clrMapOvr>
    <a:masterClrMapping/>
  </p:clrMapOvr>
</p:sld>
</file>

<file path=ppt/slides/slide1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800" b="1">
                <a:solidFill>
                  <a:srgbClr val="1F2A37"/>
                </a:solidFill>
              </a:rPr>
              <a:t>Which selector targets elements with class="app"?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8680" y="502920"/>
            <a:ext cx="5486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01AEFD"/>
                </a:solidFill>
              </a:rPr>
              <a:t>QUICK CHECK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828800"/>
            <a:ext cx="105156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A. .app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B. app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C. #app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D. *app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Pick one - the answer is on the next slide.</a:t>
            </a:r>
          </a:p>
        </p:txBody>
      </p:sp>
    </p:spTree>
  </p:cSld>
  <p:clrMapOvr>
    <a:masterClrMapping/>
  </p:clrMapOvr>
</p:sld>
</file>

<file path=ppt/slides/slide1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800" b="1">
                <a:solidFill>
                  <a:srgbClr val="1F2A37"/>
                </a:solidFill>
              </a:rPr>
              <a:t>Which selector targets elements with class="app"?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8680" y="502920"/>
            <a:ext cx="5486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01AEFD"/>
                </a:solidFill>
              </a:rPr>
              <a:t>ANSWER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828800"/>
            <a:ext cx="105156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A. .app (correct)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B. app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C. #app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D. *app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A class selector starts with a dot.</a:t>
            </a:r>
          </a:p>
        </p:txBody>
      </p:sp>
    </p:spTree>
  </p:cSld>
  <p:clrMapOvr>
    <a:masterClrMapping/>
  </p:clrMapOvr>
</p:sld>
</file>

<file path=ppt/slides/slide1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800" b="1">
                <a:solidFill>
                  <a:srgbClr val="1F2A37"/>
                </a:solidFill>
              </a:rPr>
              <a:t>What does  display: flex;  do to a box's children?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8680" y="502920"/>
            <a:ext cx="5486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01AEFD"/>
                </a:solidFill>
              </a:rPr>
              <a:t>QUICK CHECK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828800"/>
            <a:ext cx="105156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A. Lines them up in a row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B. Hides them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C. Makes them bold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D. Deletes them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Pick one - the answer is on the next slide.</a:t>
            </a:r>
          </a:p>
        </p:txBody>
      </p:sp>
    </p:spTree>
  </p:cSld>
  <p:clrMapOvr>
    <a:masterClrMapping/>
  </p:clrMapOvr>
</p:sld>
</file>

<file path=ppt/slides/slide1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800" b="1">
                <a:solidFill>
                  <a:srgbClr val="1F2A37"/>
                </a:solidFill>
              </a:rPr>
              <a:t>What does  display: flex;  do to a box's children?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8680" y="502920"/>
            <a:ext cx="5486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01AEFD"/>
                </a:solidFill>
              </a:rPr>
              <a:t>ANSWER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828800"/>
            <a:ext cx="105156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A. Lines them up in a row (correct)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B. Hides them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C. Makes them bold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D. Deletes them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flex lays a box's children out in a row (or a column).</a:t>
            </a:r>
          </a:p>
        </p:txBody>
      </p:sp>
    </p:spTree>
  </p:cSld>
  <p:clrMapOvr>
    <a:masterClrMapping/>
  </p:clrMapOvr>
</p:sld>
</file>

<file path=ppt/slides/slide1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800" b="1">
                <a:solidFill>
                  <a:srgbClr val="1F2A37"/>
                </a:solidFill>
              </a:rPr>
              <a:t>The script goes at the BOTTOM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828800"/>
            <a:ext cx="105156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The browser reads top to bottom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At the top, the boxes do not exist yet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A script cannot find a page that has not been made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Move it up, press Run, watch it break</a:t>
            </a:r>
          </a:p>
        </p:txBody>
      </p:sp>
    </p:spTree>
  </p:cSld>
  <p:clrMapOvr>
    <a:masterClrMapping/>
  </p:clrMapOvr>
</p:sld>
</file>

<file path=ppt/slides/slide1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800" b="1">
                <a:solidFill>
                  <a:srgbClr val="1F2A37"/>
                </a:solidFill>
              </a:rPr>
              <a:t>The &lt;script&gt; tag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8680" y="502920"/>
            <a:ext cx="5486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01AEFD"/>
                </a:solidFill>
              </a:rPr>
              <a:t>HTML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828800"/>
            <a:ext cx="105156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Loads script.js, the code that makes the page do things.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It goes LAST so the boxes exist before the code looks for them.</a:t>
            </a:r>
          </a:p>
        </p:txBody>
      </p:sp>
    </p:spTree>
  </p:cSld>
  <p:clrMapOvr>
    <a:masterClrMapping/>
  </p:clrMapOvr>
</p:sld>
</file>

<file path=ppt/slides/slide1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1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01AEFD"/>
                </a:solidFill>
              </a:rPr>
              <a:t>Type this into index.html   -   line 15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60120"/>
            <a:ext cx="11155680" cy="4297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14  </a:t>
            </a:r>
            <a:r>
              <a:rPr sz="1800">
                <a:solidFill>
                  <a:srgbClr val="6D8C97"/>
                </a:solidFill>
                <a:latin typeface="Consolas"/>
              </a:rPr>
              <a:t> 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15  </a:t>
            </a:r>
            <a:r>
              <a:rPr sz="1800">
                <a:solidFill>
                  <a:srgbClr val="7FE0A0"/>
                </a:solidFill>
                <a:latin typeface="Consolas"/>
              </a:rPr>
              <a:t>&lt;script src="script.js"&gt;&lt;/script&gt;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23560"/>
            <a:ext cx="110642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>
                <a:solidFill>
                  <a:srgbClr val="DCECEF"/>
                </a:solidFill>
              </a:rPr>
              <a:t>Loads your JavaScript. It sits at the very bottom so every box above already exists when the code runs.</a:t>
            </a:r>
          </a:p>
        </p:txBody>
      </p:sp>
    </p:spTree>
  </p:cSld>
  <p:clrMapOvr>
    <a:masterClrMapping/>
  </p:clrMapOvr>
</p:sld>
</file>

<file path=ppt/slides/slide1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800" b="1">
                <a:solidFill>
                  <a:srgbClr val="1F2A37"/>
                </a:solidFill>
              </a:rPr>
              <a:t>Two buttons you will use every week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828800"/>
            <a:ext cx="105156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Run - nothing happens until you press it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Console - where your code talks to you</a:t>
            </a:r>
          </a:p>
        </p:txBody>
      </p:sp>
    </p:spTree>
  </p:cSld>
  <p:clrMapOvr>
    <a:masterClrMapping/>
  </p:clrMapOvr>
</p:sld>
</file>

<file path=ppt/slides/slide1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800" b="1">
                <a:solidFill>
                  <a:srgbClr val="1F2A37"/>
                </a:solidFill>
              </a:rPr>
              <a:t>A comment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8680" y="502920"/>
            <a:ext cx="5486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01AEFD"/>
                </a:solidFill>
              </a:rPr>
              <a:t>JAVASCRIPT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828800"/>
            <a:ext cx="105156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A line starting with // that the computer ignores.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It is a note for the humans reading the code.</a:t>
            </a:r>
          </a:p>
        </p:txBody>
      </p:sp>
    </p:spTree>
  </p:cSld>
  <p:clrMapOvr>
    <a:masterClrMapping/>
  </p:clrMapOvr>
</p:sld>
</file>

<file path=ppt/slides/slide1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1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01AEFD"/>
                </a:solidFill>
              </a:rPr>
              <a:t>Type this into script.js   -   line 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60120"/>
            <a:ext cx="11155680" cy="4297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1  </a:t>
            </a:r>
            <a:r>
              <a:rPr sz="1800">
                <a:solidFill>
                  <a:srgbClr val="7FE0A0"/>
                </a:solidFill>
                <a:latin typeface="Consolas"/>
              </a:rPr>
              <a:t>// Week 1: prove the JavaScript file is really running.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23560"/>
            <a:ext cx="110642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>
                <a:solidFill>
                  <a:srgbClr val="DCECEF"/>
                </a:solidFill>
              </a:rPr>
              <a:t>A comment: a note for you, ignored by the computer.</a:t>
            </a:r>
          </a:p>
        </p:txBody>
      </p:sp>
    </p:spTree>
  </p:cSld>
  <p:clrMapOvr>
    <a:masterClrMapping/>
  </p:clrMapOvr>
</p:sld>
</file>

<file path=ppt/slides/slide1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800" b="1">
                <a:solidFill>
                  <a:srgbClr val="1F2A37"/>
                </a:solidFill>
              </a:rPr>
              <a:t>A line of JavaScript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8680" y="502920"/>
            <a:ext cx="5486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01AEFD"/>
                </a:solidFill>
              </a:rPr>
              <a:t>JAVASCRIPT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828800"/>
            <a:ext cx="105156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Most lines are one instruction, usually ending in a semicolon ;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The computer runs them top to bottom.</a:t>
            </a:r>
          </a:p>
        </p:txBody>
      </p:sp>
    </p:spTree>
  </p:cSld>
  <p:clrMapOvr>
    <a:masterClrMapping/>
  </p:clrMapOvr>
</p:sld>
</file>

<file path=ppt/slides/slide1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800" b="1">
                <a:solidFill>
                  <a:srgbClr val="1F2A37"/>
                </a:solidFill>
              </a:rPr>
              <a:t>Strings: text in quotes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8680" y="502920"/>
            <a:ext cx="5486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01AEFD"/>
                </a:solidFill>
              </a:rPr>
              <a:t>JAVASCRIPT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828800"/>
            <a:ext cx="105156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Text the computer treats as data goes in quotes: 'hello'.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Single or double quotes both work.</a:t>
            </a:r>
          </a:p>
        </p:txBody>
      </p:sp>
    </p:spTree>
  </p:cSld>
  <p:clrMapOvr>
    <a:masterClrMapping/>
  </p:clrMapOvr>
</p:sld>
</file>

<file path=ppt/slides/slide1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800" b="1">
                <a:solidFill>
                  <a:srgbClr val="1F2A37"/>
                </a:solidFill>
              </a:rPr>
              <a:t>Calling a function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8680" y="502920"/>
            <a:ext cx="5486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01AEFD"/>
                </a:solidFill>
              </a:rPr>
              <a:t>JAVASCRIPT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828800"/>
            <a:ext cx="105156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A name followed by ( ) runs that function.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Whatever is inside the ( ) is what you hand it.</a:t>
            </a:r>
          </a:p>
        </p:txBody>
      </p:sp>
    </p:spTree>
  </p:cSld>
  <p:clrMapOvr>
    <a:masterClrMapping/>
  </p:clrMapOvr>
</p:sld>
</file>

<file path=ppt/slides/slide1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800" b="1">
                <a:solidFill>
                  <a:srgbClr val="1F2A37"/>
                </a:solidFill>
              </a:rPr>
              <a:t>Dot notation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8680" y="502920"/>
            <a:ext cx="5486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01AEFD"/>
                </a:solidFill>
              </a:rPr>
              <a:t>JAVASCRIPT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828800"/>
            <a:ext cx="105156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thing.name reaches INTO thing for one of its parts or actions.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document.getElementById asks document to find something.</a:t>
            </a:r>
          </a:p>
        </p:txBody>
      </p:sp>
    </p:spTree>
  </p:cSld>
  <p:clrMapOvr>
    <a:masterClrMapping/>
  </p:clrMapOvr>
</p:sld>
</file>

<file path=ppt/slides/slide1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800" b="1">
                <a:solidFill>
                  <a:srgbClr val="1F2A37"/>
                </a:solidFill>
              </a:rPr>
              <a:t>console.log()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8680" y="502920"/>
            <a:ext cx="5486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01AEFD"/>
                </a:solidFill>
              </a:rPr>
              <a:t>JAVASCRIPT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828800"/>
            <a:ext cx="105156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A built-in that prints a message to the console panel.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Your window into what the code is doing.</a:t>
            </a:r>
          </a:p>
        </p:txBody>
      </p:sp>
    </p:spTree>
  </p:cSld>
  <p:clrMapOvr>
    <a:masterClrMapping/>
  </p:clrMapOvr>
</p:sld>
</file>

<file path=ppt/slides/slide1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1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01AEFD"/>
                </a:solidFill>
              </a:rPr>
              <a:t>Type this into script.js   -   line 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60120"/>
            <a:ext cx="11155680" cy="4297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1  </a:t>
            </a:r>
            <a:r>
              <a:rPr sz="1800">
                <a:solidFill>
                  <a:srgbClr val="6D8C97"/>
                </a:solidFill>
                <a:latin typeface="Consolas"/>
              </a:rPr>
              <a:t>// Week 1: prove the JavaScript file is really running.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2  </a:t>
            </a:r>
            <a:r>
              <a:rPr sz="1800">
                <a:solidFill>
                  <a:srgbClr val="7FE0A0"/>
                </a:solidFill>
                <a:latin typeface="Consolas"/>
              </a:rPr>
              <a:t>console.log('My AI companion is starting up.');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23560"/>
            <a:ext cx="110642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>
                <a:solidFill>
                  <a:srgbClr val="DCECEF"/>
                </a:solidFill>
              </a:rPr>
              <a:t>console.log prints a message to the console panel - proof the file is running.</a:t>
            </a:r>
          </a:p>
        </p:txBody>
      </p:sp>
    </p:spTree>
  </p:cSld>
  <p:clrMapOvr>
    <a:masterClrMapping/>
  </p:clrMapOvr>
</p:sld>
</file>

<file path=ppt/slides/slide1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1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01AEFD"/>
                </a:solidFill>
              </a:rPr>
              <a:t>Type this into script.js   -   line 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60120"/>
            <a:ext cx="11155680" cy="4297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1  </a:t>
            </a:r>
            <a:r>
              <a:rPr sz="1800">
                <a:solidFill>
                  <a:srgbClr val="6D8C97"/>
                </a:solidFill>
                <a:latin typeface="Consolas"/>
              </a:rPr>
              <a:t>// Week 1: prove the JavaScript file is really running.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2  </a:t>
            </a:r>
            <a:r>
              <a:rPr sz="1800">
                <a:solidFill>
                  <a:srgbClr val="6D8C97"/>
                </a:solidFill>
                <a:latin typeface="Consolas"/>
              </a:rPr>
              <a:t>console.log('My AI companion is starting up.');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3  </a:t>
            </a:r>
            <a:r>
              <a:rPr sz="1800">
                <a:solidFill>
                  <a:srgbClr val="6D8C97"/>
                </a:solidFill>
                <a:latin typeface="Consolas"/>
              </a:rPr>
              <a:t> 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4  </a:t>
            </a:r>
            <a:r>
              <a:rPr sz="1800">
                <a:solidFill>
                  <a:srgbClr val="7FE0A0"/>
                </a:solidFill>
                <a:latin typeface="Consolas"/>
              </a:rPr>
              <a:t>// Can this script see the page yet? Down here, yes.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23560"/>
            <a:ext cx="110642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>
                <a:solidFill>
                  <a:srgbClr val="DCECEF"/>
                </a:solidFill>
              </a:rPr>
              <a:t>Another comment, explaining the check below.</a:t>
            </a:r>
          </a:p>
        </p:txBody>
      </p:sp>
    </p:spTree>
  </p:cSld>
  <p:clrMapOvr>
    <a:masterClrMapping/>
  </p:clrMapOvr>
</p:sld>
</file>

<file path=ppt/slides/slide1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1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01AEFD"/>
                </a:solidFill>
              </a:rPr>
              <a:t>Type this into script.js   -   line 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60120"/>
            <a:ext cx="11155680" cy="4297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1  </a:t>
            </a:r>
            <a:r>
              <a:rPr sz="1800">
                <a:solidFill>
                  <a:srgbClr val="6D8C97"/>
                </a:solidFill>
                <a:latin typeface="Consolas"/>
              </a:rPr>
              <a:t>// Week 1: prove the JavaScript file is really running.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2  </a:t>
            </a:r>
            <a:r>
              <a:rPr sz="1800">
                <a:solidFill>
                  <a:srgbClr val="6D8C97"/>
                </a:solidFill>
                <a:latin typeface="Consolas"/>
              </a:rPr>
              <a:t>console.log('My AI companion is starting up.');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3  </a:t>
            </a:r>
            <a:r>
              <a:rPr sz="1800">
                <a:solidFill>
                  <a:srgbClr val="6D8C97"/>
                </a:solidFill>
                <a:latin typeface="Consolas"/>
              </a:rPr>
              <a:t> 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4  </a:t>
            </a:r>
            <a:r>
              <a:rPr sz="1800">
                <a:solidFill>
                  <a:srgbClr val="6D8C97"/>
                </a:solidFill>
                <a:latin typeface="Consolas"/>
              </a:rPr>
              <a:t>// Can this script see the page yet? Down here, yes.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5  </a:t>
            </a:r>
            <a:r>
              <a:rPr sz="1800">
                <a:solidFill>
                  <a:srgbClr val="7FE0A0"/>
                </a:solidFill>
                <a:latin typeface="Consolas"/>
              </a:rPr>
              <a:t>// Move the &lt;script&gt; tag to the TOP of index.html and this prints false,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23560"/>
            <a:ext cx="110642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>
                <a:solidFill>
                  <a:srgbClr val="DCECEF"/>
                </a:solidFill>
              </a:rPr>
              <a:t>A comment continued: what would happen if the script ran too early.</a:t>
            </a:r>
          </a:p>
        </p:txBody>
      </p:sp>
    </p:spTree>
  </p:cSld>
  <p:clrMapOvr>
    <a:masterClrMapping/>
  </p:clrMapOvr>
</p:sld>
</file>

<file path=ppt/slides/slide1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1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01AEFD"/>
                </a:solidFill>
              </a:rPr>
              <a:t>Type this into script.js   -   line 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60120"/>
            <a:ext cx="11155680" cy="4297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1  </a:t>
            </a:r>
            <a:r>
              <a:rPr sz="1800">
                <a:solidFill>
                  <a:srgbClr val="6D8C97"/>
                </a:solidFill>
                <a:latin typeface="Consolas"/>
              </a:rPr>
              <a:t>// Week 1: prove the JavaScript file is really running.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2  </a:t>
            </a:r>
            <a:r>
              <a:rPr sz="1800">
                <a:solidFill>
                  <a:srgbClr val="6D8C97"/>
                </a:solidFill>
                <a:latin typeface="Consolas"/>
              </a:rPr>
              <a:t>console.log('My AI companion is starting up.');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3  </a:t>
            </a:r>
            <a:r>
              <a:rPr sz="1800">
                <a:solidFill>
                  <a:srgbClr val="6D8C97"/>
                </a:solidFill>
                <a:latin typeface="Consolas"/>
              </a:rPr>
              <a:t> 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4  </a:t>
            </a:r>
            <a:r>
              <a:rPr sz="1800">
                <a:solidFill>
                  <a:srgbClr val="6D8C97"/>
                </a:solidFill>
                <a:latin typeface="Consolas"/>
              </a:rPr>
              <a:t>// Can this script see the page yet? Down here, yes.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5  </a:t>
            </a:r>
            <a:r>
              <a:rPr sz="1800">
                <a:solidFill>
                  <a:srgbClr val="6D8C97"/>
                </a:solidFill>
                <a:latin typeface="Consolas"/>
              </a:rPr>
              <a:t>// Move the &lt;script&gt; tag to the TOP of index.html and this prints false,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6  </a:t>
            </a:r>
            <a:r>
              <a:rPr sz="1800">
                <a:solidFill>
                  <a:srgbClr val="7FE0A0"/>
                </a:solidFill>
                <a:latin typeface="Consolas"/>
              </a:rPr>
              <a:t>// because the boxes have not been made yet. That is why it goes last.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23560"/>
            <a:ext cx="110642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>
                <a:solidFill>
                  <a:srgbClr val="DCECEF"/>
                </a:solidFill>
              </a:rPr>
              <a:t>The comment's last line: which is why the &lt;script&gt; tag goes at the bottom.</a:t>
            </a:r>
          </a:p>
        </p:txBody>
      </p:sp>
    </p:spTree>
  </p:cSld>
  <p:clrMapOvr>
    <a:masterClrMapping/>
  </p:clrMapOvr>
</p:sld>
</file>

<file path=ppt/slides/slide1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800" b="1">
                <a:solidFill>
                  <a:srgbClr val="1F2A37"/>
                </a:solidFill>
              </a:rPr>
              <a:t>document.getElementById()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8680" y="502920"/>
            <a:ext cx="5486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01AEFD"/>
                </a:solidFill>
              </a:rPr>
              <a:t>JAVASCRIPT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828800"/>
            <a:ext cx="105156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A built-in that finds a box on the page by its id.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Hands you the box, or null if it is not there.</a:t>
            </a:r>
          </a:p>
        </p:txBody>
      </p:sp>
    </p:spTree>
  </p:cSld>
  <p:clrMapOvr>
    <a:masterClrMapping/>
  </p:clrMapOvr>
</p:sld>
</file>

<file path=ppt/slides/slide1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365760"/>
            <a:ext cx="7315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01AEFD"/>
                </a:solidFill>
              </a:rPr>
              <a:t>ON THE PAGE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658368"/>
            <a:ext cx="10515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>
                <a:solidFill>
                  <a:srgbClr val="1F2A37"/>
                </a:solidFill>
              </a:rPr>
              <a:t>document.getElementById()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454237" y="1641896"/>
            <a:ext cx="5249387" cy="3918021"/>
          </a:xfrm>
          <a:prstGeom prst="roundRect">
            <a:avLst/>
          </a:prstGeom>
          <a:solidFill>
            <a:srgbClr val="0F1F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3606393" y="2022287"/>
            <a:ext cx="4945075" cy="437448"/>
          </a:xfrm>
          <a:prstGeom prst="roundRect">
            <a:avLst/>
          </a:prstGeom>
          <a:solidFill>
            <a:srgbClr val="1630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3720510" y="2155423"/>
            <a:ext cx="1426463" cy="190195"/>
          </a:xfrm>
          <a:prstGeom prst="roundRect">
            <a:avLst/>
          </a:prstGeom>
          <a:solidFill>
            <a:srgbClr val="4A6B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3606393" y="2554833"/>
            <a:ext cx="4945075" cy="1730776"/>
          </a:xfrm>
          <a:prstGeom prst="roundRect">
            <a:avLst/>
          </a:prstGeom>
          <a:solidFill>
            <a:srgbClr val="0B17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3720510" y="2668950"/>
            <a:ext cx="2852927" cy="399409"/>
          </a:xfrm>
          <a:prstGeom prst="roundRect">
            <a:avLst/>
          </a:prstGeom>
          <a:solidFill>
            <a:srgbClr val="1B35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5584423" y="3182477"/>
            <a:ext cx="2852927" cy="399409"/>
          </a:xfrm>
          <a:prstGeom prst="roundRect">
            <a:avLst/>
          </a:prstGeom>
          <a:solidFill>
            <a:srgbClr val="123A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3720510" y="3696004"/>
            <a:ext cx="3138220" cy="399409"/>
          </a:xfrm>
          <a:prstGeom prst="roundRect">
            <a:avLst/>
          </a:prstGeom>
          <a:solidFill>
            <a:srgbClr val="1B35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3701491" y="4409236"/>
            <a:ext cx="1426463" cy="228234"/>
          </a:xfrm>
          <a:prstGeom prst="roundRect">
            <a:avLst/>
          </a:prstGeom>
          <a:solidFill>
            <a:srgbClr val="1630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5223052" y="4409236"/>
            <a:ext cx="1426463" cy="228234"/>
          </a:xfrm>
          <a:prstGeom prst="roundRect">
            <a:avLst/>
          </a:prstGeom>
          <a:solidFill>
            <a:srgbClr val="1630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3701491" y="4856195"/>
            <a:ext cx="3899001" cy="323331"/>
          </a:xfrm>
          <a:prstGeom prst="roundRect">
            <a:avLst/>
          </a:prstGeom>
          <a:solidFill>
            <a:srgbClr val="1630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7695590" y="4856195"/>
            <a:ext cx="779800" cy="323331"/>
          </a:xfrm>
          <a:prstGeom prst="roundRect">
            <a:avLst/>
          </a:prstGeom>
          <a:solidFill>
            <a:srgbClr val="01AE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3720510" y="5407761"/>
            <a:ext cx="1616659" cy="95097"/>
          </a:xfrm>
          <a:prstGeom prst="roundRect">
            <a:avLst/>
          </a:prstGeom>
          <a:solidFill>
            <a:srgbClr val="2A45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3663452" y="4818156"/>
            <a:ext cx="3975079" cy="399409"/>
          </a:xfrm>
          <a:prstGeom prst="roundRect">
            <a:avLst/>
          </a:prstGeom>
          <a:noFill/>
          <a:ln w="44450">
            <a:solidFill>
              <a:srgbClr val="FFD6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2960" y="617220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>
                <a:solidFill>
                  <a:srgbClr val="0A6299"/>
                </a:solidFill>
              </a:rPr>
              <a:t>getElementById grabs an element like this box.</a:t>
            </a:r>
          </a:p>
        </p:txBody>
      </p:sp>
    </p:spTree>
  </p:cSld>
  <p:clrMapOvr>
    <a:masterClrMapping/>
  </p:clrMapOvr>
</p:sld>
</file>

<file path=ppt/slides/slide1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1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01AEFD"/>
                </a:solidFill>
              </a:rPr>
              <a:t>Type this into script.js   -   line 7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60120"/>
            <a:ext cx="11155680" cy="4297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1  </a:t>
            </a:r>
            <a:r>
              <a:rPr sz="1800">
                <a:solidFill>
                  <a:srgbClr val="6D8C97"/>
                </a:solidFill>
                <a:latin typeface="Consolas"/>
              </a:rPr>
              <a:t>// Week 1: prove the JavaScript file is really running.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2  </a:t>
            </a:r>
            <a:r>
              <a:rPr sz="1800">
                <a:solidFill>
                  <a:srgbClr val="6D8C97"/>
                </a:solidFill>
                <a:latin typeface="Consolas"/>
              </a:rPr>
              <a:t>console.log('My AI companion is starting up.');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3  </a:t>
            </a:r>
            <a:r>
              <a:rPr sz="1800">
                <a:solidFill>
                  <a:srgbClr val="6D8C97"/>
                </a:solidFill>
                <a:latin typeface="Consolas"/>
              </a:rPr>
              <a:t> 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4  </a:t>
            </a:r>
            <a:r>
              <a:rPr sz="1800">
                <a:solidFill>
                  <a:srgbClr val="6D8C97"/>
                </a:solidFill>
                <a:latin typeface="Consolas"/>
              </a:rPr>
              <a:t>// Can this script see the page yet? Down here, yes.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5  </a:t>
            </a:r>
            <a:r>
              <a:rPr sz="1800">
                <a:solidFill>
                  <a:srgbClr val="6D8C97"/>
                </a:solidFill>
                <a:latin typeface="Consolas"/>
              </a:rPr>
              <a:t>// Move the &lt;script&gt; tag to the TOP of index.html and this prints false,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6  </a:t>
            </a:r>
            <a:r>
              <a:rPr sz="1800">
                <a:solidFill>
                  <a:srgbClr val="6D8C97"/>
                </a:solidFill>
                <a:latin typeface="Consolas"/>
              </a:rPr>
              <a:t>// because the boxes have not been made yet. That is why it goes last.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7  </a:t>
            </a:r>
            <a:r>
              <a:rPr sz="1800">
                <a:solidFill>
                  <a:srgbClr val="7FE0A0"/>
                </a:solidFill>
                <a:latin typeface="Consolas"/>
              </a:rPr>
              <a:t>console.log('Can I see the chat box?', document.getElementById('chat') !== null);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23560"/>
            <a:ext cx="110642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>
                <a:solidFill>
                  <a:srgbClr val="DCECEF"/>
                </a:solidFill>
              </a:rPr>
              <a:t>getElementById looks for the chat box; !== null is true only if it was found. Because the script is at the bottom, it prints true.</a:t>
            </a:r>
          </a:p>
        </p:txBody>
      </p:sp>
    </p:spTree>
  </p:cSld>
  <p:clrMapOvr>
    <a:masterClrMapping/>
  </p:clrMapOvr>
</p:sld>
</file>

<file path=ppt/slides/slide1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1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01AEFD"/>
                </a:solidFill>
              </a:rPr>
              <a:t>All together in script.js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60120"/>
            <a:ext cx="11155680" cy="4297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1  </a:t>
            </a:r>
            <a:r>
              <a:rPr sz="1800">
                <a:solidFill>
                  <a:srgbClr val="7FE0A0"/>
                </a:solidFill>
                <a:latin typeface="Consolas"/>
              </a:rPr>
              <a:t>// Week 1: prove the JavaScript file is really running.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2  </a:t>
            </a:r>
            <a:r>
              <a:rPr sz="1800">
                <a:solidFill>
                  <a:srgbClr val="7FE0A0"/>
                </a:solidFill>
                <a:latin typeface="Consolas"/>
              </a:rPr>
              <a:t>console.log('My AI companion is starting up.');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3  </a:t>
            </a:r>
            <a:r>
              <a:rPr sz="1800">
                <a:solidFill>
                  <a:srgbClr val="7FE0A0"/>
                </a:solidFill>
                <a:latin typeface="Consolas"/>
              </a:rPr>
              <a:t> 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4  </a:t>
            </a:r>
            <a:r>
              <a:rPr sz="1800">
                <a:solidFill>
                  <a:srgbClr val="7FE0A0"/>
                </a:solidFill>
                <a:latin typeface="Consolas"/>
              </a:rPr>
              <a:t>// Can this script see the page yet? Down here, yes.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5  </a:t>
            </a:r>
            <a:r>
              <a:rPr sz="1800">
                <a:solidFill>
                  <a:srgbClr val="7FE0A0"/>
                </a:solidFill>
                <a:latin typeface="Consolas"/>
              </a:rPr>
              <a:t>// Move the &lt;script&gt; tag to the TOP of index.html and this prints false,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6  </a:t>
            </a:r>
            <a:r>
              <a:rPr sz="1800">
                <a:solidFill>
                  <a:srgbClr val="7FE0A0"/>
                </a:solidFill>
                <a:latin typeface="Consolas"/>
              </a:rPr>
              <a:t>// because the boxes have not been made yet. That is why it goes last.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7  </a:t>
            </a:r>
            <a:r>
              <a:rPr sz="1800">
                <a:solidFill>
                  <a:srgbClr val="7FE0A0"/>
                </a:solidFill>
                <a:latin typeface="Consolas"/>
              </a:rPr>
              <a:t>console.log('Can I see the chat box?', document.getElementById('chat') !== null);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23560"/>
            <a:ext cx="110642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>
                <a:solidFill>
                  <a:srgbClr val="DCECEF"/>
                </a:solidFill>
              </a:rPr>
              <a:t>That is the whole piece. Check yours looks the same before moving on.</a:t>
            </a:r>
          </a:p>
        </p:txBody>
      </p:sp>
    </p:spTree>
  </p:cSld>
  <p:clrMapOvr>
    <a:masterClrMapping/>
  </p:clrMapOvr>
</p:sld>
</file>

<file path=ppt/slides/slide1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800" b="1">
                <a:solidFill>
                  <a:srgbClr val="1F2A37"/>
                </a:solidFill>
              </a:rPr>
              <a:t>id = a name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828800"/>
            <a:ext cx="105156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&lt;div id="chat"&gt;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Next week JavaScript uses that name to find the box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Names must be spelled exactly the same in both files</a:t>
            </a:r>
          </a:p>
        </p:txBody>
      </p:sp>
    </p:spTree>
  </p:cSld>
  <p:clrMapOvr>
    <a:masterClrMapping/>
  </p:clrMapOvr>
</p:sld>
</file>

<file path=ppt/slides/slide1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800" b="1">
                <a:solidFill>
                  <a:srgbClr val="1F2A37"/>
                </a:solidFill>
              </a:rPr>
              <a:t>Checkpoint: your page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8680" y="502920"/>
            <a:ext cx="5486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01AEFD"/>
                </a:solidFill>
              </a:rPr>
              <a:t>CHECKPOINT - RUN IT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828800"/>
            <a:ext cx="105156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800">
                <a:solidFill>
                  <a:srgbClr val="01AEFD"/>
                </a:solidFill>
              </a:rPr>
              <a:t>Press Run. You should see the title, an empty white chat box, and a text box with a blue Send button - all styled. Clicking Send does nothing yet; that is next week.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Run it in the classroom, or press Show the output in the web deck.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Everyone's screen should match this.</a:t>
            </a:r>
          </a:p>
        </p:txBody>
      </p:sp>
    </p:spTree>
  </p:cSld>
  <p:clrMapOvr>
    <a:masterClrMapping/>
  </p:clrMapOvr>
</p:sld>
</file>

<file path=ppt/slides/slide1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800" b="1">
                <a:solidFill>
                  <a:srgbClr val="1F2A37"/>
                </a:solidFill>
              </a:rPr>
              <a:t>Your turn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828800"/>
            <a:ext cx="105156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800">
                <a:solidFill>
                  <a:srgbClr val="01AEFD"/>
                </a:solidFill>
              </a:rPr>
              <a:t>Make it yours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Change the title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Change the colours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Press Run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