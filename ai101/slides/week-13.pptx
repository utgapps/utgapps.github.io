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Week 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Characters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Four companions. One app.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How many copies of askAI?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One. Only the words change.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Data beats code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Four buttons by hand = four nearly identical chunks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Four personalities in an object = one chunk, any number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One of the most useful ideas you will learn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An object as a lookup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PRESETS['Storyteller']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name goes in, a personality comes out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Same shape as { role, content } from week 7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labels are just character names now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Object.keys gives you every label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1AEFD"/>
                </a:solidFill>
              </a:rPr>
              <a:t>Type this into script.js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5394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26  </a:t>
            </a:r>
            <a:r>
              <a:rPr sz="17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27  </a:t>
            </a:r>
            <a:r>
              <a:rPr sz="1700">
                <a:solidFill>
                  <a:srgbClr val="7FE0A0"/>
                </a:solidFill>
                <a:latin typeface="Consolas"/>
              </a:rPr>
              <a:t>// Week 13: personalities as DATA, not as code. Adding a character means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28  </a:t>
            </a:r>
            <a:r>
              <a:rPr sz="1700">
                <a:solidFill>
                  <a:srgbClr val="7FE0A0"/>
                </a:solidFill>
                <a:latin typeface="Consolas"/>
              </a:rPr>
              <a:t>// adding one line here - the buttons build themselves from this object.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29  </a:t>
            </a:r>
            <a:r>
              <a:rPr sz="1700">
                <a:solidFill>
                  <a:srgbClr val="7FE0A0"/>
                </a:solidFill>
                <a:latin typeface="Consolas"/>
              </a:rPr>
              <a:t>const PRESETS = {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30  </a:t>
            </a:r>
            <a:r>
              <a:rPr sz="1700">
                <a:solidFill>
                  <a:srgbClr val="7FE0A0"/>
                </a:solidFill>
                <a:latin typeface="Consolas"/>
              </a:rPr>
              <a:t>  'Patient helper': 'You are a friendly, patient helper for a 13-year-old. Keep answers under 60 words. If you are not sure, say so.',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31  </a:t>
            </a:r>
            <a:r>
              <a:rPr sz="1700">
                <a:solidFill>
                  <a:srgbClr val="7FE0A0"/>
                </a:solidFill>
                <a:latin typeface="Consolas"/>
              </a:rPr>
              <a:t>  'Storyteller': 'You tell short adventure stories. Always end on a cliffhanger and offer two choices for what happens next.',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32  </a:t>
            </a:r>
            <a:r>
              <a:rPr sz="1700">
                <a:solidFill>
                  <a:srgbClr val="7FE0A0"/>
                </a:solidFill>
                <a:latin typeface="Consolas"/>
              </a:rPr>
              <a:t>  'Quiz master': 'You ask one multiple-choice question at a time about whatever topic the user names. Wait for an answer before saying if it was right.',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33  </a:t>
            </a:r>
            <a:r>
              <a:rPr sz="1700">
                <a:solidFill>
                  <a:srgbClr val="7FE0A0"/>
                </a:solidFill>
                <a:latin typeface="Consolas"/>
              </a:rPr>
              <a:t>  'Rubber duck': 'You never give answers. You only ask short questions that help the user work it out themselves.'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34  </a:t>
            </a:r>
            <a:r>
              <a:rPr sz="1700">
                <a:solidFill>
                  <a:srgbClr val="7FE0A0"/>
                </a:solidFill>
                <a:latin typeface="Consolas"/>
              </a:rPr>
              <a:t>};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Add a fifth character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Watch what happens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One new line in PRESETS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new button appears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You wrote no new code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1AEFD"/>
                </a:solidFill>
              </a:rPr>
              <a:t>Type this into index.html  (1 of 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5394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 6  </a:t>
            </a:r>
            <a:r>
              <a:rPr sz="1700">
                <a:solidFill>
                  <a:srgbClr val="DCECEF"/>
                </a:solidFill>
                <a:latin typeface="Consolas"/>
              </a:rPr>
              <a:t>  &lt;details class="setup"&gt;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 7  </a:t>
            </a:r>
            <a:r>
              <a:rPr sz="1700">
                <a:solidFill>
                  <a:srgbClr val="DCECEF"/>
                </a:solidFill>
                <a:latin typeface="Consolas"/>
              </a:rPr>
              <a:t>    &lt;summary&gt;Personality&lt;/summary&gt;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 8  </a:t>
            </a:r>
            <a:r>
              <a:rPr sz="1700">
                <a:solidFill>
                  <a:srgbClr val="7FE0A0"/>
                </a:solidFill>
                <a:latin typeface="Consolas"/>
              </a:rPr>
              <a:t>    &lt;div id="presets" class="presets"&gt;&lt;/div&gt;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 9  </a:t>
            </a:r>
            <a:r>
              <a:rPr sz="1700">
                <a:solidFill>
                  <a:srgbClr val="DCECEF"/>
                </a:solidFill>
                <a:latin typeface="Consolas"/>
              </a:rPr>
              <a:t>    &lt;textarea id="persona" rows="3"&gt;You are a friendly, patient helper for a 13-year-old. Keep answers under 60 words. If you are not sure, say so.&lt;/textarea&gt;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10  </a:t>
            </a:r>
            <a:r>
              <a:rPr sz="1700">
                <a:solidFill>
                  <a:srgbClr val="DCECEF"/>
                </a:solidFill>
                <a:latin typeface="Consolas"/>
              </a:rPr>
              <a:t>  &lt;/details&gt;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1AEFD"/>
                </a:solidFill>
              </a:rPr>
              <a:t>Type this into script.js  (2 of 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5394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 8  </a:t>
            </a:r>
            <a:r>
              <a:rPr sz="1400">
                <a:solidFill>
                  <a:srgbClr val="DCECEF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 9  </a:t>
            </a:r>
            <a:r>
              <a:rPr sz="1400">
                <a:solidFill>
                  <a:srgbClr val="DCECEF"/>
                </a:solidFill>
                <a:latin typeface="Consolas"/>
              </a:rPr>
              <a:t>// Week 2: find the boxes we named in index.html.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10  </a:t>
            </a:r>
            <a:r>
              <a:rPr sz="1400">
                <a:solidFill>
                  <a:srgbClr val="DCECEF"/>
                </a:solidFill>
                <a:latin typeface="Consolas"/>
              </a:rPr>
              <a:t>// document.getElementById looks for the id= we wrote on each element.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11  </a:t>
            </a:r>
            <a:r>
              <a:rPr sz="1400">
                <a:solidFill>
                  <a:srgbClr val="DCECEF"/>
                </a:solidFill>
                <a:latin typeface="Consolas"/>
              </a:rPr>
              <a:t>const chat = document.getElementById('chat');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12  </a:t>
            </a:r>
            <a:r>
              <a:rPr sz="1400">
                <a:solidFill>
                  <a:srgbClr val="DCECEF"/>
                </a:solidFill>
                <a:latin typeface="Consolas"/>
              </a:rPr>
              <a:t>const composer = document.getElementById('composer');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13  </a:t>
            </a:r>
            <a:r>
              <a:rPr sz="1400">
                <a:solidFill>
                  <a:srgbClr val="DCECEF"/>
                </a:solidFill>
                <a:latin typeface="Consolas"/>
              </a:rPr>
              <a:t>const promptBox = document.getElementById('prompt');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14  </a:t>
            </a:r>
            <a:r>
              <a:rPr sz="1400">
                <a:solidFill>
                  <a:srgbClr val="DCECEF"/>
                </a:solidFill>
                <a:latin typeface="Consolas"/>
              </a:rPr>
              <a:t>const personaBox = document.getElementById('persona');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15  </a:t>
            </a:r>
            <a:r>
              <a:rPr sz="1400">
                <a:solidFill>
                  <a:srgbClr val="7FE0A0"/>
                </a:solidFill>
                <a:latin typeface="Consolas"/>
              </a:rPr>
              <a:t>const presetBox = document.getElementById('presets');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16  </a:t>
            </a:r>
            <a:r>
              <a:rPr sz="1400">
                <a:solidFill>
                  <a:srgbClr val="DCECEF"/>
                </a:solidFill>
                <a:latin typeface="Consolas"/>
              </a:rPr>
              <a:t>const modelBox = document.getElementById('model');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17  </a:t>
            </a:r>
            <a:r>
              <a:rPr sz="1400">
                <a:solidFill>
                  <a:srgbClr val="DCECEF"/>
                </a:solidFill>
                <a:latin typeface="Consolas"/>
              </a:rPr>
              <a:t>const tempBox = document.getElementById('temp');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18  </a:t>
            </a:r>
            <a:r>
              <a:rPr sz="1400">
                <a:solidFill>
                  <a:srgbClr val="DCECEF"/>
                </a:solidFill>
                <a:latin typeface="Consolas"/>
              </a:rPr>
              <a:t>const tempOut = document.getElementById('tempOut');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19  </a:t>
            </a:r>
            <a:r>
              <a:rPr sz="1400">
                <a:solidFill>
                  <a:srgbClr val="DCECEF"/>
                </a:solidFill>
                <a:latin typeface="Consolas"/>
              </a:rPr>
              <a:t>const transcriptBox = document.getElementById('transcript');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20  </a:t>
            </a:r>
            <a:r>
              <a:rPr sz="1400">
                <a:solidFill>
                  <a:srgbClr val="DCECEF"/>
                </a:solidFill>
                <a:latin typeface="Consolas"/>
              </a:rPr>
              <a:t>const saveButton = document.getElementById('save');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21  </a:t>
            </a:r>
            <a:r>
              <a:rPr sz="1400">
                <a:solidFill>
                  <a:srgbClr val="DCECEF"/>
                </a:solidFill>
                <a:latin typeface="Consolas"/>
              </a:rPr>
              <a:t>const loadButton = document.getElementById('load');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1AEFD"/>
                </a:solidFill>
              </a:rPr>
              <a:t>Type this into script.js  (3 of 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5394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151  </a:t>
            </a:r>
            <a:r>
              <a:rPr sz="1400">
                <a:solidFill>
                  <a:srgbClr val="DCECEF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152  </a:t>
            </a:r>
            <a:r>
              <a:rPr sz="1400">
                <a:solidFill>
                  <a:srgbClr val="DCECEF"/>
                </a:solidFill>
                <a:latin typeface="Consolas"/>
              </a:rPr>
              <a:t>// Week 9: show the slider's value so the number means something.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153  </a:t>
            </a:r>
            <a:r>
              <a:rPr sz="1400">
                <a:solidFill>
                  <a:srgbClr val="DCECEF"/>
                </a:solidFill>
                <a:latin typeface="Consolas"/>
              </a:rPr>
              <a:t>tempBox.addEventListener('input', function () {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154  </a:t>
            </a:r>
            <a:r>
              <a:rPr sz="1400">
                <a:solidFill>
                  <a:srgbClr val="DCECEF"/>
                </a:solidFill>
                <a:latin typeface="Consolas"/>
              </a:rPr>
              <a:t>  tempOut.textContent = tempBox.value;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155  </a:t>
            </a:r>
            <a:r>
              <a:rPr sz="1400">
                <a:solidFill>
                  <a:srgbClr val="DCECEF"/>
                </a:solidFill>
                <a:latin typeface="Consolas"/>
              </a:rPr>
              <a:t>});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156  </a:t>
            </a:r>
            <a:r>
              <a:rPr sz="1400">
                <a:solidFill>
                  <a:srgbClr val="DCECEF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157  </a:t>
            </a:r>
            <a:r>
              <a:rPr sz="1400">
                <a:solidFill>
                  <a:srgbClr val="7FE0A0"/>
                </a:solidFill>
                <a:latin typeface="Consolas"/>
              </a:rPr>
              <a:t>// Week 13: build one button per character. Object.keys gives the names.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158  </a:t>
            </a:r>
            <a:r>
              <a:rPr sz="1400">
                <a:solidFill>
                  <a:srgbClr val="7FE0A0"/>
                </a:solidFill>
                <a:latin typeface="Consolas"/>
              </a:rPr>
              <a:t>for (const name of Object.keys(PRESETS)) {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159  </a:t>
            </a:r>
            <a:r>
              <a:rPr sz="1400">
                <a:solidFill>
                  <a:srgbClr val="7FE0A0"/>
                </a:solidFill>
                <a:latin typeface="Consolas"/>
              </a:rPr>
              <a:t>  const button = document.createElement('button');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160  </a:t>
            </a:r>
            <a:r>
              <a:rPr sz="1400">
                <a:solidFill>
                  <a:srgbClr val="7FE0A0"/>
                </a:solidFill>
                <a:latin typeface="Consolas"/>
              </a:rPr>
              <a:t>  button.type = 'button';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161  </a:t>
            </a:r>
            <a:r>
              <a:rPr sz="1400">
                <a:solidFill>
                  <a:srgbClr val="7FE0A0"/>
                </a:solidFill>
                <a:latin typeface="Consolas"/>
              </a:rPr>
              <a:t>  button.className = 'preset';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162  </a:t>
            </a:r>
            <a:r>
              <a:rPr sz="1400">
                <a:solidFill>
                  <a:srgbClr val="7FE0A0"/>
                </a:solidFill>
                <a:latin typeface="Consolas"/>
              </a:rPr>
              <a:t>  button.textContent = name;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163  </a:t>
            </a:r>
            <a:r>
              <a:rPr sz="1400">
                <a:solidFill>
                  <a:srgbClr val="7FE0A0"/>
                </a:solidFill>
                <a:latin typeface="Consolas"/>
              </a:rPr>
              <a:t>  button.addEventListener('click', function () {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164  </a:t>
            </a:r>
            <a:r>
              <a:rPr sz="1400">
                <a:solidFill>
                  <a:srgbClr val="7FE0A0"/>
                </a:solidFill>
                <a:latin typeface="Consolas"/>
              </a:rPr>
              <a:t>    personaBox.value = PRESETS[name];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165  </a:t>
            </a:r>
            <a:r>
              <a:rPr sz="1400">
                <a:solidFill>
                  <a:srgbClr val="7FE0A0"/>
                </a:solidFill>
                <a:latin typeface="Consolas"/>
              </a:rPr>
              <a:t>  });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1AEFD"/>
                </a:solidFill>
              </a:rPr>
              <a:t>Type this into script.js  (4 of 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5394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166  </a:t>
            </a:r>
            <a:r>
              <a:rPr sz="1700">
                <a:solidFill>
                  <a:srgbClr val="7FE0A0"/>
                </a:solidFill>
                <a:latin typeface="Consolas"/>
              </a:rPr>
              <a:t>  presetBox.appendChild(button);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167  </a:t>
            </a:r>
            <a:r>
              <a:rPr sz="17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1AEFD"/>
                </a:solidFill>
              </a:rPr>
              <a:t>Type this into style.css  (5 of 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5394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84  </a:t>
            </a:r>
            <a:r>
              <a:rPr sz="1400">
                <a:solidFill>
                  <a:srgbClr val="DCECEF"/>
                </a:solidFill>
                <a:latin typeface="Consolas"/>
              </a:rPr>
              <a:t>.bubble.writing::after {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85  </a:t>
            </a:r>
            <a:r>
              <a:rPr sz="1400">
                <a:solidFill>
                  <a:srgbClr val="DCECEF"/>
                </a:solidFill>
                <a:latin typeface="Consolas"/>
              </a:rPr>
              <a:t>  content: "\258C";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86  </a:t>
            </a:r>
            <a:r>
              <a:rPr sz="1400">
                <a:solidFill>
                  <a:srgbClr val="DCECEF"/>
                </a:solidFill>
                <a:latin typeface="Consolas"/>
              </a:rPr>
              <a:t>  color: #01aefd;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87  </a:t>
            </a:r>
            <a:r>
              <a:rPr sz="1400">
                <a:solidFill>
                  <a:srgbClr val="DCECEF"/>
                </a:solidFill>
                <a:latin typeface="Consolas"/>
              </a:rPr>
              <a:t>  animation: blink 1s steps(2, start) infinite;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88  </a:t>
            </a:r>
            <a:r>
              <a:rPr sz="1400">
                <a:solidFill>
                  <a:srgbClr val="DCECEF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89  </a:t>
            </a:r>
            <a:r>
              <a:rPr sz="1400">
                <a:solidFill>
                  <a:srgbClr val="DCECEF"/>
                </a:solidFill>
                <a:latin typeface="Consolas"/>
              </a:rPr>
              <a:t>@keyframes blink { to { visibility: hidden; } }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90  </a:t>
            </a:r>
            <a:r>
              <a:rPr sz="1400">
                <a:solidFill>
                  <a:srgbClr val="7FE0A0"/>
                </a:solidFill>
                <a:latin typeface="Consolas"/>
              </a:rPr>
              <a:t>.presets { display: flex; flex-wrap: wrap; gap: 6px; margin-bottom: 8px; }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91  </a:t>
            </a:r>
            <a:r>
              <a:rPr sz="1400">
                <a:solidFill>
                  <a:srgbClr val="7FE0A0"/>
                </a:solidFill>
                <a:latin typeface="Consolas"/>
              </a:rPr>
              <a:t>.preset {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92  </a:t>
            </a:r>
            <a:r>
              <a:rPr sz="1400">
                <a:solidFill>
                  <a:srgbClr val="7FE0A0"/>
                </a:solidFill>
                <a:latin typeface="Consolas"/>
              </a:rPr>
              <a:t>  padding: 5px 11px;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93  </a:t>
            </a:r>
            <a:r>
              <a:rPr sz="1400">
                <a:solidFill>
                  <a:srgbClr val="7FE0A0"/>
                </a:solidFill>
                <a:latin typeface="Consolas"/>
              </a:rPr>
              <a:t>  border: 1px solid #dbe3ec;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94  </a:t>
            </a:r>
            <a:r>
              <a:rPr sz="1400">
                <a:solidFill>
                  <a:srgbClr val="7FE0A0"/>
                </a:solidFill>
                <a:latin typeface="Consolas"/>
              </a:rPr>
              <a:t>  border-radius: 20px;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95  </a:t>
            </a:r>
            <a:r>
              <a:rPr sz="1400">
                <a:solidFill>
                  <a:srgbClr val="7FE0A0"/>
                </a:solidFill>
                <a:latin typeface="Consolas"/>
              </a:rPr>
              <a:t>  background: #ffffff;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96  </a:t>
            </a:r>
            <a:r>
              <a:rPr sz="1400">
                <a:solidFill>
                  <a:srgbClr val="7FE0A0"/>
                </a:solidFill>
                <a:latin typeface="Consolas"/>
              </a:rPr>
              <a:t>  font-size: 13px;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97  </a:t>
            </a:r>
            <a:r>
              <a:rPr sz="1400">
                <a:solidFill>
                  <a:srgbClr val="7FE0A0"/>
                </a:solidFill>
                <a:latin typeface="Consolas"/>
              </a:rPr>
              <a:t>  cursor: pointer;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98  </a:t>
            </a:r>
            <a:r>
              <a:rPr sz="14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1AEFD"/>
                </a:solidFill>
              </a:rPr>
              <a:t>Type this into style.css  (6 of 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5394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99  </a:t>
            </a:r>
            <a:r>
              <a:rPr sz="1700">
                <a:solidFill>
                  <a:srgbClr val="7FE0A0"/>
                </a:solidFill>
                <a:latin typeface="Consolas"/>
              </a:rPr>
              <a:t>.preset:hover { border-color: #01aefd; color: #0a6299; }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One source of truth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buttons come from the personalities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They can never disagree with each other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Now make it yours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Colours, font, name, characters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should look like nobody else's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Week 15 is show and tell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