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  <p:sldId id="296" r:id="rId47"/>
    <p:sldId id="297" r:id="rId48"/>
    <p:sldId id="298" r:id="rId49"/>
    <p:sldId id="299" r:id="rId50"/>
    <p:sldId id="300" r:id="rId51"/>
    <p:sldId id="301" r:id="rId52"/>
    <p:sldId id="302" r:id="rId53"/>
    <p:sldId id="303" r:id="rId54"/>
    <p:sldId id="304" r:id="rId55"/>
    <p:sldId id="305" r:id="rId56"/>
    <p:sldId id="306" r:id="rId5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Relationship Id="rId47" Type="http://schemas.openxmlformats.org/officeDocument/2006/relationships/slide" Target="slides/slide41.xml"/><Relationship Id="rId48" Type="http://schemas.openxmlformats.org/officeDocument/2006/relationships/slide" Target="slides/slide42.xml"/><Relationship Id="rId49" Type="http://schemas.openxmlformats.org/officeDocument/2006/relationships/slide" Target="slides/slide43.xml"/><Relationship Id="rId50" Type="http://schemas.openxmlformats.org/officeDocument/2006/relationships/slide" Target="slides/slide44.xml"/><Relationship Id="rId51" Type="http://schemas.openxmlformats.org/officeDocument/2006/relationships/slide" Target="slides/slide45.xml"/><Relationship Id="rId52" Type="http://schemas.openxmlformats.org/officeDocument/2006/relationships/slide" Target="slides/slide46.xml"/><Relationship Id="rId53" Type="http://schemas.openxmlformats.org/officeDocument/2006/relationships/slide" Target="slides/slide47.xml"/><Relationship Id="rId54" Type="http://schemas.openxmlformats.org/officeDocument/2006/relationships/slide" Target="slides/slide48.xml"/><Relationship Id="rId55" Type="http://schemas.openxmlformats.org/officeDocument/2006/relationships/slide" Target="slides/slide49.xml"/><Relationship Id="rId56" Type="http://schemas.openxmlformats.org/officeDocument/2006/relationships/slide" Target="slides/slide50.xml"/><Relationship Id="rId57" Type="http://schemas.openxmlformats.org/officeDocument/2006/relationships/slide" Target="slides/slide5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Week 13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800">
                <a:solidFill>
                  <a:srgbClr val="01AEFD"/>
                </a:solidFill>
              </a:rPr>
              <a:t>Characters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Four companions. One app.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How many copies of askAI?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One. Only the words change.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Data beats code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Four buttons by hand = four nearly identical chunks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Four personalities in an object = one chunk, any number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One of the most useful ideas you will learn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An object as a lookup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800">
                <a:solidFill>
                  <a:srgbClr val="01AEFD"/>
                </a:solidFill>
              </a:rPr>
              <a:t>PRESETS['Storyteller']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A name goes in, a personality comes out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Same shape as { role, content } from week 7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The labels are just character names now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Object.keys gives you every label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script.js   -   line 37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34  </a:t>
            </a:r>
            <a:r>
              <a:rPr sz="18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35  </a:t>
            </a:r>
            <a:r>
              <a:rPr sz="1800">
                <a:solidFill>
                  <a:srgbClr val="6D8C97"/>
                </a:solidFill>
                <a:latin typeface="Consolas"/>
              </a:rPr>
              <a:t>// Week 13: personalities as DATA, not as code. Adding a character means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36  </a:t>
            </a:r>
            <a:r>
              <a:rPr sz="1800">
                <a:solidFill>
                  <a:srgbClr val="6D8C97"/>
                </a:solidFill>
                <a:latin typeface="Consolas"/>
              </a:rPr>
              <a:t>// adding one line here - the buttons build themselves from this object.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37  </a:t>
            </a:r>
            <a:r>
              <a:rPr sz="1800">
                <a:solidFill>
                  <a:srgbClr val="7FE0A0"/>
                </a:solidFill>
                <a:latin typeface="Consolas"/>
              </a:rPr>
              <a:t>const PRESETS = {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A dictionary of characters: each name maps to a personality instruction. Adding a character is one line.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script.js   -   line 38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34  </a:t>
            </a:r>
            <a:r>
              <a:rPr sz="18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35  </a:t>
            </a:r>
            <a:r>
              <a:rPr sz="1800">
                <a:solidFill>
                  <a:srgbClr val="6D8C97"/>
                </a:solidFill>
                <a:latin typeface="Consolas"/>
              </a:rPr>
              <a:t>// Week 13: personalities as DATA, not as code. Adding a character means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36  </a:t>
            </a:r>
            <a:r>
              <a:rPr sz="1800">
                <a:solidFill>
                  <a:srgbClr val="6D8C97"/>
                </a:solidFill>
                <a:latin typeface="Consolas"/>
              </a:rPr>
              <a:t>// adding one line here - the buttons build themselves from this object.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37  </a:t>
            </a:r>
            <a:r>
              <a:rPr sz="1800">
                <a:solidFill>
                  <a:srgbClr val="6D8C97"/>
                </a:solidFill>
                <a:latin typeface="Consolas"/>
              </a:rPr>
              <a:t>const PRESETS = {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38  </a:t>
            </a:r>
            <a:r>
              <a:rPr sz="1800">
                <a:solidFill>
                  <a:srgbClr val="7FE0A0"/>
                </a:solidFill>
                <a:latin typeface="Consolas"/>
              </a:rPr>
              <a:t>  'Patient helper': 'You are a friendly, patient helper for a 13-year-old. Keep answers under 60 words. If you are not sure, say so.',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The first: the name 'Patient helper' points to its system prompt.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script.js   -   line 39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34  </a:t>
            </a:r>
            <a:r>
              <a:rPr sz="18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35  </a:t>
            </a:r>
            <a:r>
              <a:rPr sz="1800">
                <a:solidFill>
                  <a:srgbClr val="6D8C97"/>
                </a:solidFill>
                <a:latin typeface="Consolas"/>
              </a:rPr>
              <a:t>// Week 13: personalities as DATA, not as code. Adding a character means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36  </a:t>
            </a:r>
            <a:r>
              <a:rPr sz="1800">
                <a:solidFill>
                  <a:srgbClr val="6D8C97"/>
                </a:solidFill>
                <a:latin typeface="Consolas"/>
              </a:rPr>
              <a:t>// adding one line here - the buttons build themselves from this object.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37  </a:t>
            </a:r>
            <a:r>
              <a:rPr sz="1800">
                <a:solidFill>
                  <a:srgbClr val="6D8C97"/>
                </a:solidFill>
                <a:latin typeface="Consolas"/>
              </a:rPr>
              <a:t>const PRESETS = {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38  </a:t>
            </a:r>
            <a:r>
              <a:rPr sz="1800">
                <a:solidFill>
                  <a:srgbClr val="6D8C97"/>
                </a:solidFill>
                <a:latin typeface="Consolas"/>
              </a:rPr>
              <a:t>  'Patient helper': 'You are a friendly, patient helper for a 13-year-old. Keep answers under 60 words. If you are not sure, say so.',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39  </a:t>
            </a:r>
            <a:r>
              <a:rPr sz="1800">
                <a:solidFill>
                  <a:srgbClr val="7FE0A0"/>
                </a:solidFill>
                <a:latin typeface="Consolas"/>
              </a:rPr>
              <a:t>  'Storyteller': 'You tell short adventure stories. Always end on a cliffhanger and offer two choices for what happens next.',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A storyteller character.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script.js   -   line 40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34  </a:t>
            </a:r>
            <a:r>
              <a:rPr sz="18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35  </a:t>
            </a:r>
            <a:r>
              <a:rPr sz="1800">
                <a:solidFill>
                  <a:srgbClr val="6D8C97"/>
                </a:solidFill>
                <a:latin typeface="Consolas"/>
              </a:rPr>
              <a:t>// Week 13: personalities as DATA, not as code. Adding a character means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36  </a:t>
            </a:r>
            <a:r>
              <a:rPr sz="1800">
                <a:solidFill>
                  <a:srgbClr val="6D8C97"/>
                </a:solidFill>
                <a:latin typeface="Consolas"/>
              </a:rPr>
              <a:t>// adding one line here - the buttons build themselves from this object.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37  </a:t>
            </a:r>
            <a:r>
              <a:rPr sz="1800">
                <a:solidFill>
                  <a:srgbClr val="6D8C97"/>
                </a:solidFill>
                <a:latin typeface="Consolas"/>
              </a:rPr>
              <a:t>const PRESETS = {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38  </a:t>
            </a:r>
            <a:r>
              <a:rPr sz="1800">
                <a:solidFill>
                  <a:srgbClr val="6D8C97"/>
                </a:solidFill>
                <a:latin typeface="Consolas"/>
              </a:rPr>
              <a:t>  'Patient helper': 'You are a friendly, patient helper for a 13-year-old. Keep answers under 60 words. If you are not sure, say so.',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39  </a:t>
            </a:r>
            <a:r>
              <a:rPr sz="1800">
                <a:solidFill>
                  <a:srgbClr val="6D8C97"/>
                </a:solidFill>
                <a:latin typeface="Consolas"/>
              </a:rPr>
              <a:t>  'Storyteller': 'You tell short adventure stories. Always end on a cliffhanger and offer two choices for what happens next.',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40  </a:t>
            </a:r>
            <a:r>
              <a:rPr sz="1800">
                <a:solidFill>
                  <a:srgbClr val="7FE0A0"/>
                </a:solidFill>
                <a:latin typeface="Consolas"/>
              </a:rPr>
              <a:t>  'Quiz master': 'You ask one multiple-choice question at a time about whatever topic the user names. Wait for an answer before saying if it was right.',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A quiz-master character.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script.js   -   line 41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34  </a:t>
            </a:r>
            <a:r>
              <a:rPr sz="18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35  </a:t>
            </a:r>
            <a:r>
              <a:rPr sz="1800">
                <a:solidFill>
                  <a:srgbClr val="6D8C97"/>
                </a:solidFill>
                <a:latin typeface="Consolas"/>
              </a:rPr>
              <a:t>// Week 13: personalities as DATA, not as code. Adding a character means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36  </a:t>
            </a:r>
            <a:r>
              <a:rPr sz="1800">
                <a:solidFill>
                  <a:srgbClr val="6D8C97"/>
                </a:solidFill>
                <a:latin typeface="Consolas"/>
              </a:rPr>
              <a:t>// adding one line here - the buttons build themselves from this object.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37  </a:t>
            </a:r>
            <a:r>
              <a:rPr sz="1800">
                <a:solidFill>
                  <a:srgbClr val="6D8C97"/>
                </a:solidFill>
                <a:latin typeface="Consolas"/>
              </a:rPr>
              <a:t>const PRESETS = {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38  </a:t>
            </a:r>
            <a:r>
              <a:rPr sz="1800">
                <a:solidFill>
                  <a:srgbClr val="6D8C97"/>
                </a:solidFill>
                <a:latin typeface="Consolas"/>
              </a:rPr>
              <a:t>  'Patient helper': 'You are a friendly, patient helper for a 13-year-old. Keep answers under 60 words. If you are not sure, say so.',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39  </a:t>
            </a:r>
            <a:r>
              <a:rPr sz="1800">
                <a:solidFill>
                  <a:srgbClr val="6D8C97"/>
                </a:solidFill>
                <a:latin typeface="Consolas"/>
              </a:rPr>
              <a:t>  'Storyteller': 'You tell short adventure stories. Always end on a cliffhanger and offer two choices for what happens next.',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40  </a:t>
            </a:r>
            <a:r>
              <a:rPr sz="1800">
                <a:solidFill>
                  <a:srgbClr val="6D8C97"/>
                </a:solidFill>
                <a:latin typeface="Consolas"/>
              </a:rPr>
              <a:t>  'Quiz master': 'You ask one multiple-choice question at a time about whatever topic the user names. Wait for an answer before saying if it was right.',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41  </a:t>
            </a:r>
            <a:r>
              <a:rPr sz="1800">
                <a:solidFill>
                  <a:srgbClr val="7FE0A0"/>
                </a:solidFill>
                <a:latin typeface="Consolas"/>
              </a:rPr>
              <a:t>  'Rubber duck': 'You never give answers. You only ask short questions that help the user work it out themselves.'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A rubber-duck character (no comma - it is the last one).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script.js   -   line 42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34  </a:t>
            </a:r>
            <a:r>
              <a:rPr sz="18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35  </a:t>
            </a:r>
            <a:r>
              <a:rPr sz="1800">
                <a:solidFill>
                  <a:srgbClr val="6D8C97"/>
                </a:solidFill>
                <a:latin typeface="Consolas"/>
              </a:rPr>
              <a:t>// Week 13: personalities as DATA, not as code. Adding a character means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36  </a:t>
            </a:r>
            <a:r>
              <a:rPr sz="1800">
                <a:solidFill>
                  <a:srgbClr val="6D8C97"/>
                </a:solidFill>
                <a:latin typeface="Consolas"/>
              </a:rPr>
              <a:t>// adding one line here - the buttons build themselves from this object.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37  </a:t>
            </a:r>
            <a:r>
              <a:rPr sz="1800">
                <a:solidFill>
                  <a:srgbClr val="6D8C97"/>
                </a:solidFill>
                <a:latin typeface="Consolas"/>
              </a:rPr>
              <a:t>const PRESETS = {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38  </a:t>
            </a:r>
            <a:r>
              <a:rPr sz="1800">
                <a:solidFill>
                  <a:srgbClr val="6D8C97"/>
                </a:solidFill>
                <a:latin typeface="Consolas"/>
              </a:rPr>
              <a:t>  'Patient helper': 'You are a friendly, patient helper for a 13-year-old. Keep answers under 60 words. If you are not sure, say so.',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39  </a:t>
            </a:r>
            <a:r>
              <a:rPr sz="1800">
                <a:solidFill>
                  <a:srgbClr val="6D8C97"/>
                </a:solidFill>
                <a:latin typeface="Consolas"/>
              </a:rPr>
              <a:t>  'Storyteller': 'You tell short adventure stories. Always end on a cliffhanger and offer two choices for what happens next.',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40  </a:t>
            </a:r>
            <a:r>
              <a:rPr sz="1800">
                <a:solidFill>
                  <a:srgbClr val="6D8C97"/>
                </a:solidFill>
                <a:latin typeface="Consolas"/>
              </a:rPr>
              <a:t>  'Quiz master': 'You ask one multiple-choice question at a time about whatever topic the user names. Wait for an answer before saying if it was right.',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41  </a:t>
            </a:r>
            <a:r>
              <a:rPr sz="1800">
                <a:solidFill>
                  <a:srgbClr val="6D8C97"/>
                </a:solidFill>
                <a:latin typeface="Consolas"/>
              </a:rPr>
              <a:t>  'Rubber duck': 'You never give answers. You only ask short questions that help the user work it out themselves.'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42  </a:t>
            </a:r>
            <a:r>
              <a:rPr sz="1800">
                <a:solidFill>
                  <a:srgbClr val="7FE0A0"/>
                </a:solidFill>
                <a:latin typeface="Consolas"/>
              </a:rPr>
              <a:t>};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Close the object.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All together in script.js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34  </a:t>
            </a:r>
            <a:r>
              <a:rPr sz="1800">
                <a:solidFill>
                  <a:srgbClr val="7FE0A0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35  </a:t>
            </a:r>
            <a:r>
              <a:rPr sz="1800">
                <a:solidFill>
                  <a:srgbClr val="7FE0A0"/>
                </a:solidFill>
                <a:latin typeface="Consolas"/>
              </a:rPr>
              <a:t>// Week 13: personalities as DATA, not as code. Adding a character means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36  </a:t>
            </a:r>
            <a:r>
              <a:rPr sz="1800">
                <a:solidFill>
                  <a:srgbClr val="7FE0A0"/>
                </a:solidFill>
                <a:latin typeface="Consolas"/>
              </a:rPr>
              <a:t>// adding one line here - the buttons build themselves from this object.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37  </a:t>
            </a:r>
            <a:r>
              <a:rPr sz="1800">
                <a:solidFill>
                  <a:srgbClr val="7FE0A0"/>
                </a:solidFill>
                <a:latin typeface="Consolas"/>
              </a:rPr>
              <a:t>const PRESETS = {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38  </a:t>
            </a:r>
            <a:r>
              <a:rPr sz="1800">
                <a:solidFill>
                  <a:srgbClr val="7FE0A0"/>
                </a:solidFill>
                <a:latin typeface="Consolas"/>
              </a:rPr>
              <a:t>  'Patient helper': 'You are a friendly, patient helper for a 13-year-old. Keep answers under 60 words. If you are not sure, say so.',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39  </a:t>
            </a:r>
            <a:r>
              <a:rPr sz="1800">
                <a:solidFill>
                  <a:srgbClr val="7FE0A0"/>
                </a:solidFill>
                <a:latin typeface="Consolas"/>
              </a:rPr>
              <a:t>  'Storyteller': 'You tell short adventure stories. Always end on a cliffhanger and offer two choices for what happens next.',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40  </a:t>
            </a:r>
            <a:r>
              <a:rPr sz="1800">
                <a:solidFill>
                  <a:srgbClr val="7FE0A0"/>
                </a:solidFill>
                <a:latin typeface="Consolas"/>
              </a:rPr>
              <a:t>  'Quiz master': 'You ask one multiple-choice question at a time about whatever topic the user names. Wait for an answer before saying if it was right.',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41  </a:t>
            </a:r>
            <a:r>
              <a:rPr sz="1800">
                <a:solidFill>
                  <a:srgbClr val="7FE0A0"/>
                </a:solidFill>
                <a:latin typeface="Consolas"/>
              </a:rPr>
              <a:t>  'Rubber duck': 'You never give answers. You only ask short questions that help the user work it out themselves.'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42  </a:t>
            </a:r>
            <a:r>
              <a:rPr sz="1800">
                <a:solidFill>
                  <a:srgbClr val="7FE0A0"/>
                </a:solidFill>
                <a:latin typeface="Consolas"/>
              </a:rPr>
              <a:t>};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That is the whole piece. Check yours looks the same before moving on.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Add a fifth character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800">
                <a:solidFill>
                  <a:srgbClr val="01AEFD"/>
                </a:solidFill>
              </a:rPr>
              <a:t>Watch what happens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One new line in PRESETS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A new button appears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You wrote no new code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index.html   -   line 10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8  </a:t>
            </a:r>
            <a:r>
              <a:rPr sz="1800">
                <a:solidFill>
                  <a:srgbClr val="6D8C97"/>
                </a:solidFill>
                <a:latin typeface="Consolas"/>
              </a:rPr>
              <a:t>  &lt;details class="setup"&gt;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9  </a:t>
            </a:r>
            <a:r>
              <a:rPr sz="1800">
                <a:solidFill>
                  <a:srgbClr val="6D8C97"/>
                </a:solidFill>
                <a:latin typeface="Consolas"/>
              </a:rPr>
              <a:t>    &lt;summary&gt;Personality&lt;/summary&gt;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10  </a:t>
            </a:r>
            <a:r>
              <a:rPr sz="1800">
                <a:solidFill>
                  <a:srgbClr val="7FE0A0"/>
                </a:solidFill>
                <a:latin typeface="Consolas"/>
              </a:rPr>
              <a:t>    &lt;div id="presets" class="presets"&gt;&lt;/div&gt;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An empty box where the character buttons will appear. The code fills it in.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script.js   -   line 23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16  </a:t>
            </a:r>
            <a:r>
              <a:rPr sz="18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17  </a:t>
            </a:r>
            <a:r>
              <a:rPr sz="1800">
                <a:solidFill>
                  <a:srgbClr val="6D8C97"/>
                </a:solidFill>
                <a:latin typeface="Consolas"/>
              </a:rPr>
              <a:t>// Week 2: find the boxes we named in index.html.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18  </a:t>
            </a:r>
            <a:r>
              <a:rPr sz="1800">
                <a:solidFill>
                  <a:srgbClr val="6D8C97"/>
                </a:solidFill>
                <a:latin typeface="Consolas"/>
              </a:rPr>
              <a:t>// document.getElementById looks for the id= we wrote on each element.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19  </a:t>
            </a:r>
            <a:r>
              <a:rPr sz="1800">
                <a:solidFill>
                  <a:srgbClr val="6D8C97"/>
                </a:solidFill>
                <a:latin typeface="Consolas"/>
              </a:rPr>
              <a:t>const chat = document.getElementById('chat');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20  </a:t>
            </a:r>
            <a:r>
              <a:rPr sz="1800">
                <a:solidFill>
                  <a:srgbClr val="6D8C97"/>
                </a:solidFill>
                <a:latin typeface="Consolas"/>
              </a:rPr>
              <a:t>const composer = document.getElementById('composer');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21  </a:t>
            </a:r>
            <a:r>
              <a:rPr sz="1800">
                <a:solidFill>
                  <a:srgbClr val="6D8C97"/>
                </a:solidFill>
                <a:latin typeface="Consolas"/>
              </a:rPr>
              <a:t>const promptBox = document.getElementById('prompt');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22  </a:t>
            </a:r>
            <a:r>
              <a:rPr sz="1800">
                <a:solidFill>
                  <a:srgbClr val="6D8C97"/>
                </a:solidFill>
                <a:latin typeface="Consolas"/>
              </a:rPr>
              <a:t>const personaBox = document.getElementById('persona');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23  </a:t>
            </a:r>
            <a:r>
              <a:rPr sz="1800">
                <a:solidFill>
                  <a:srgbClr val="7FE0A0"/>
                </a:solidFill>
                <a:latin typeface="Consolas"/>
              </a:rPr>
              <a:t>const presetBox = document.getElementById('presets');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Find the empty box that will hold the character buttons.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Object.keys()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502920"/>
            <a:ext cx="5486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01AEFD"/>
                </a:solidFill>
              </a:rPr>
              <a:t>JAVASCRIPT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800">
                <a:solidFill>
                  <a:srgbClr val="01AEFD"/>
                </a:solidFill>
              </a:rPr>
              <a:t>Object.keys(PRESETS)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The list of an object's key NAMES (objects were week 3).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Object.keys(PRESETS) gives every character's name.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Feed that list to for...of (week 8) to build one button each.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script.js   -   line 169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162  </a:t>
            </a:r>
            <a:r>
              <a:rPr sz="18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163  </a:t>
            </a:r>
            <a:r>
              <a:rPr sz="1800">
                <a:solidFill>
                  <a:srgbClr val="6D8C97"/>
                </a:solidFill>
                <a:latin typeface="Consolas"/>
              </a:rPr>
              <a:t>// Week 9: show the slider's value so the number means something.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164  </a:t>
            </a:r>
            <a:r>
              <a:rPr sz="1800">
                <a:solidFill>
                  <a:srgbClr val="6D8C97"/>
                </a:solidFill>
                <a:latin typeface="Consolas"/>
              </a:rPr>
              <a:t>tempBox.addEventListener('input', function () {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165  </a:t>
            </a:r>
            <a:r>
              <a:rPr sz="1800">
                <a:solidFill>
                  <a:srgbClr val="6D8C97"/>
                </a:solidFill>
                <a:latin typeface="Consolas"/>
              </a:rPr>
              <a:t>  tempOut.textContent = tempBox.value;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166  </a:t>
            </a:r>
            <a:r>
              <a:rPr sz="1800">
                <a:solidFill>
                  <a:srgbClr val="6D8C97"/>
                </a:solidFill>
                <a:latin typeface="Consolas"/>
              </a:rPr>
              <a:t>});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167  </a:t>
            </a:r>
            <a:r>
              <a:rPr sz="18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168  </a:t>
            </a:r>
            <a:r>
              <a:rPr sz="1800">
                <a:solidFill>
                  <a:srgbClr val="6D8C97"/>
                </a:solidFill>
                <a:latin typeface="Consolas"/>
              </a:rPr>
              <a:t>// Week 13: build one button per character. Object.keys gives the names.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169  </a:t>
            </a:r>
            <a:r>
              <a:rPr sz="1800">
                <a:solidFill>
                  <a:srgbClr val="7FE0A0"/>
                </a:solidFill>
                <a:latin typeface="Consolas"/>
              </a:rPr>
              <a:t>for (const name of Object.keys(PRESETS)) {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Loop over every character name. Object.keys(PRESETS) is the list of names.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script.js   -   line 170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162  </a:t>
            </a:r>
            <a:r>
              <a:rPr sz="18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163  </a:t>
            </a:r>
            <a:r>
              <a:rPr sz="1800">
                <a:solidFill>
                  <a:srgbClr val="6D8C97"/>
                </a:solidFill>
                <a:latin typeface="Consolas"/>
              </a:rPr>
              <a:t>// Week 9: show the slider's value so the number means something.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164  </a:t>
            </a:r>
            <a:r>
              <a:rPr sz="1800">
                <a:solidFill>
                  <a:srgbClr val="6D8C97"/>
                </a:solidFill>
                <a:latin typeface="Consolas"/>
              </a:rPr>
              <a:t>tempBox.addEventListener('input', function () {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165  </a:t>
            </a:r>
            <a:r>
              <a:rPr sz="1800">
                <a:solidFill>
                  <a:srgbClr val="6D8C97"/>
                </a:solidFill>
                <a:latin typeface="Consolas"/>
              </a:rPr>
              <a:t>  tempOut.textContent = tempBox.value;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166  </a:t>
            </a:r>
            <a:r>
              <a:rPr sz="1800">
                <a:solidFill>
                  <a:srgbClr val="6D8C97"/>
                </a:solidFill>
                <a:latin typeface="Consolas"/>
              </a:rPr>
              <a:t>});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167  </a:t>
            </a:r>
            <a:r>
              <a:rPr sz="18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168  </a:t>
            </a:r>
            <a:r>
              <a:rPr sz="1800">
                <a:solidFill>
                  <a:srgbClr val="6D8C97"/>
                </a:solidFill>
                <a:latin typeface="Consolas"/>
              </a:rPr>
              <a:t>// Week 13: build one button per character. Object.keys gives the names.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169  </a:t>
            </a:r>
            <a:r>
              <a:rPr sz="1800">
                <a:solidFill>
                  <a:srgbClr val="6D8C97"/>
                </a:solidFill>
                <a:latin typeface="Consolas"/>
              </a:rPr>
              <a:t>for (const name of Object.keys(PRESETS)) {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170  </a:t>
            </a:r>
            <a:r>
              <a:rPr sz="1800">
                <a:solidFill>
                  <a:srgbClr val="7FE0A0"/>
                </a:solidFill>
                <a:latin typeface="Consolas"/>
              </a:rPr>
              <a:t>  const button = document.createElement('button');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Make a button element.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script.js   -   line 171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162  </a:t>
            </a:r>
            <a:r>
              <a:rPr sz="18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163  </a:t>
            </a:r>
            <a:r>
              <a:rPr sz="1800">
                <a:solidFill>
                  <a:srgbClr val="6D8C97"/>
                </a:solidFill>
                <a:latin typeface="Consolas"/>
              </a:rPr>
              <a:t>// Week 9: show the slider's value so the number means something.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164  </a:t>
            </a:r>
            <a:r>
              <a:rPr sz="1800">
                <a:solidFill>
                  <a:srgbClr val="6D8C97"/>
                </a:solidFill>
                <a:latin typeface="Consolas"/>
              </a:rPr>
              <a:t>tempBox.addEventListener('input', function () {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165  </a:t>
            </a:r>
            <a:r>
              <a:rPr sz="1800">
                <a:solidFill>
                  <a:srgbClr val="6D8C97"/>
                </a:solidFill>
                <a:latin typeface="Consolas"/>
              </a:rPr>
              <a:t>  tempOut.textContent = tempBox.value;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166  </a:t>
            </a:r>
            <a:r>
              <a:rPr sz="1800">
                <a:solidFill>
                  <a:srgbClr val="6D8C97"/>
                </a:solidFill>
                <a:latin typeface="Consolas"/>
              </a:rPr>
              <a:t>});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167  </a:t>
            </a:r>
            <a:r>
              <a:rPr sz="18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168  </a:t>
            </a:r>
            <a:r>
              <a:rPr sz="1800">
                <a:solidFill>
                  <a:srgbClr val="6D8C97"/>
                </a:solidFill>
                <a:latin typeface="Consolas"/>
              </a:rPr>
              <a:t>// Week 13: build one button per character. Object.keys gives the names.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169  </a:t>
            </a:r>
            <a:r>
              <a:rPr sz="1800">
                <a:solidFill>
                  <a:srgbClr val="6D8C97"/>
                </a:solidFill>
                <a:latin typeface="Consolas"/>
              </a:rPr>
              <a:t>for (const name of Object.keys(PRESETS)) {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170  </a:t>
            </a:r>
            <a:r>
              <a:rPr sz="1800">
                <a:solidFill>
                  <a:srgbClr val="6D8C97"/>
                </a:solidFill>
                <a:latin typeface="Consolas"/>
              </a:rPr>
              <a:t>  const button = document.createElement('button');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171  </a:t>
            </a:r>
            <a:r>
              <a:rPr sz="1800">
                <a:solidFill>
                  <a:srgbClr val="7FE0A0"/>
                </a:solidFill>
                <a:latin typeface="Consolas"/>
              </a:rPr>
              <a:t>  button.type = 'button';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type = 'button' so it does NOT submit the chat form.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script.js   -   line 172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162  </a:t>
            </a:r>
            <a:r>
              <a:rPr sz="13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163  </a:t>
            </a:r>
            <a:r>
              <a:rPr sz="1300">
                <a:solidFill>
                  <a:srgbClr val="6D8C97"/>
                </a:solidFill>
                <a:latin typeface="Consolas"/>
              </a:rPr>
              <a:t>// Week 9: show the slider's value so the number means something.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164  </a:t>
            </a:r>
            <a:r>
              <a:rPr sz="1300">
                <a:solidFill>
                  <a:srgbClr val="6D8C97"/>
                </a:solidFill>
                <a:latin typeface="Consolas"/>
              </a:rPr>
              <a:t>tempBox.addEventListener('input', function ()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165  </a:t>
            </a:r>
            <a:r>
              <a:rPr sz="1300">
                <a:solidFill>
                  <a:srgbClr val="6D8C97"/>
                </a:solidFill>
                <a:latin typeface="Consolas"/>
              </a:rPr>
              <a:t>  tempOut.textContent = tempBox.value;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166  </a:t>
            </a:r>
            <a:r>
              <a:rPr sz="1300">
                <a:solidFill>
                  <a:srgbClr val="6D8C97"/>
                </a:solidFill>
                <a:latin typeface="Consolas"/>
              </a:rPr>
              <a:t>});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167  </a:t>
            </a:r>
            <a:r>
              <a:rPr sz="13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168  </a:t>
            </a:r>
            <a:r>
              <a:rPr sz="1300">
                <a:solidFill>
                  <a:srgbClr val="6D8C97"/>
                </a:solidFill>
                <a:latin typeface="Consolas"/>
              </a:rPr>
              <a:t>// Week 13: build one button per character. Object.keys gives the names.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169  </a:t>
            </a:r>
            <a:r>
              <a:rPr sz="1300">
                <a:solidFill>
                  <a:srgbClr val="6D8C97"/>
                </a:solidFill>
                <a:latin typeface="Consolas"/>
              </a:rPr>
              <a:t>for (const name of Object.keys(PRESETS))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170  </a:t>
            </a:r>
            <a:r>
              <a:rPr sz="1300">
                <a:solidFill>
                  <a:srgbClr val="6D8C97"/>
                </a:solidFill>
                <a:latin typeface="Consolas"/>
              </a:rPr>
              <a:t>  const button = document.createElement('button');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171  </a:t>
            </a:r>
            <a:r>
              <a:rPr sz="1300">
                <a:solidFill>
                  <a:srgbClr val="6D8C97"/>
                </a:solidFill>
                <a:latin typeface="Consolas"/>
              </a:rPr>
              <a:t>  button.type = 'button';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172  </a:t>
            </a:r>
            <a:r>
              <a:rPr sz="1300">
                <a:solidFill>
                  <a:srgbClr val="7FE0A0"/>
                </a:solidFill>
                <a:latin typeface="Consolas"/>
              </a:rPr>
              <a:t>  button.className = 'preset';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Give it the 'preset' class for styling.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script.js   -   line 173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162  </a:t>
            </a:r>
            <a:r>
              <a:rPr sz="13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163  </a:t>
            </a:r>
            <a:r>
              <a:rPr sz="1300">
                <a:solidFill>
                  <a:srgbClr val="6D8C97"/>
                </a:solidFill>
                <a:latin typeface="Consolas"/>
              </a:rPr>
              <a:t>// Week 9: show the slider's value so the number means something.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164  </a:t>
            </a:r>
            <a:r>
              <a:rPr sz="1300">
                <a:solidFill>
                  <a:srgbClr val="6D8C97"/>
                </a:solidFill>
                <a:latin typeface="Consolas"/>
              </a:rPr>
              <a:t>tempBox.addEventListener('input', function ()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165  </a:t>
            </a:r>
            <a:r>
              <a:rPr sz="1300">
                <a:solidFill>
                  <a:srgbClr val="6D8C97"/>
                </a:solidFill>
                <a:latin typeface="Consolas"/>
              </a:rPr>
              <a:t>  tempOut.textContent = tempBox.value;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166  </a:t>
            </a:r>
            <a:r>
              <a:rPr sz="1300">
                <a:solidFill>
                  <a:srgbClr val="6D8C97"/>
                </a:solidFill>
                <a:latin typeface="Consolas"/>
              </a:rPr>
              <a:t>});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167  </a:t>
            </a:r>
            <a:r>
              <a:rPr sz="13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168  </a:t>
            </a:r>
            <a:r>
              <a:rPr sz="1300">
                <a:solidFill>
                  <a:srgbClr val="6D8C97"/>
                </a:solidFill>
                <a:latin typeface="Consolas"/>
              </a:rPr>
              <a:t>// Week 13: build one button per character. Object.keys gives the names.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169  </a:t>
            </a:r>
            <a:r>
              <a:rPr sz="1300">
                <a:solidFill>
                  <a:srgbClr val="6D8C97"/>
                </a:solidFill>
                <a:latin typeface="Consolas"/>
              </a:rPr>
              <a:t>for (const name of Object.keys(PRESETS))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170  </a:t>
            </a:r>
            <a:r>
              <a:rPr sz="1300">
                <a:solidFill>
                  <a:srgbClr val="6D8C97"/>
                </a:solidFill>
                <a:latin typeface="Consolas"/>
              </a:rPr>
              <a:t>  const button = document.createElement('button');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171  </a:t>
            </a:r>
            <a:r>
              <a:rPr sz="1300">
                <a:solidFill>
                  <a:srgbClr val="6D8C97"/>
                </a:solidFill>
                <a:latin typeface="Consolas"/>
              </a:rPr>
              <a:t>  button.type = 'button';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172  </a:t>
            </a:r>
            <a:r>
              <a:rPr sz="1300">
                <a:solidFill>
                  <a:srgbClr val="6D8C97"/>
                </a:solidFill>
                <a:latin typeface="Consolas"/>
              </a:rPr>
              <a:t>  button.className = 'preset';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173  </a:t>
            </a:r>
            <a:r>
              <a:rPr sz="1300">
                <a:solidFill>
                  <a:srgbClr val="7FE0A0"/>
                </a:solidFill>
                <a:latin typeface="Consolas"/>
              </a:rPr>
              <a:t>  button.textContent = name;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Show the character's name on it.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script.js   -   line 174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162  </a:t>
            </a:r>
            <a:r>
              <a:rPr sz="13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163  </a:t>
            </a:r>
            <a:r>
              <a:rPr sz="1300">
                <a:solidFill>
                  <a:srgbClr val="6D8C97"/>
                </a:solidFill>
                <a:latin typeface="Consolas"/>
              </a:rPr>
              <a:t>// Week 9: show the slider's value so the number means something.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164  </a:t>
            </a:r>
            <a:r>
              <a:rPr sz="1300">
                <a:solidFill>
                  <a:srgbClr val="6D8C97"/>
                </a:solidFill>
                <a:latin typeface="Consolas"/>
              </a:rPr>
              <a:t>tempBox.addEventListener('input', function ()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165  </a:t>
            </a:r>
            <a:r>
              <a:rPr sz="1300">
                <a:solidFill>
                  <a:srgbClr val="6D8C97"/>
                </a:solidFill>
                <a:latin typeface="Consolas"/>
              </a:rPr>
              <a:t>  tempOut.textContent = tempBox.value;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166  </a:t>
            </a:r>
            <a:r>
              <a:rPr sz="1300">
                <a:solidFill>
                  <a:srgbClr val="6D8C97"/>
                </a:solidFill>
                <a:latin typeface="Consolas"/>
              </a:rPr>
              <a:t>});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167  </a:t>
            </a:r>
            <a:r>
              <a:rPr sz="13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168  </a:t>
            </a:r>
            <a:r>
              <a:rPr sz="1300">
                <a:solidFill>
                  <a:srgbClr val="6D8C97"/>
                </a:solidFill>
                <a:latin typeface="Consolas"/>
              </a:rPr>
              <a:t>// Week 13: build one button per character. Object.keys gives the names.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169  </a:t>
            </a:r>
            <a:r>
              <a:rPr sz="1300">
                <a:solidFill>
                  <a:srgbClr val="6D8C97"/>
                </a:solidFill>
                <a:latin typeface="Consolas"/>
              </a:rPr>
              <a:t>for (const name of Object.keys(PRESETS))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170  </a:t>
            </a:r>
            <a:r>
              <a:rPr sz="1300">
                <a:solidFill>
                  <a:srgbClr val="6D8C97"/>
                </a:solidFill>
                <a:latin typeface="Consolas"/>
              </a:rPr>
              <a:t>  const button = document.createElement('button');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171  </a:t>
            </a:r>
            <a:r>
              <a:rPr sz="1300">
                <a:solidFill>
                  <a:srgbClr val="6D8C97"/>
                </a:solidFill>
                <a:latin typeface="Consolas"/>
              </a:rPr>
              <a:t>  button.type = 'button';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172  </a:t>
            </a:r>
            <a:r>
              <a:rPr sz="1300">
                <a:solidFill>
                  <a:srgbClr val="6D8C97"/>
                </a:solidFill>
                <a:latin typeface="Consolas"/>
              </a:rPr>
              <a:t>  button.className = 'preset';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173  </a:t>
            </a:r>
            <a:r>
              <a:rPr sz="1300">
                <a:solidFill>
                  <a:srgbClr val="6D8C97"/>
                </a:solidFill>
                <a:latin typeface="Consolas"/>
              </a:rPr>
              <a:t>  button.textContent = name;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174  </a:t>
            </a:r>
            <a:r>
              <a:rPr sz="1300">
                <a:solidFill>
                  <a:srgbClr val="7FE0A0"/>
                </a:solidFill>
                <a:latin typeface="Consolas"/>
              </a:rPr>
              <a:t>  button.addEventListener('click', function () {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When it is clicked ...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script.js   -   line 175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162  </a:t>
            </a:r>
            <a:r>
              <a:rPr sz="13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163  </a:t>
            </a:r>
            <a:r>
              <a:rPr sz="1300">
                <a:solidFill>
                  <a:srgbClr val="6D8C97"/>
                </a:solidFill>
                <a:latin typeface="Consolas"/>
              </a:rPr>
              <a:t>// Week 9: show the slider's value so the number means something.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164  </a:t>
            </a:r>
            <a:r>
              <a:rPr sz="1300">
                <a:solidFill>
                  <a:srgbClr val="6D8C97"/>
                </a:solidFill>
                <a:latin typeface="Consolas"/>
              </a:rPr>
              <a:t>tempBox.addEventListener('input', function ()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165  </a:t>
            </a:r>
            <a:r>
              <a:rPr sz="1300">
                <a:solidFill>
                  <a:srgbClr val="6D8C97"/>
                </a:solidFill>
                <a:latin typeface="Consolas"/>
              </a:rPr>
              <a:t>  tempOut.textContent = tempBox.value;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166  </a:t>
            </a:r>
            <a:r>
              <a:rPr sz="1300">
                <a:solidFill>
                  <a:srgbClr val="6D8C97"/>
                </a:solidFill>
                <a:latin typeface="Consolas"/>
              </a:rPr>
              <a:t>});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167  </a:t>
            </a:r>
            <a:r>
              <a:rPr sz="13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168  </a:t>
            </a:r>
            <a:r>
              <a:rPr sz="1300">
                <a:solidFill>
                  <a:srgbClr val="6D8C97"/>
                </a:solidFill>
                <a:latin typeface="Consolas"/>
              </a:rPr>
              <a:t>// Week 13: build one button per character. Object.keys gives the names.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169  </a:t>
            </a:r>
            <a:r>
              <a:rPr sz="1300">
                <a:solidFill>
                  <a:srgbClr val="6D8C97"/>
                </a:solidFill>
                <a:latin typeface="Consolas"/>
              </a:rPr>
              <a:t>for (const name of Object.keys(PRESETS))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170  </a:t>
            </a:r>
            <a:r>
              <a:rPr sz="1300">
                <a:solidFill>
                  <a:srgbClr val="6D8C97"/>
                </a:solidFill>
                <a:latin typeface="Consolas"/>
              </a:rPr>
              <a:t>  const button = document.createElement('button');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171  </a:t>
            </a:r>
            <a:r>
              <a:rPr sz="1300">
                <a:solidFill>
                  <a:srgbClr val="6D8C97"/>
                </a:solidFill>
                <a:latin typeface="Consolas"/>
              </a:rPr>
              <a:t>  button.type = 'button';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172  </a:t>
            </a:r>
            <a:r>
              <a:rPr sz="1300">
                <a:solidFill>
                  <a:srgbClr val="6D8C97"/>
                </a:solidFill>
                <a:latin typeface="Consolas"/>
              </a:rPr>
              <a:t>  button.className = 'preset';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173  </a:t>
            </a:r>
            <a:r>
              <a:rPr sz="1300">
                <a:solidFill>
                  <a:srgbClr val="6D8C97"/>
                </a:solidFill>
                <a:latin typeface="Consolas"/>
              </a:rPr>
              <a:t>  button.textContent = name;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174  </a:t>
            </a:r>
            <a:r>
              <a:rPr sz="1300">
                <a:solidFill>
                  <a:srgbClr val="6D8C97"/>
                </a:solidFill>
                <a:latin typeface="Consolas"/>
              </a:rPr>
              <a:t>  button.addEventListener('click', function ()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175  </a:t>
            </a:r>
            <a:r>
              <a:rPr sz="1300">
                <a:solidFill>
                  <a:srgbClr val="7FE0A0"/>
                </a:solidFill>
                <a:latin typeface="Consolas"/>
              </a:rPr>
              <a:t>    personaBox.value = PRESETS[name];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... load that character's prompt into the Personality box. PRESETS[name] looks it up.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script.js   -   line 176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162  </a:t>
            </a:r>
            <a:r>
              <a:rPr sz="13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163  </a:t>
            </a:r>
            <a:r>
              <a:rPr sz="1300">
                <a:solidFill>
                  <a:srgbClr val="6D8C97"/>
                </a:solidFill>
                <a:latin typeface="Consolas"/>
              </a:rPr>
              <a:t>// Week 9: show the slider's value so the number means something.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164  </a:t>
            </a:r>
            <a:r>
              <a:rPr sz="1300">
                <a:solidFill>
                  <a:srgbClr val="6D8C97"/>
                </a:solidFill>
                <a:latin typeface="Consolas"/>
              </a:rPr>
              <a:t>tempBox.addEventListener('input', function ()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165  </a:t>
            </a:r>
            <a:r>
              <a:rPr sz="1300">
                <a:solidFill>
                  <a:srgbClr val="6D8C97"/>
                </a:solidFill>
                <a:latin typeface="Consolas"/>
              </a:rPr>
              <a:t>  tempOut.textContent = tempBox.value;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166  </a:t>
            </a:r>
            <a:r>
              <a:rPr sz="1300">
                <a:solidFill>
                  <a:srgbClr val="6D8C97"/>
                </a:solidFill>
                <a:latin typeface="Consolas"/>
              </a:rPr>
              <a:t>});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167  </a:t>
            </a:r>
            <a:r>
              <a:rPr sz="13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168  </a:t>
            </a:r>
            <a:r>
              <a:rPr sz="1300">
                <a:solidFill>
                  <a:srgbClr val="6D8C97"/>
                </a:solidFill>
                <a:latin typeface="Consolas"/>
              </a:rPr>
              <a:t>// Week 13: build one button per character. Object.keys gives the names.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169  </a:t>
            </a:r>
            <a:r>
              <a:rPr sz="1300">
                <a:solidFill>
                  <a:srgbClr val="6D8C97"/>
                </a:solidFill>
                <a:latin typeface="Consolas"/>
              </a:rPr>
              <a:t>for (const name of Object.keys(PRESETS))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170  </a:t>
            </a:r>
            <a:r>
              <a:rPr sz="1300">
                <a:solidFill>
                  <a:srgbClr val="6D8C97"/>
                </a:solidFill>
                <a:latin typeface="Consolas"/>
              </a:rPr>
              <a:t>  const button = document.createElement('button');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171  </a:t>
            </a:r>
            <a:r>
              <a:rPr sz="1300">
                <a:solidFill>
                  <a:srgbClr val="6D8C97"/>
                </a:solidFill>
                <a:latin typeface="Consolas"/>
              </a:rPr>
              <a:t>  button.type = 'button';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172  </a:t>
            </a:r>
            <a:r>
              <a:rPr sz="1300">
                <a:solidFill>
                  <a:srgbClr val="6D8C97"/>
                </a:solidFill>
                <a:latin typeface="Consolas"/>
              </a:rPr>
              <a:t>  button.className = 'preset';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173  </a:t>
            </a:r>
            <a:r>
              <a:rPr sz="1300">
                <a:solidFill>
                  <a:srgbClr val="6D8C97"/>
                </a:solidFill>
                <a:latin typeface="Consolas"/>
              </a:rPr>
              <a:t>  button.textContent = name;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174  </a:t>
            </a:r>
            <a:r>
              <a:rPr sz="1300">
                <a:solidFill>
                  <a:srgbClr val="6D8C97"/>
                </a:solidFill>
                <a:latin typeface="Consolas"/>
              </a:rPr>
              <a:t>  button.addEventListener('click', function ()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175  </a:t>
            </a:r>
            <a:r>
              <a:rPr sz="1300">
                <a:solidFill>
                  <a:srgbClr val="6D8C97"/>
                </a:solidFill>
                <a:latin typeface="Consolas"/>
              </a:rPr>
              <a:t>    personaBox.value = PRESETS[name];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176  </a:t>
            </a:r>
            <a:r>
              <a:rPr sz="1300">
                <a:solidFill>
                  <a:srgbClr val="7FE0A0"/>
                </a:solidFill>
                <a:latin typeface="Consolas"/>
              </a:rPr>
              <a:t>  });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Close the click listener.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script.js   -   line 177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162  </a:t>
            </a:r>
            <a:r>
              <a:rPr sz="13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163  </a:t>
            </a:r>
            <a:r>
              <a:rPr sz="1300">
                <a:solidFill>
                  <a:srgbClr val="6D8C97"/>
                </a:solidFill>
                <a:latin typeface="Consolas"/>
              </a:rPr>
              <a:t>// Week 9: show the slider's value so the number means something.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164  </a:t>
            </a:r>
            <a:r>
              <a:rPr sz="1300">
                <a:solidFill>
                  <a:srgbClr val="6D8C97"/>
                </a:solidFill>
                <a:latin typeface="Consolas"/>
              </a:rPr>
              <a:t>tempBox.addEventListener('input', function ()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165  </a:t>
            </a:r>
            <a:r>
              <a:rPr sz="1300">
                <a:solidFill>
                  <a:srgbClr val="6D8C97"/>
                </a:solidFill>
                <a:latin typeface="Consolas"/>
              </a:rPr>
              <a:t>  tempOut.textContent = tempBox.value;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166  </a:t>
            </a:r>
            <a:r>
              <a:rPr sz="1300">
                <a:solidFill>
                  <a:srgbClr val="6D8C97"/>
                </a:solidFill>
                <a:latin typeface="Consolas"/>
              </a:rPr>
              <a:t>});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167  </a:t>
            </a:r>
            <a:r>
              <a:rPr sz="13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168  </a:t>
            </a:r>
            <a:r>
              <a:rPr sz="1300">
                <a:solidFill>
                  <a:srgbClr val="6D8C97"/>
                </a:solidFill>
                <a:latin typeface="Consolas"/>
              </a:rPr>
              <a:t>// Week 13: build one button per character. Object.keys gives the names.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169  </a:t>
            </a:r>
            <a:r>
              <a:rPr sz="1300">
                <a:solidFill>
                  <a:srgbClr val="6D8C97"/>
                </a:solidFill>
                <a:latin typeface="Consolas"/>
              </a:rPr>
              <a:t>for (const name of Object.keys(PRESETS))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170  </a:t>
            </a:r>
            <a:r>
              <a:rPr sz="1300">
                <a:solidFill>
                  <a:srgbClr val="6D8C97"/>
                </a:solidFill>
                <a:latin typeface="Consolas"/>
              </a:rPr>
              <a:t>  const button = document.createElement('button');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171  </a:t>
            </a:r>
            <a:r>
              <a:rPr sz="1300">
                <a:solidFill>
                  <a:srgbClr val="6D8C97"/>
                </a:solidFill>
                <a:latin typeface="Consolas"/>
              </a:rPr>
              <a:t>  button.type = 'button';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172  </a:t>
            </a:r>
            <a:r>
              <a:rPr sz="1300">
                <a:solidFill>
                  <a:srgbClr val="6D8C97"/>
                </a:solidFill>
                <a:latin typeface="Consolas"/>
              </a:rPr>
              <a:t>  button.className = 'preset';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173  </a:t>
            </a:r>
            <a:r>
              <a:rPr sz="1300">
                <a:solidFill>
                  <a:srgbClr val="6D8C97"/>
                </a:solidFill>
                <a:latin typeface="Consolas"/>
              </a:rPr>
              <a:t>  button.textContent = name;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174  </a:t>
            </a:r>
            <a:r>
              <a:rPr sz="1300">
                <a:solidFill>
                  <a:srgbClr val="6D8C97"/>
                </a:solidFill>
                <a:latin typeface="Consolas"/>
              </a:rPr>
              <a:t>  button.addEventListener('click', function ()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175  </a:t>
            </a:r>
            <a:r>
              <a:rPr sz="1300">
                <a:solidFill>
                  <a:srgbClr val="6D8C97"/>
                </a:solidFill>
                <a:latin typeface="Consolas"/>
              </a:rPr>
              <a:t>    personaBox.value = PRESETS[name];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176  </a:t>
            </a:r>
            <a:r>
              <a:rPr sz="1300">
                <a:solidFill>
                  <a:srgbClr val="6D8C97"/>
                </a:solidFill>
                <a:latin typeface="Consolas"/>
              </a:rPr>
              <a:t>  });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177  </a:t>
            </a:r>
            <a:r>
              <a:rPr sz="1300">
                <a:solidFill>
                  <a:srgbClr val="7FE0A0"/>
                </a:solidFill>
                <a:latin typeface="Consolas"/>
              </a:rPr>
              <a:t>  presetBox.appendChild(button);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Add the finished button to the page.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script.js   -   line 178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162  </a:t>
            </a:r>
            <a:r>
              <a:rPr sz="13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163  </a:t>
            </a:r>
            <a:r>
              <a:rPr sz="1300">
                <a:solidFill>
                  <a:srgbClr val="6D8C97"/>
                </a:solidFill>
                <a:latin typeface="Consolas"/>
              </a:rPr>
              <a:t>// Week 9: show the slider's value so the number means something.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164  </a:t>
            </a:r>
            <a:r>
              <a:rPr sz="1300">
                <a:solidFill>
                  <a:srgbClr val="6D8C97"/>
                </a:solidFill>
                <a:latin typeface="Consolas"/>
              </a:rPr>
              <a:t>tempBox.addEventListener('input', function ()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165  </a:t>
            </a:r>
            <a:r>
              <a:rPr sz="1300">
                <a:solidFill>
                  <a:srgbClr val="6D8C97"/>
                </a:solidFill>
                <a:latin typeface="Consolas"/>
              </a:rPr>
              <a:t>  tempOut.textContent = tempBox.value;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166  </a:t>
            </a:r>
            <a:r>
              <a:rPr sz="1300">
                <a:solidFill>
                  <a:srgbClr val="6D8C97"/>
                </a:solidFill>
                <a:latin typeface="Consolas"/>
              </a:rPr>
              <a:t>});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167  </a:t>
            </a:r>
            <a:r>
              <a:rPr sz="13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168  </a:t>
            </a:r>
            <a:r>
              <a:rPr sz="1300">
                <a:solidFill>
                  <a:srgbClr val="6D8C97"/>
                </a:solidFill>
                <a:latin typeface="Consolas"/>
              </a:rPr>
              <a:t>// Week 13: build one button per character. Object.keys gives the names.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169  </a:t>
            </a:r>
            <a:r>
              <a:rPr sz="1300">
                <a:solidFill>
                  <a:srgbClr val="6D8C97"/>
                </a:solidFill>
                <a:latin typeface="Consolas"/>
              </a:rPr>
              <a:t>for (const name of Object.keys(PRESETS))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170  </a:t>
            </a:r>
            <a:r>
              <a:rPr sz="1300">
                <a:solidFill>
                  <a:srgbClr val="6D8C97"/>
                </a:solidFill>
                <a:latin typeface="Consolas"/>
              </a:rPr>
              <a:t>  const button = document.createElement('button');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171  </a:t>
            </a:r>
            <a:r>
              <a:rPr sz="1300">
                <a:solidFill>
                  <a:srgbClr val="6D8C97"/>
                </a:solidFill>
                <a:latin typeface="Consolas"/>
              </a:rPr>
              <a:t>  button.type = 'button';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172  </a:t>
            </a:r>
            <a:r>
              <a:rPr sz="1300">
                <a:solidFill>
                  <a:srgbClr val="6D8C97"/>
                </a:solidFill>
                <a:latin typeface="Consolas"/>
              </a:rPr>
              <a:t>  button.className = 'preset';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173  </a:t>
            </a:r>
            <a:r>
              <a:rPr sz="1300">
                <a:solidFill>
                  <a:srgbClr val="6D8C97"/>
                </a:solidFill>
                <a:latin typeface="Consolas"/>
              </a:rPr>
              <a:t>  button.textContent = name;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174  </a:t>
            </a:r>
            <a:r>
              <a:rPr sz="1300">
                <a:solidFill>
                  <a:srgbClr val="6D8C97"/>
                </a:solidFill>
                <a:latin typeface="Consolas"/>
              </a:rPr>
              <a:t>  button.addEventListener('click', function ()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175  </a:t>
            </a:r>
            <a:r>
              <a:rPr sz="1300">
                <a:solidFill>
                  <a:srgbClr val="6D8C97"/>
                </a:solidFill>
                <a:latin typeface="Consolas"/>
              </a:rPr>
              <a:t>    personaBox.value = PRESETS[name];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176  </a:t>
            </a:r>
            <a:r>
              <a:rPr sz="1300">
                <a:solidFill>
                  <a:srgbClr val="6D8C97"/>
                </a:solidFill>
                <a:latin typeface="Consolas"/>
              </a:rPr>
              <a:t>  });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177  </a:t>
            </a:r>
            <a:r>
              <a:rPr sz="1300">
                <a:solidFill>
                  <a:srgbClr val="6D8C97"/>
                </a:solidFill>
                <a:latin typeface="Consolas"/>
              </a:rPr>
              <a:t>  presetBox.appendChild(button);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178  </a:t>
            </a:r>
            <a:r>
              <a:rPr sz="1300">
                <a:solidFill>
                  <a:srgbClr val="7FE0A0"/>
                </a:solidFill>
                <a:latin typeface="Consolas"/>
              </a:rPr>
              <a:t>}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Close the loop - one button per character, built automatically from the data.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All together in script.js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162  </a:t>
            </a:r>
            <a:r>
              <a:rPr sz="1300">
                <a:solidFill>
                  <a:srgbClr val="7FE0A0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163  </a:t>
            </a:r>
            <a:r>
              <a:rPr sz="1300">
                <a:solidFill>
                  <a:srgbClr val="7FE0A0"/>
                </a:solidFill>
                <a:latin typeface="Consolas"/>
              </a:rPr>
              <a:t>// Week 9: show the slider's value so the number means something.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164  </a:t>
            </a:r>
            <a:r>
              <a:rPr sz="1300">
                <a:solidFill>
                  <a:srgbClr val="7FE0A0"/>
                </a:solidFill>
                <a:latin typeface="Consolas"/>
              </a:rPr>
              <a:t>tempBox.addEventListener('input', function ()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165  </a:t>
            </a:r>
            <a:r>
              <a:rPr sz="1300">
                <a:solidFill>
                  <a:srgbClr val="7FE0A0"/>
                </a:solidFill>
                <a:latin typeface="Consolas"/>
              </a:rPr>
              <a:t>  tempOut.textContent = tempBox.value;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166  </a:t>
            </a:r>
            <a:r>
              <a:rPr sz="1300">
                <a:solidFill>
                  <a:srgbClr val="7FE0A0"/>
                </a:solidFill>
                <a:latin typeface="Consolas"/>
              </a:rPr>
              <a:t>});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167  </a:t>
            </a:r>
            <a:r>
              <a:rPr sz="1300">
                <a:solidFill>
                  <a:srgbClr val="7FE0A0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168  </a:t>
            </a:r>
            <a:r>
              <a:rPr sz="1300">
                <a:solidFill>
                  <a:srgbClr val="7FE0A0"/>
                </a:solidFill>
                <a:latin typeface="Consolas"/>
              </a:rPr>
              <a:t>// Week 13: build one button per character. Object.keys gives the names.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169  </a:t>
            </a:r>
            <a:r>
              <a:rPr sz="1300">
                <a:solidFill>
                  <a:srgbClr val="7FE0A0"/>
                </a:solidFill>
                <a:latin typeface="Consolas"/>
              </a:rPr>
              <a:t>for (const name of Object.keys(PRESETS))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170  </a:t>
            </a:r>
            <a:r>
              <a:rPr sz="1300">
                <a:solidFill>
                  <a:srgbClr val="7FE0A0"/>
                </a:solidFill>
                <a:latin typeface="Consolas"/>
              </a:rPr>
              <a:t>  const button = document.createElement('button');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171  </a:t>
            </a:r>
            <a:r>
              <a:rPr sz="1300">
                <a:solidFill>
                  <a:srgbClr val="7FE0A0"/>
                </a:solidFill>
                <a:latin typeface="Consolas"/>
              </a:rPr>
              <a:t>  button.type = 'button';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172  </a:t>
            </a:r>
            <a:r>
              <a:rPr sz="1300">
                <a:solidFill>
                  <a:srgbClr val="7FE0A0"/>
                </a:solidFill>
                <a:latin typeface="Consolas"/>
              </a:rPr>
              <a:t>  button.className = 'preset';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173  </a:t>
            </a:r>
            <a:r>
              <a:rPr sz="1300">
                <a:solidFill>
                  <a:srgbClr val="7FE0A0"/>
                </a:solidFill>
                <a:latin typeface="Consolas"/>
              </a:rPr>
              <a:t>  button.textContent = name;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174  </a:t>
            </a:r>
            <a:r>
              <a:rPr sz="1300">
                <a:solidFill>
                  <a:srgbClr val="7FE0A0"/>
                </a:solidFill>
                <a:latin typeface="Consolas"/>
              </a:rPr>
              <a:t>  button.addEventListener('click', function ()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175  </a:t>
            </a:r>
            <a:r>
              <a:rPr sz="1300">
                <a:solidFill>
                  <a:srgbClr val="7FE0A0"/>
                </a:solidFill>
                <a:latin typeface="Consolas"/>
              </a:rPr>
              <a:t>    personaBox.value = PRESETS[name];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176  </a:t>
            </a:r>
            <a:r>
              <a:rPr sz="1300">
                <a:solidFill>
                  <a:srgbClr val="7FE0A0"/>
                </a:solidFill>
                <a:latin typeface="Consolas"/>
              </a:rPr>
              <a:t>  });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177  </a:t>
            </a:r>
            <a:r>
              <a:rPr sz="1300">
                <a:solidFill>
                  <a:srgbClr val="7FE0A0"/>
                </a:solidFill>
                <a:latin typeface="Consolas"/>
              </a:rPr>
              <a:t>  presetBox.appendChild(button);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178  </a:t>
            </a:r>
            <a:r>
              <a:rPr sz="1300">
                <a:solidFill>
                  <a:srgbClr val="7FE0A0"/>
                </a:solidFill>
                <a:latin typeface="Consolas"/>
              </a:rPr>
              <a:t>}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That is the whole piece. Check yours looks the same before moving on.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What does Object.keys(PRESETS) give you?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502920"/>
            <a:ext cx="5486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01AEFD"/>
                </a:solidFill>
              </a:rPr>
              <a:t>QUICK CHECK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A. A list of the character NAMES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B. The prompts themselves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C. The number of characters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D. One button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Pick one - the answer is on the next slide.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What does Object.keys(PRESETS) give you?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502920"/>
            <a:ext cx="5486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01AEFD"/>
                </a:solidFill>
              </a:rPr>
              <a:t>ANSWER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A. A list of the character NAMES (correct)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B. The prompts themselves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C. The number of characters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D. One button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Object.keys returns an object's key names - here every character's name, so we can loop over them.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Why build the buttons in a loop instead of writing each one by hand?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502920"/>
            <a:ext cx="5486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01AEFD"/>
                </a:solidFill>
              </a:rPr>
              <a:t>QUICK CHECK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A. Adding a character becomes ONE line in PRESETS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B. Loops are faster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C. Buttons must be looped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D. To hide them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Pick one - the answer is on the next slide.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Why build the buttons in a loop instead of writing each one by hand?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502920"/>
            <a:ext cx="5486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01AEFD"/>
                </a:solidFill>
              </a:rPr>
              <a:t>ANSWER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A. Adding a character becomes ONE line in PRESETS (correct)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B. Loops are faster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C. Buttons must be looped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D. To hide them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The buttons build themselves from the data, so a new character is one line - no new button code.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PRESETS[name] looks up ...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502920"/>
            <a:ext cx="5486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01AEFD"/>
                </a:solidFill>
              </a:rPr>
              <a:t>QUICK CHECK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A. the prompt for that character name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B. a number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C. the button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D. the whole object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Pick one - the answer is on the next slide.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PRESETS[name] looks up ...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502920"/>
            <a:ext cx="5486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01AEFD"/>
                </a:solidFill>
              </a:rPr>
              <a:t>ANSWER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A. the prompt for that character name (correct)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B. a number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C. the button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D. the whole object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Square brackets with a variable look up that key's value in the object.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From week 6 - what is the 'system' message for?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502920"/>
            <a:ext cx="5486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01AEFD"/>
                </a:solidFill>
              </a:rPr>
              <a:t>QUICK CHECK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A. A standing instruction the AI reads before every reply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B. The user's question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C. The AI's answer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D. An error message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Pick one - the answer is on the next slide.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From week 6 - what is the 'system' message for?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502920"/>
            <a:ext cx="5486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01AEFD"/>
                </a:solidFill>
              </a:rPr>
              <a:t>ANSWER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A. A standing instruction the AI reads before every reply (correct)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B. The user's question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C. The AI's answer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D. An error message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The system message sets how the AI behaves for the whole conversation - that is what each character changes.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From week 9 - the Brain dropdown sends which value to the server?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502920"/>
            <a:ext cx="5486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01AEFD"/>
                </a:solidFill>
              </a:rPr>
              <a:t>QUICK CHECK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A. The option the student picked (fast or smart)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B. Always fast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C. A random model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D. The temperature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Pick one - the answer is on the next slide.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From week 9 - the Brain dropdown sends which value to the server?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502920"/>
            <a:ext cx="5486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01AEFD"/>
                </a:solidFill>
              </a:rPr>
              <a:t>ANSWER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A. The option the student picked (fast or smart) (correct)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B. Always fast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C. A random model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D. The temperature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modelBox.value is whatever option is currently selected.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style.css   -   line 90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84  </a:t>
            </a:r>
            <a:r>
              <a:rPr sz="1800">
                <a:solidFill>
                  <a:srgbClr val="6D8C97"/>
                </a:solidFill>
                <a:latin typeface="Consolas"/>
              </a:rPr>
              <a:t>.bubble.writing::after {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85  </a:t>
            </a:r>
            <a:r>
              <a:rPr sz="1800">
                <a:solidFill>
                  <a:srgbClr val="6D8C97"/>
                </a:solidFill>
                <a:latin typeface="Consolas"/>
              </a:rPr>
              <a:t>  content: "\258C";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86  </a:t>
            </a:r>
            <a:r>
              <a:rPr sz="1800">
                <a:solidFill>
                  <a:srgbClr val="6D8C97"/>
                </a:solidFill>
                <a:latin typeface="Consolas"/>
              </a:rPr>
              <a:t>  color: #01aefd;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87  </a:t>
            </a:r>
            <a:r>
              <a:rPr sz="1800">
                <a:solidFill>
                  <a:srgbClr val="6D8C97"/>
                </a:solidFill>
                <a:latin typeface="Consolas"/>
              </a:rPr>
              <a:t>  animation: blink 1s steps(2, start) infinite;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88  </a:t>
            </a:r>
            <a:r>
              <a:rPr sz="1800">
                <a:solidFill>
                  <a:srgbClr val="6D8C97"/>
                </a:solidFill>
                <a:latin typeface="Consolas"/>
              </a:rPr>
              <a:t>}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89  </a:t>
            </a:r>
            <a:r>
              <a:rPr sz="1800">
                <a:solidFill>
                  <a:srgbClr val="6D8C97"/>
                </a:solidFill>
                <a:latin typeface="Consolas"/>
              </a:rPr>
              <a:t>@keyframes blink { to { visibility: hidden; } }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90  </a:t>
            </a:r>
            <a:r>
              <a:rPr sz="1800">
                <a:solidFill>
                  <a:srgbClr val="7FE0A0"/>
                </a:solidFill>
                <a:latin typeface="Consolas"/>
              </a:rPr>
              <a:t>.presets { display: flex; flex-wrap: wrap; gap: 6px; margin-bottom: 8px; }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Lay the character buttons in a wrapping row.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style.css   -   line 91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84  </a:t>
            </a:r>
            <a:r>
              <a:rPr sz="1800">
                <a:solidFill>
                  <a:srgbClr val="6D8C97"/>
                </a:solidFill>
                <a:latin typeface="Consolas"/>
              </a:rPr>
              <a:t>.bubble.writing::after {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85  </a:t>
            </a:r>
            <a:r>
              <a:rPr sz="1800">
                <a:solidFill>
                  <a:srgbClr val="6D8C97"/>
                </a:solidFill>
                <a:latin typeface="Consolas"/>
              </a:rPr>
              <a:t>  content: "\258C";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86  </a:t>
            </a:r>
            <a:r>
              <a:rPr sz="1800">
                <a:solidFill>
                  <a:srgbClr val="6D8C97"/>
                </a:solidFill>
                <a:latin typeface="Consolas"/>
              </a:rPr>
              <a:t>  color: #01aefd;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87  </a:t>
            </a:r>
            <a:r>
              <a:rPr sz="1800">
                <a:solidFill>
                  <a:srgbClr val="6D8C97"/>
                </a:solidFill>
                <a:latin typeface="Consolas"/>
              </a:rPr>
              <a:t>  animation: blink 1s steps(2, start) infinite;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88  </a:t>
            </a:r>
            <a:r>
              <a:rPr sz="1800">
                <a:solidFill>
                  <a:srgbClr val="6D8C97"/>
                </a:solidFill>
                <a:latin typeface="Consolas"/>
              </a:rPr>
              <a:t>}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89  </a:t>
            </a:r>
            <a:r>
              <a:rPr sz="1800">
                <a:solidFill>
                  <a:srgbClr val="6D8C97"/>
                </a:solidFill>
                <a:latin typeface="Consolas"/>
              </a:rPr>
              <a:t>@keyframes blink { to { visibility: hidden; } }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90  </a:t>
            </a:r>
            <a:r>
              <a:rPr sz="1800">
                <a:solidFill>
                  <a:srgbClr val="6D8C97"/>
                </a:solidFill>
                <a:latin typeface="Consolas"/>
              </a:rPr>
              <a:t>.presets { display: flex; flex-wrap: wrap; gap: 6px; margin-bottom: 8px; }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91  </a:t>
            </a:r>
            <a:r>
              <a:rPr sz="1800">
                <a:solidFill>
                  <a:srgbClr val="7FE0A0"/>
                </a:solidFill>
                <a:latin typeface="Consolas"/>
              </a:rPr>
              <a:t>.preset {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Style each character button.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style.css   -   line 92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84  </a:t>
            </a:r>
            <a:r>
              <a:rPr sz="1800">
                <a:solidFill>
                  <a:srgbClr val="6D8C97"/>
                </a:solidFill>
                <a:latin typeface="Consolas"/>
              </a:rPr>
              <a:t>.bubble.writing::after {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85  </a:t>
            </a:r>
            <a:r>
              <a:rPr sz="1800">
                <a:solidFill>
                  <a:srgbClr val="6D8C97"/>
                </a:solidFill>
                <a:latin typeface="Consolas"/>
              </a:rPr>
              <a:t>  content: "\258C";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86  </a:t>
            </a:r>
            <a:r>
              <a:rPr sz="1800">
                <a:solidFill>
                  <a:srgbClr val="6D8C97"/>
                </a:solidFill>
                <a:latin typeface="Consolas"/>
              </a:rPr>
              <a:t>  color: #01aefd;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87  </a:t>
            </a:r>
            <a:r>
              <a:rPr sz="1800">
                <a:solidFill>
                  <a:srgbClr val="6D8C97"/>
                </a:solidFill>
                <a:latin typeface="Consolas"/>
              </a:rPr>
              <a:t>  animation: blink 1s steps(2, start) infinite;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88  </a:t>
            </a:r>
            <a:r>
              <a:rPr sz="1800">
                <a:solidFill>
                  <a:srgbClr val="6D8C97"/>
                </a:solidFill>
                <a:latin typeface="Consolas"/>
              </a:rPr>
              <a:t>}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89  </a:t>
            </a:r>
            <a:r>
              <a:rPr sz="1800">
                <a:solidFill>
                  <a:srgbClr val="6D8C97"/>
                </a:solidFill>
                <a:latin typeface="Consolas"/>
              </a:rPr>
              <a:t>@keyframes blink { to { visibility: hidden; } }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90  </a:t>
            </a:r>
            <a:r>
              <a:rPr sz="1800">
                <a:solidFill>
                  <a:srgbClr val="6D8C97"/>
                </a:solidFill>
                <a:latin typeface="Consolas"/>
              </a:rPr>
              <a:t>.presets { display: flex; flex-wrap: wrap; gap: 6px; margin-bottom: 8px; }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91  </a:t>
            </a:r>
            <a:r>
              <a:rPr sz="1800">
                <a:solidFill>
                  <a:srgbClr val="6D8C97"/>
                </a:solidFill>
                <a:latin typeface="Consolas"/>
              </a:rPr>
              <a:t>.preset {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92  </a:t>
            </a:r>
            <a:r>
              <a:rPr sz="1800">
                <a:solidFill>
                  <a:srgbClr val="7FE0A0"/>
                </a:solidFill>
                <a:latin typeface="Consolas"/>
              </a:rPr>
              <a:t>  padding: 5px 11px;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Comfortable padding.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style.css   -   line 93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84  </a:t>
            </a:r>
            <a:r>
              <a:rPr sz="1800">
                <a:solidFill>
                  <a:srgbClr val="6D8C97"/>
                </a:solidFill>
                <a:latin typeface="Consolas"/>
              </a:rPr>
              <a:t>.bubble.writing::after {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85  </a:t>
            </a:r>
            <a:r>
              <a:rPr sz="1800">
                <a:solidFill>
                  <a:srgbClr val="6D8C97"/>
                </a:solidFill>
                <a:latin typeface="Consolas"/>
              </a:rPr>
              <a:t>  content: "\258C";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86  </a:t>
            </a:r>
            <a:r>
              <a:rPr sz="1800">
                <a:solidFill>
                  <a:srgbClr val="6D8C97"/>
                </a:solidFill>
                <a:latin typeface="Consolas"/>
              </a:rPr>
              <a:t>  color: #01aefd;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87  </a:t>
            </a:r>
            <a:r>
              <a:rPr sz="1800">
                <a:solidFill>
                  <a:srgbClr val="6D8C97"/>
                </a:solidFill>
                <a:latin typeface="Consolas"/>
              </a:rPr>
              <a:t>  animation: blink 1s steps(2, start) infinite;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88  </a:t>
            </a:r>
            <a:r>
              <a:rPr sz="1800">
                <a:solidFill>
                  <a:srgbClr val="6D8C97"/>
                </a:solidFill>
                <a:latin typeface="Consolas"/>
              </a:rPr>
              <a:t>}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89  </a:t>
            </a:r>
            <a:r>
              <a:rPr sz="1800">
                <a:solidFill>
                  <a:srgbClr val="6D8C97"/>
                </a:solidFill>
                <a:latin typeface="Consolas"/>
              </a:rPr>
              <a:t>@keyframes blink { to { visibility: hidden; } }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90  </a:t>
            </a:r>
            <a:r>
              <a:rPr sz="1800">
                <a:solidFill>
                  <a:srgbClr val="6D8C97"/>
                </a:solidFill>
                <a:latin typeface="Consolas"/>
              </a:rPr>
              <a:t>.presets { display: flex; flex-wrap: wrap; gap: 6px; margin-bottom: 8px; }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91  </a:t>
            </a:r>
            <a:r>
              <a:rPr sz="1800">
                <a:solidFill>
                  <a:srgbClr val="6D8C97"/>
                </a:solidFill>
                <a:latin typeface="Consolas"/>
              </a:rPr>
              <a:t>.preset {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92  </a:t>
            </a:r>
            <a:r>
              <a:rPr sz="1800">
                <a:solidFill>
                  <a:srgbClr val="6D8C97"/>
                </a:solidFill>
                <a:latin typeface="Consolas"/>
              </a:rPr>
              <a:t>  padding: 5px 11px;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93  </a:t>
            </a:r>
            <a:r>
              <a:rPr sz="1800">
                <a:solidFill>
                  <a:srgbClr val="7FE0A0"/>
                </a:solidFill>
                <a:latin typeface="Consolas"/>
              </a:rPr>
              <a:t>  border: 1px solid #dbe3ec;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A thin grey border.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style.css   -   line 94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84  </a:t>
            </a:r>
            <a:r>
              <a:rPr sz="1300">
                <a:solidFill>
                  <a:srgbClr val="6D8C97"/>
                </a:solidFill>
                <a:latin typeface="Consolas"/>
              </a:rPr>
              <a:t>.bubble.writing::after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85  </a:t>
            </a:r>
            <a:r>
              <a:rPr sz="1300">
                <a:solidFill>
                  <a:srgbClr val="6D8C97"/>
                </a:solidFill>
                <a:latin typeface="Consolas"/>
              </a:rPr>
              <a:t>  content: "\258C";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86  </a:t>
            </a:r>
            <a:r>
              <a:rPr sz="1300">
                <a:solidFill>
                  <a:srgbClr val="6D8C97"/>
                </a:solidFill>
                <a:latin typeface="Consolas"/>
              </a:rPr>
              <a:t>  color: #01aefd;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87  </a:t>
            </a:r>
            <a:r>
              <a:rPr sz="1300">
                <a:solidFill>
                  <a:srgbClr val="6D8C97"/>
                </a:solidFill>
                <a:latin typeface="Consolas"/>
              </a:rPr>
              <a:t>  animation: blink 1s steps(2, start) infinite;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88  </a:t>
            </a:r>
            <a:r>
              <a:rPr sz="1300">
                <a:solidFill>
                  <a:srgbClr val="6D8C97"/>
                </a:solidFill>
                <a:latin typeface="Consolas"/>
              </a:rPr>
              <a:t>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89  </a:t>
            </a:r>
            <a:r>
              <a:rPr sz="1300">
                <a:solidFill>
                  <a:srgbClr val="6D8C97"/>
                </a:solidFill>
                <a:latin typeface="Consolas"/>
              </a:rPr>
              <a:t>@keyframes blink { to { visibility: hidden; } 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90  </a:t>
            </a:r>
            <a:r>
              <a:rPr sz="1300">
                <a:solidFill>
                  <a:srgbClr val="6D8C97"/>
                </a:solidFill>
                <a:latin typeface="Consolas"/>
              </a:rPr>
              <a:t>.presets { display: flex; flex-wrap: wrap; gap: 6px; margin-bottom: 8px; 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91  </a:t>
            </a:r>
            <a:r>
              <a:rPr sz="1300">
                <a:solidFill>
                  <a:srgbClr val="6D8C97"/>
                </a:solidFill>
                <a:latin typeface="Consolas"/>
              </a:rPr>
              <a:t>.preset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92  </a:t>
            </a:r>
            <a:r>
              <a:rPr sz="1300">
                <a:solidFill>
                  <a:srgbClr val="6D8C97"/>
                </a:solidFill>
                <a:latin typeface="Consolas"/>
              </a:rPr>
              <a:t>  padding: 5px 11px;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93  </a:t>
            </a:r>
            <a:r>
              <a:rPr sz="1300">
                <a:solidFill>
                  <a:srgbClr val="6D8C97"/>
                </a:solidFill>
                <a:latin typeface="Consolas"/>
              </a:rPr>
              <a:t>  border: 1px solid #dbe3ec;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94  </a:t>
            </a:r>
            <a:r>
              <a:rPr sz="1300">
                <a:solidFill>
                  <a:srgbClr val="7FE0A0"/>
                </a:solidFill>
                <a:latin typeface="Consolas"/>
              </a:rPr>
              <a:t>  border-radius: 20px;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Fully rounded - a pill shape.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style.css   -   line 95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84  </a:t>
            </a:r>
            <a:r>
              <a:rPr sz="1300">
                <a:solidFill>
                  <a:srgbClr val="6D8C97"/>
                </a:solidFill>
                <a:latin typeface="Consolas"/>
              </a:rPr>
              <a:t>.bubble.writing::after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85  </a:t>
            </a:r>
            <a:r>
              <a:rPr sz="1300">
                <a:solidFill>
                  <a:srgbClr val="6D8C97"/>
                </a:solidFill>
                <a:latin typeface="Consolas"/>
              </a:rPr>
              <a:t>  content: "\258C";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86  </a:t>
            </a:r>
            <a:r>
              <a:rPr sz="1300">
                <a:solidFill>
                  <a:srgbClr val="6D8C97"/>
                </a:solidFill>
                <a:latin typeface="Consolas"/>
              </a:rPr>
              <a:t>  color: #01aefd;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87  </a:t>
            </a:r>
            <a:r>
              <a:rPr sz="1300">
                <a:solidFill>
                  <a:srgbClr val="6D8C97"/>
                </a:solidFill>
                <a:latin typeface="Consolas"/>
              </a:rPr>
              <a:t>  animation: blink 1s steps(2, start) infinite;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88  </a:t>
            </a:r>
            <a:r>
              <a:rPr sz="1300">
                <a:solidFill>
                  <a:srgbClr val="6D8C97"/>
                </a:solidFill>
                <a:latin typeface="Consolas"/>
              </a:rPr>
              <a:t>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89  </a:t>
            </a:r>
            <a:r>
              <a:rPr sz="1300">
                <a:solidFill>
                  <a:srgbClr val="6D8C97"/>
                </a:solidFill>
                <a:latin typeface="Consolas"/>
              </a:rPr>
              <a:t>@keyframes blink { to { visibility: hidden; } 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90  </a:t>
            </a:r>
            <a:r>
              <a:rPr sz="1300">
                <a:solidFill>
                  <a:srgbClr val="6D8C97"/>
                </a:solidFill>
                <a:latin typeface="Consolas"/>
              </a:rPr>
              <a:t>.presets { display: flex; flex-wrap: wrap; gap: 6px; margin-bottom: 8px; 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91  </a:t>
            </a:r>
            <a:r>
              <a:rPr sz="1300">
                <a:solidFill>
                  <a:srgbClr val="6D8C97"/>
                </a:solidFill>
                <a:latin typeface="Consolas"/>
              </a:rPr>
              <a:t>.preset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92  </a:t>
            </a:r>
            <a:r>
              <a:rPr sz="1300">
                <a:solidFill>
                  <a:srgbClr val="6D8C97"/>
                </a:solidFill>
                <a:latin typeface="Consolas"/>
              </a:rPr>
              <a:t>  padding: 5px 11px;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93  </a:t>
            </a:r>
            <a:r>
              <a:rPr sz="1300">
                <a:solidFill>
                  <a:srgbClr val="6D8C97"/>
                </a:solidFill>
                <a:latin typeface="Consolas"/>
              </a:rPr>
              <a:t>  border: 1px solid #dbe3ec;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94  </a:t>
            </a:r>
            <a:r>
              <a:rPr sz="1300">
                <a:solidFill>
                  <a:srgbClr val="6D8C97"/>
                </a:solidFill>
                <a:latin typeface="Consolas"/>
              </a:rPr>
              <a:t>  border-radius: 20px;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95  </a:t>
            </a:r>
            <a:r>
              <a:rPr sz="1300">
                <a:solidFill>
                  <a:srgbClr val="7FE0A0"/>
                </a:solidFill>
                <a:latin typeface="Consolas"/>
              </a:rPr>
              <a:t>  background: #ffffff;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White background.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style.css   -   line 96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84  </a:t>
            </a:r>
            <a:r>
              <a:rPr sz="1300">
                <a:solidFill>
                  <a:srgbClr val="6D8C97"/>
                </a:solidFill>
                <a:latin typeface="Consolas"/>
              </a:rPr>
              <a:t>.bubble.writing::after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85  </a:t>
            </a:r>
            <a:r>
              <a:rPr sz="1300">
                <a:solidFill>
                  <a:srgbClr val="6D8C97"/>
                </a:solidFill>
                <a:latin typeface="Consolas"/>
              </a:rPr>
              <a:t>  content: "\258C";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86  </a:t>
            </a:r>
            <a:r>
              <a:rPr sz="1300">
                <a:solidFill>
                  <a:srgbClr val="6D8C97"/>
                </a:solidFill>
                <a:latin typeface="Consolas"/>
              </a:rPr>
              <a:t>  color: #01aefd;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87  </a:t>
            </a:r>
            <a:r>
              <a:rPr sz="1300">
                <a:solidFill>
                  <a:srgbClr val="6D8C97"/>
                </a:solidFill>
                <a:latin typeface="Consolas"/>
              </a:rPr>
              <a:t>  animation: blink 1s steps(2, start) infinite;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88  </a:t>
            </a:r>
            <a:r>
              <a:rPr sz="1300">
                <a:solidFill>
                  <a:srgbClr val="6D8C97"/>
                </a:solidFill>
                <a:latin typeface="Consolas"/>
              </a:rPr>
              <a:t>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89  </a:t>
            </a:r>
            <a:r>
              <a:rPr sz="1300">
                <a:solidFill>
                  <a:srgbClr val="6D8C97"/>
                </a:solidFill>
                <a:latin typeface="Consolas"/>
              </a:rPr>
              <a:t>@keyframes blink { to { visibility: hidden; } 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90  </a:t>
            </a:r>
            <a:r>
              <a:rPr sz="1300">
                <a:solidFill>
                  <a:srgbClr val="6D8C97"/>
                </a:solidFill>
                <a:latin typeface="Consolas"/>
              </a:rPr>
              <a:t>.presets { display: flex; flex-wrap: wrap; gap: 6px; margin-bottom: 8px; 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91  </a:t>
            </a:r>
            <a:r>
              <a:rPr sz="1300">
                <a:solidFill>
                  <a:srgbClr val="6D8C97"/>
                </a:solidFill>
                <a:latin typeface="Consolas"/>
              </a:rPr>
              <a:t>.preset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92  </a:t>
            </a:r>
            <a:r>
              <a:rPr sz="1300">
                <a:solidFill>
                  <a:srgbClr val="6D8C97"/>
                </a:solidFill>
                <a:latin typeface="Consolas"/>
              </a:rPr>
              <a:t>  padding: 5px 11px;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93  </a:t>
            </a:r>
            <a:r>
              <a:rPr sz="1300">
                <a:solidFill>
                  <a:srgbClr val="6D8C97"/>
                </a:solidFill>
                <a:latin typeface="Consolas"/>
              </a:rPr>
              <a:t>  border: 1px solid #dbe3ec;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94  </a:t>
            </a:r>
            <a:r>
              <a:rPr sz="1300">
                <a:solidFill>
                  <a:srgbClr val="6D8C97"/>
                </a:solidFill>
                <a:latin typeface="Consolas"/>
              </a:rPr>
              <a:t>  border-radius: 20px;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95  </a:t>
            </a:r>
            <a:r>
              <a:rPr sz="1300">
                <a:solidFill>
                  <a:srgbClr val="6D8C97"/>
                </a:solidFill>
                <a:latin typeface="Consolas"/>
              </a:rPr>
              <a:t>  background: #ffffff;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96  </a:t>
            </a:r>
            <a:r>
              <a:rPr sz="1300">
                <a:solidFill>
                  <a:srgbClr val="7FE0A0"/>
                </a:solidFill>
                <a:latin typeface="Consolas"/>
              </a:rPr>
              <a:t>  font-size: 13px;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Small text.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style.css   -   line 97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84  </a:t>
            </a:r>
            <a:r>
              <a:rPr sz="1300">
                <a:solidFill>
                  <a:srgbClr val="6D8C97"/>
                </a:solidFill>
                <a:latin typeface="Consolas"/>
              </a:rPr>
              <a:t>.bubble.writing::after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85  </a:t>
            </a:r>
            <a:r>
              <a:rPr sz="1300">
                <a:solidFill>
                  <a:srgbClr val="6D8C97"/>
                </a:solidFill>
                <a:latin typeface="Consolas"/>
              </a:rPr>
              <a:t>  content: "\258C";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86  </a:t>
            </a:r>
            <a:r>
              <a:rPr sz="1300">
                <a:solidFill>
                  <a:srgbClr val="6D8C97"/>
                </a:solidFill>
                <a:latin typeface="Consolas"/>
              </a:rPr>
              <a:t>  color: #01aefd;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87  </a:t>
            </a:r>
            <a:r>
              <a:rPr sz="1300">
                <a:solidFill>
                  <a:srgbClr val="6D8C97"/>
                </a:solidFill>
                <a:latin typeface="Consolas"/>
              </a:rPr>
              <a:t>  animation: blink 1s steps(2, start) infinite;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88  </a:t>
            </a:r>
            <a:r>
              <a:rPr sz="1300">
                <a:solidFill>
                  <a:srgbClr val="6D8C97"/>
                </a:solidFill>
                <a:latin typeface="Consolas"/>
              </a:rPr>
              <a:t>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89  </a:t>
            </a:r>
            <a:r>
              <a:rPr sz="1300">
                <a:solidFill>
                  <a:srgbClr val="6D8C97"/>
                </a:solidFill>
                <a:latin typeface="Consolas"/>
              </a:rPr>
              <a:t>@keyframes blink { to { visibility: hidden; } 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90  </a:t>
            </a:r>
            <a:r>
              <a:rPr sz="1300">
                <a:solidFill>
                  <a:srgbClr val="6D8C97"/>
                </a:solidFill>
                <a:latin typeface="Consolas"/>
              </a:rPr>
              <a:t>.presets { display: flex; flex-wrap: wrap; gap: 6px; margin-bottom: 8px; 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91  </a:t>
            </a:r>
            <a:r>
              <a:rPr sz="1300">
                <a:solidFill>
                  <a:srgbClr val="6D8C97"/>
                </a:solidFill>
                <a:latin typeface="Consolas"/>
              </a:rPr>
              <a:t>.preset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92  </a:t>
            </a:r>
            <a:r>
              <a:rPr sz="1300">
                <a:solidFill>
                  <a:srgbClr val="6D8C97"/>
                </a:solidFill>
                <a:latin typeface="Consolas"/>
              </a:rPr>
              <a:t>  padding: 5px 11px;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93  </a:t>
            </a:r>
            <a:r>
              <a:rPr sz="1300">
                <a:solidFill>
                  <a:srgbClr val="6D8C97"/>
                </a:solidFill>
                <a:latin typeface="Consolas"/>
              </a:rPr>
              <a:t>  border: 1px solid #dbe3ec;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94  </a:t>
            </a:r>
            <a:r>
              <a:rPr sz="1300">
                <a:solidFill>
                  <a:srgbClr val="6D8C97"/>
                </a:solidFill>
                <a:latin typeface="Consolas"/>
              </a:rPr>
              <a:t>  border-radius: 20px;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95  </a:t>
            </a:r>
            <a:r>
              <a:rPr sz="1300">
                <a:solidFill>
                  <a:srgbClr val="6D8C97"/>
                </a:solidFill>
                <a:latin typeface="Consolas"/>
              </a:rPr>
              <a:t>  background: #ffffff;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96  </a:t>
            </a:r>
            <a:r>
              <a:rPr sz="1300">
                <a:solidFill>
                  <a:srgbClr val="6D8C97"/>
                </a:solidFill>
                <a:latin typeface="Consolas"/>
              </a:rPr>
              <a:t>  font-size: 13px;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97  </a:t>
            </a:r>
            <a:r>
              <a:rPr sz="1300">
                <a:solidFill>
                  <a:srgbClr val="7FE0A0"/>
                </a:solidFill>
                <a:latin typeface="Consolas"/>
              </a:rPr>
              <a:t>  cursor: pointer;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A hand pointer, so it looks clickable.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style.css   -   line 98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84  </a:t>
            </a:r>
            <a:r>
              <a:rPr sz="1300">
                <a:solidFill>
                  <a:srgbClr val="6D8C97"/>
                </a:solidFill>
                <a:latin typeface="Consolas"/>
              </a:rPr>
              <a:t>.bubble.writing::after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85  </a:t>
            </a:r>
            <a:r>
              <a:rPr sz="1300">
                <a:solidFill>
                  <a:srgbClr val="6D8C97"/>
                </a:solidFill>
                <a:latin typeface="Consolas"/>
              </a:rPr>
              <a:t>  content: "\258C";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86  </a:t>
            </a:r>
            <a:r>
              <a:rPr sz="1300">
                <a:solidFill>
                  <a:srgbClr val="6D8C97"/>
                </a:solidFill>
                <a:latin typeface="Consolas"/>
              </a:rPr>
              <a:t>  color: #01aefd;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87  </a:t>
            </a:r>
            <a:r>
              <a:rPr sz="1300">
                <a:solidFill>
                  <a:srgbClr val="6D8C97"/>
                </a:solidFill>
                <a:latin typeface="Consolas"/>
              </a:rPr>
              <a:t>  animation: blink 1s steps(2, start) infinite;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88  </a:t>
            </a:r>
            <a:r>
              <a:rPr sz="1300">
                <a:solidFill>
                  <a:srgbClr val="6D8C97"/>
                </a:solidFill>
                <a:latin typeface="Consolas"/>
              </a:rPr>
              <a:t>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89  </a:t>
            </a:r>
            <a:r>
              <a:rPr sz="1300">
                <a:solidFill>
                  <a:srgbClr val="6D8C97"/>
                </a:solidFill>
                <a:latin typeface="Consolas"/>
              </a:rPr>
              <a:t>@keyframes blink { to { visibility: hidden; } 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90  </a:t>
            </a:r>
            <a:r>
              <a:rPr sz="1300">
                <a:solidFill>
                  <a:srgbClr val="6D8C97"/>
                </a:solidFill>
                <a:latin typeface="Consolas"/>
              </a:rPr>
              <a:t>.presets { display: flex; flex-wrap: wrap; gap: 6px; margin-bottom: 8px; 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91  </a:t>
            </a:r>
            <a:r>
              <a:rPr sz="1300">
                <a:solidFill>
                  <a:srgbClr val="6D8C97"/>
                </a:solidFill>
                <a:latin typeface="Consolas"/>
              </a:rPr>
              <a:t>.preset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92  </a:t>
            </a:r>
            <a:r>
              <a:rPr sz="1300">
                <a:solidFill>
                  <a:srgbClr val="6D8C97"/>
                </a:solidFill>
                <a:latin typeface="Consolas"/>
              </a:rPr>
              <a:t>  padding: 5px 11px;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93  </a:t>
            </a:r>
            <a:r>
              <a:rPr sz="1300">
                <a:solidFill>
                  <a:srgbClr val="6D8C97"/>
                </a:solidFill>
                <a:latin typeface="Consolas"/>
              </a:rPr>
              <a:t>  border: 1px solid #dbe3ec;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94  </a:t>
            </a:r>
            <a:r>
              <a:rPr sz="1300">
                <a:solidFill>
                  <a:srgbClr val="6D8C97"/>
                </a:solidFill>
                <a:latin typeface="Consolas"/>
              </a:rPr>
              <a:t>  border-radius: 20px;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95  </a:t>
            </a:r>
            <a:r>
              <a:rPr sz="1300">
                <a:solidFill>
                  <a:srgbClr val="6D8C97"/>
                </a:solidFill>
                <a:latin typeface="Consolas"/>
              </a:rPr>
              <a:t>  background: #ffffff;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96  </a:t>
            </a:r>
            <a:r>
              <a:rPr sz="1300">
                <a:solidFill>
                  <a:srgbClr val="6D8C97"/>
                </a:solidFill>
                <a:latin typeface="Consolas"/>
              </a:rPr>
              <a:t>  font-size: 13px;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97  </a:t>
            </a:r>
            <a:r>
              <a:rPr sz="1300">
                <a:solidFill>
                  <a:srgbClr val="6D8C97"/>
                </a:solidFill>
                <a:latin typeface="Consolas"/>
              </a:rPr>
              <a:t>  cursor: pointer;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98  </a:t>
            </a:r>
            <a:r>
              <a:rPr sz="1300">
                <a:solidFill>
                  <a:srgbClr val="7FE0A0"/>
                </a:solidFill>
                <a:latin typeface="Consolas"/>
              </a:rPr>
              <a:t>}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Close the rule.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border-color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502920"/>
            <a:ext cx="5486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01AEFD"/>
                </a:solidFill>
              </a:rPr>
              <a:t>CSS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800">
                <a:solidFill>
                  <a:srgbClr val="01AEFD"/>
                </a:solidFill>
              </a:rPr>
              <a:t>border-color: #01aefd;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Changes just the COLOUR of a border that already exists.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border (week 2) set thickness, style AND colour at once; this tweaks the colour.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Used on hover to make a button glow blue.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style.css   -   line 99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84  </a:t>
            </a:r>
            <a:r>
              <a:rPr sz="1300">
                <a:solidFill>
                  <a:srgbClr val="6D8C97"/>
                </a:solidFill>
                <a:latin typeface="Consolas"/>
              </a:rPr>
              <a:t>.bubble.writing::after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85  </a:t>
            </a:r>
            <a:r>
              <a:rPr sz="1300">
                <a:solidFill>
                  <a:srgbClr val="6D8C97"/>
                </a:solidFill>
                <a:latin typeface="Consolas"/>
              </a:rPr>
              <a:t>  content: "\258C";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86  </a:t>
            </a:r>
            <a:r>
              <a:rPr sz="1300">
                <a:solidFill>
                  <a:srgbClr val="6D8C97"/>
                </a:solidFill>
                <a:latin typeface="Consolas"/>
              </a:rPr>
              <a:t>  color: #01aefd;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87  </a:t>
            </a:r>
            <a:r>
              <a:rPr sz="1300">
                <a:solidFill>
                  <a:srgbClr val="6D8C97"/>
                </a:solidFill>
                <a:latin typeface="Consolas"/>
              </a:rPr>
              <a:t>  animation: blink 1s steps(2, start) infinite;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88  </a:t>
            </a:r>
            <a:r>
              <a:rPr sz="1300">
                <a:solidFill>
                  <a:srgbClr val="6D8C97"/>
                </a:solidFill>
                <a:latin typeface="Consolas"/>
              </a:rPr>
              <a:t>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89  </a:t>
            </a:r>
            <a:r>
              <a:rPr sz="1300">
                <a:solidFill>
                  <a:srgbClr val="6D8C97"/>
                </a:solidFill>
                <a:latin typeface="Consolas"/>
              </a:rPr>
              <a:t>@keyframes blink { to { visibility: hidden; } 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90  </a:t>
            </a:r>
            <a:r>
              <a:rPr sz="1300">
                <a:solidFill>
                  <a:srgbClr val="6D8C97"/>
                </a:solidFill>
                <a:latin typeface="Consolas"/>
              </a:rPr>
              <a:t>.presets { display: flex; flex-wrap: wrap; gap: 6px; margin-bottom: 8px; 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91  </a:t>
            </a:r>
            <a:r>
              <a:rPr sz="1300">
                <a:solidFill>
                  <a:srgbClr val="6D8C97"/>
                </a:solidFill>
                <a:latin typeface="Consolas"/>
              </a:rPr>
              <a:t>.preset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92  </a:t>
            </a:r>
            <a:r>
              <a:rPr sz="1300">
                <a:solidFill>
                  <a:srgbClr val="6D8C97"/>
                </a:solidFill>
                <a:latin typeface="Consolas"/>
              </a:rPr>
              <a:t>  padding: 5px 11px;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93  </a:t>
            </a:r>
            <a:r>
              <a:rPr sz="1300">
                <a:solidFill>
                  <a:srgbClr val="6D8C97"/>
                </a:solidFill>
                <a:latin typeface="Consolas"/>
              </a:rPr>
              <a:t>  border: 1px solid #dbe3ec;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94  </a:t>
            </a:r>
            <a:r>
              <a:rPr sz="1300">
                <a:solidFill>
                  <a:srgbClr val="6D8C97"/>
                </a:solidFill>
                <a:latin typeface="Consolas"/>
              </a:rPr>
              <a:t>  border-radius: 20px;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95  </a:t>
            </a:r>
            <a:r>
              <a:rPr sz="1300">
                <a:solidFill>
                  <a:srgbClr val="6D8C97"/>
                </a:solidFill>
                <a:latin typeface="Consolas"/>
              </a:rPr>
              <a:t>  background: #ffffff;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96  </a:t>
            </a:r>
            <a:r>
              <a:rPr sz="1300">
                <a:solidFill>
                  <a:srgbClr val="6D8C97"/>
                </a:solidFill>
                <a:latin typeface="Consolas"/>
              </a:rPr>
              <a:t>  font-size: 13px;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97  </a:t>
            </a:r>
            <a:r>
              <a:rPr sz="1300">
                <a:solidFill>
                  <a:srgbClr val="6D8C97"/>
                </a:solidFill>
                <a:latin typeface="Consolas"/>
              </a:rPr>
              <a:t>  cursor: pointer;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98  </a:t>
            </a:r>
            <a:r>
              <a:rPr sz="1300">
                <a:solidFill>
                  <a:srgbClr val="6D8C97"/>
                </a:solidFill>
                <a:latin typeface="Consolas"/>
              </a:rPr>
              <a:t>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99  </a:t>
            </a:r>
            <a:r>
              <a:rPr sz="1300">
                <a:solidFill>
                  <a:srgbClr val="7FE0A0"/>
                </a:solidFill>
                <a:latin typeface="Consolas"/>
              </a:rPr>
              <a:t>.preset:hover { border-color: #01aefd; color: #0a6299; }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On hover, turn the border and text blue.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All together in style.css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84  </a:t>
            </a:r>
            <a:r>
              <a:rPr sz="1300">
                <a:solidFill>
                  <a:srgbClr val="7FE0A0"/>
                </a:solidFill>
                <a:latin typeface="Consolas"/>
              </a:rPr>
              <a:t>.bubble.writing::after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85  </a:t>
            </a:r>
            <a:r>
              <a:rPr sz="1300">
                <a:solidFill>
                  <a:srgbClr val="7FE0A0"/>
                </a:solidFill>
                <a:latin typeface="Consolas"/>
              </a:rPr>
              <a:t>  content: "\258C";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86  </a:t>
            </a:r>
            <a:r>
              <a:rPr sz="1300">
                <a:solidFill>
                  <a:srgbClr val="7FE0A0"/>
                </a:solidFill>
                <a:latin typeface="Consolas"/>
              </a:rPr>
              <a:t>  color: #01aefd;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87  </a:t>
            </a:r>
            <a:r>
              <a:rPr sz="1300">
                <a:solidFill>
                  <a:srgbClr val="7FE0A0"/>
                </a:solidFill>
                <a:latin typeface="Consolas"/>
              </a:rPr>
              <a:t>  animation: blink 1s steps(2, start) infinite;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88  </a:t>
            </a:r>
            <a:r>
              <a:rPr sz="1300">
                <a:solidFill>
                  <a:srgbClr val="7FE0A0"/>
                </a:solidFill>
                <a:latin typeface="Consolas"/>
              </a:rPr>
              <a:t>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89  </a:t>
            </a:r>
            <a:r>
              <a:rPr sz="1300">
                <a:solidFill>
                  <a:srgbClr val="7FE0A0"/>
                </a:solidFill>
                <a:latin typeface="Consolas"/>
              </a:rPr>
              <a:t>@keyframes blink { to { visibility: hidden; } 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90  </a:t>
            </a:r>
            <a:r>
              <a:rPr sz="1300">
                <a:solidFill>
                  <a:srgbClr val="7FE0A0"/>
                </a:solidFill>
                <a:latin typeface="Consolas"/>
              </a:rPr>
              <a:t>.presets { display: flex; flex-wrap: wrap; gap: 6px; margin-bottom: 8px; 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91  </a:t>
            </a:r>
            <a:r>
              <a:rPr sz="1300">
                <a:solidFill>
                  <a:srgbClr val="7FE0A0"/>
                </a:solidFill>
                <a:latin typeface="Consolas"/>
              </a:rPr>
              <a:t>.preset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92  </a:t>
            </a:r>
            <a:r>
              <a:rPr sz="1300">
                <a:solidFill>
                  <a:srgbClr val="7FE0A0"/>
                </a:solidFill>
                <a:latin typeface="Consolas"/>
              </a:rPr>
              <a:t>  padding: 5px 11px;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93  </a:t>
            </a:r>
            <a:r>
              <a:rPr sz="1300">
                <a:solidFill>
                  <a:srgbClr val="7FE0A0"/>
                </a:solidFill>
                <a:latin typeface="Consolas"/>
              </a:rPr>
              <a:t>  border: 1px solid #dbe3ec;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94  </a:t>
            </a:r>
            <a:r>
              <a:rPr sz="1300">
                <a:solidFill>
                  <a:srgbClr val="7FE0A0"/>
                </a:solidFill>
                <a:latin typeface="Consolas"/>
              </a:rPr>
              <a:t>  border-radius: 20px;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95  </a:t>
            </a:r>
            <a:r>
              <a:rPr sz="1300">
                <a:solidFill>
                  <a:srgbClr val="7FE0A0"/>
                </a:solidFill>
                <a:latin typeface="Consolas"/>
              </a:rPr>
              <a:t>  background: #ffffff;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96  </a:t>
            </a:r>
            <a:r>
              <a:rPr sz="1300">
                <a:solidFill>
                  <a:srgbClr val="7FE0A0"/>
                </a:solidFill>
                <a:latin typeface="Consolas"/>
              </a:rPr>
              <a:t>  font-size: 13px;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97  </a:t>
            </a:r>
            <a:r>
              <a:rPr sz="1300">
                <a:solidFill>
                  <a:srgbClr val="7FE0A0"/>
                </a:solidFill>
                <a:latin typeface="Consolas"/>
              </a:rPr>
              <a:t>  cursor: pointer;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98  </a:t>
            </a:r>
            <a:r>
              <a:rPr sz="1300">
                <a:solidFill>
                  <a:srgbClr val="7FE0A0"/>
                </a:solidFill>
                <a:latin typeface="Consolas"/>
              </a:rPr>
              <a:t>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99  </a:t>
            </a:r>
            <a:r>
              <a:rPr sz="1300">
                <a:solidFill>
                  <a:srgbClr val="7FE0A0"/>
                </a:solidFill>
                <a:latin typeface="Consolas"/>
              </a:rPr>
              <a:t>.preset:hover { border-color: #01aefd; color: #0a6299; }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That is the whole piece. Check yours looks the same before moving on.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One source of truth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The buttons come from the personalities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They can never disagree with each other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Checkpoint: pick a character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502920"/>
            <a:ext cx="5486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01AEFD"/>
                </a:solidFill>
              </a:rPr>
              <a:t>CHECKPOINT - RUN IT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800">
                <a:solidFill>
                  <a:srgbClr val="01AEFD"/>
                </a:solidFill>
              </a:rPr>
              <a:t>Press Run and open Personality - a button for each character appears. Click 'Storyteller' and ask it something, then click 'Rubber duck' and ask the same thing. The whole character should change, because each button loads a different system prompt. Add your own line to PRESETS and a new button builds itself.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Run it in the classroom, or press Show the output in the web deck.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Everyone's screen should match this.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Now make it yours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800">
                <a:solidFill>
                  <a:srgbClr val="01AEFD"/>
                </a:solidFill>
              </a:rPr>
              <a:t>Colours, font, name, characters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It should look like nobody else's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Week 15 is show and tell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