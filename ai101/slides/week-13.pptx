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Week 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Characters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Four companions. One app.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How many copies of askAI?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One. Only the words change.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Data beats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buttons by hand = four nearly identical chunks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Four personalities in an object = one chunk, any number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of the most useful ideas you will learn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An object as a lookup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PRESETS['Storyteller']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name goes in, a personality comes out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Same shape as { role, content } from week 7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labels are just character names now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Object.keys gives you every label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34  </a:t>
            </a:r>
            <a:r>
              <a:rPr sz="1700">
                <a:solidFill>
                  <a:srgbClr val="7FE0A0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35  </a:t>
            </a:r>
            <a:r>
              <a:rPr sz="1700">
                <a:solidFill>
                  <a:srgbClr val="7FE0A0"/>
                </a:solidFill>
                <a:latin typeface="Consolas"/>
              </a:rPr>
              <a:t>// Week 13: personalities as DATA, not as code. Adding a character means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36  </a:t>
            </a:r>
            <a:r>
              <a:rPr sz="1700">
                <a:solidFill>
                  <a:srgbClr val="7FE0A0"/>
                </a:solidFill>
                <a:latin typeface="Consolas"/>
              </a:rPr>
              <a:t>// adding one line here - the buttons build themselves from this object.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37  </a:t>
            </a:r>
            <a:r>
              <a:rPr sz="1700">
                <a:solidFill>
                  <a:srgbClr val="7FE0A0"/>
                </a:solidFill>
                <a:latin typeface="Consolas"/>
              </a:rPr>
              <a:t>const PRESETS = {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38  </a:t>
            </a:r>
            <a:r>
              <a:rPr sz="1700">
                <a:solidFill>
                  <a:srgbClr val="7FE0A0"/>
                </a:solidFill>
                <a:latin typeface="Consolas"/>
              </a:rPr>
              <a:t>  'Patient helper': 'You are a friendly, patient helper for a 13-year-old. Keep answers under 60 words. If you are not sure, say so.',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39  </a:t>
            </a:r>
            <a:r>
              <a:rPr sz="1700">
                <a:solidFill>
                  <a:srgbClr val="7FE0A0"/>
                </a:solidFill>
                <a:latin typeface="Consolas"/>
              </a:rPr>
              <a:t>  'Storyteller': 'You tell short adventure stories. Always end on a cliffhanger and offer two choices for what happens next.',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40  </a:t>
            </a:r>
            <a:r>
              <a:rPr sz="1700">
                <a:solidFill>
                  <a:srgbClr val="7FE0A0"/>
                </a:solidFill>
                <a:latin typeface="Consolas"/>
              </a:rPr>
              <a:t>  'Quiz master': 'You ask one multiple-choice question at a time about whatever topic the user names. Wait for an answer before saying if it was right.',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41  </a:t>
            </a:r>
            <a:r>
              <a:rPr sz="1700">
                <a:solidFill>
                  <a:srgbClr val="7FE0A0"/>
                </a:solidFill>
                <a:latin typeface="Consolas"/>
              </a:rPr>
              <a:t>  'Rubber duck': 'You never give answers. You only ask short questions that help the user work it out themselves.'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42  </a:t>
            </a:r>
            <a:r>
              <a:rPr sz="1700">
                <a:solidFill>
                  <a:srgbClr val="7FE0A0"/>
                </a:solidFill>
                <a:latin typeface="Consolas"/>
              </a:rPr>
              <a:t>};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Add a fifth character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Watch what happens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One new line in PRESETS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A new button appears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You wrote no new code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index.html  (1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8  </a:t>
            </a:r>
            <a:r>
              <a:rPr sz="1700">
                <a:solidFill>
                  <a:srgbClr val="DCECEF"/>
                </a:solidFill>
                <a:latin typeface="Consolas"/>
              </a:rPr>
              <a:t>  &lt;details class="setup"&gt;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 9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&lt;summary&gt;Personality&lt;/summary&gt;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10  </a:t>
            </a:r>
            <a:r>
              <a:rPr sz="1700">
                <a:solidFill>
                  <a:srgbClr val="7FE0A0"/>
                </a:solidFill>
                <a:latin typeface="Consolas"/>
              </a:rPr>
              <a:t>    &lt;div id="presets" class="presets"&gt;&lt;/div&gt;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11  </a:t>
            </a:r>
            <a:r>
              <a:rPr sz="1700">
                <a:solidFill>
                  <a:srgbClr val="DCECEF"/>
                </a:solidFill>
                <a:latin typeface="Consolas"/>
              </a:rPr>
              <a:t>    &lt;textarea id="persona" rows="3"&gt;You are a friendly, patient helper for a 13-year-old. Keep answers under 60 words. If you are not sure, say so.&lt;/textarea&gt;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12  </a:t>
            </a:r>
            <a:r>
              <a:rPr sz="1700">
                <a:solidFill>
                  <a:srgbClr val="DCECEF"/>
                </a:solidFill>
                <a:latin typeface="Consolas"/>
              </a:rPr>
              <a:t>  &lt;/details&gt;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(2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16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17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2: find the boxes we named in index.html.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18  </a:t>
            </a:r>
            <a:r>
              <a:rPr sz="1400">
                <a:solidFill>
                  <a:srgbClr val="DCECEF"/>
                </a:solidFill>
                <a:latin typeface="Consolas"/>
              </a:rPr>
              <a:t>// document.getElementById looks for the id= we wrote on each element.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19  </a:t>
            </a:r>
            <a:r>
              <a:rPr sz="1400">
                <a:solidFill>
                  <a:srgbClr val="DCECEF"/>
                </a:solidFill>
                <a:latin typeface="Consolas"/>
              </a:rPr>
              <a:t>const chat = document.getElementById('chat');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20  </a:t>
            </a:r>
            <a:r>
              <a:rPr sz="1400">
                <a:solidFill>
                  <a:srgbClr val="DCECEF"/>
                </a:solidFill>
                <a:latin typeface="Consolas"/>
              </a:rPr>
              <a:t>const composer = document.getElementById('composer');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21  </a:t>
            </a:r>
            <a:r>
              <a:rPr sz="1400">
                <a:solidFill>
                  <a:srgbClr val="DCECEF"/>
                </a:solidFill>
                <a:latin typeface="Consolas"/>
              </a:rPr>
              <a:t>const promptBox = document.getElementById('prompt');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22  </a:t>
            </a:r>
            <a:r>
              <a:rPr sz="1400">
                <a:solidFill>
                  <a:srgbClr val="DCECEF"/>
                </a:solidFill>
                <a:latin typeface="Consolas"/>
              </a:rPr>
              <a:t>const personaBox = document.getElementById('persona');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23  </a:t>
            </a:r>
            <a:r>
              <a:rPr sz="1400">
                <a:solidFill>
                  <a:srgbClr val="7FE0A0"/>
                </a:solidFill>
                <a:latin typeface="Consolas"/>
              </a:rPr>
              <a:t>const presetBox = document.getElementById('presets');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24  </a:t>
            </a:r>
            <a:r>
              <a:rPr sz="1400">
                <a:solidFill>
                  <a:srgbClr val="DCECEF"/>
                </a:solidFill>
                <a:latin typeface="Consolas"/>
              </a:rPr>
              <a:t>const modelBox = document.getElementById('model');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25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tempBox = document.getElementById('temp');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26  </a:t>
            </a:r>
            <a:r>
              <a:rPr sz="1400">
                <a:solidFill>
                  <a:srgbClr val="DCECEF"/>
                </a:solidFill>
                <a:latin typeface="Consolas"/>
              </a:rPr>
              <a:t>const tempOut = document.getElementById('tempOut');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27  </a:t>
            </a:r>
            <a:r>
              <a:rPr sz="1400">
                <a:solidFill>
                  <a:srgbClr val="DCECEF"/>
                </a:solidFill>
                <a:latin typeface="Consolas"/>
              </a:rPr>
              <a:t>const transcriptBox = document.getElementById('transcript');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28  </a:t>
            </a:r>
            <a:r>
              <a:rPr sz="1400">
                <a:solidFill>
                  <a:srgbClr val="DCECEF"/>
                </a:solidFill>
                <a:latin typeface="Consolas"/>
              </a:rPr>
              <a:t>const saveButton = document.getElementById('save');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29  </a:t>
            </a:r>
            <a:r>
              <a:rPr sz="1400">
                <a:solidFill>
                  <a:srgbClr val="DCECEF"/>
                </a:solidFill>
                <a:latin typeface="Consolas"/>
              </a:rPr>
              <a:t>const loadButton = document.getElementById('load');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(3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162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163  </a:t>
            </a:r>
            <a:r>
              <a:rPr sz="1400">
                <a:solidFill>
                  <a:srgbClr val="DCECEF"/>
                </a:solidFill>
                <a:latin typeface="Consolas"/>
              </a:rPr>
              <a:t>// Week 9: show the slider's value so the number means something.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164  </a:t>
            </a:r>
            <a:r>
              <a:rPr sz="1400">
                <a:solidFill>
                  <a:srgbClr val="DCECEF"/>
                </a:solidFill>
                <a:latin typeface="Consolas"/>
              </a:rPr>
              <a:t>tempBox.addEventListener('input',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165  </a:t>
            </a:r>
            <a:r>
              <a:rPr sz="1400">
                <a:solidFill>
                  <a:srgbClr val="DCECEF"/>
                </a:solidFill>
                <a:latin typeface="Consolas"/>
              </a:rPr>
              <a:t>  tempOut.textContent = tempBox.value;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166  </a:t>
            </a:r>
            <a:r>
              <a:rPr sz="1400">
                <a:solidFill>
                  <a:srgbClr val="DCECEF"/>
                </a:solidFill>
                <a:latin typeface="Consolas"/>
              </a:rPr>
              <a:t>});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167  </a:t>
            </a:r>
            <a:r>
              <a:rPr sz="1400">
                <a:solidFill>
                  <a:srgbClr val="DCECEF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168  </a:t>
            </a:r>
            <a:r>
              <a:rPr sz="1400">
                <a:solidFill>
                  <a:srgbClr val="7FE0A0"/>
                </a:solidFill>
                <a:latin typeface="Consolas"/>
              </a:rPr>
              <a:t>// Week 13: build one button per character. Object.keys gives the names.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169  </a:t>
            </a:r>
            <a:r>
              <a:rPr sz="1400">
                <a:solidFill>
                  <a:srgbClr val="7FE0A0"/>
                </a:solidFill>
                <a:latin typeface="Consolas"/>
              </a:rPr>
              <a:t>for (const name of Object.keys(PRESETS))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170  </a:t>
            </a:r>
            <a:r>
              <a:rPr sz="1400">
                <a:solidFill>
                  <a:srgbClr val="7FE0A0"/>
                </a:solidFill>
                <a:latin typeface="Consolas"/>
              </a:rPr>
              <a:t>  const button = document.createElement('button');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171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button.type = 'button';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172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button.className = 'preset';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173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button.textContent = name;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174  </a:t>
            </a:r>
            <a:r>
              <a:rPr sz="1400">
                <a:solidFill>
                  <a:srgbClr val="7FE0A0"/>
                </a:solidFill>
                <a:latin typeface="Consolas"/>
              </a:rPr>
              <a:t>  button.addEventListener('click', function 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175  </a:t>
            </a:r>
            <a:r>
              <a:rPr sz="1400">
                <a:solidFill>
                  <a:srgbClr val="7FE0A0"/>
                </a:solidFill>
                <a:latin typeface="Consolas"/>
              </a:rPr>
              <a:t>    personaBox.value = PRESETS[name];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176  </a:t>
            </a:r>
            <a:r>
              <a:rPr sz="1400">
                <a:solidFill>
                  <a:srgbClr val="7FE0A0"/>
                </a:solidFill>
                <a:latin typeface="Consolas"/>
              </a:rPr>
              <a:t>  });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script.js  (4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177  </a:t>
            </a:r>
            <a:r>
              <a:rPr sz="1700">
                <a:solidFill>
                  <a:srgbClr val="7FE0A0"/>
                </a:solidFill>
                <a:latin typeface="Consolas"/>
              </a:rPr>
              <a:t>  presetBox.appendChild(button);</a:t>
            </a:r>
          </a:p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178  </a:t>
            </a:r>
            <a:r>
              <a:rPr sz="17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(5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84  </a:t>
            </a:r>
            <a:r>
              <a:rPr sz="1400">
                <a:solidFill>
                  <a:srgbClr val="DCECEF"/>
                </a:solidFill>
                <a:latin typeface="Consolas"/>
              </a:rPr>
              <a:t>.bubble.writing::after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85  </a:t>
            </a:r>
            <a:r>
              <a:rPr sz="1400">
                <a:solidFill>
                  <a:srgbClr val="DCECEF"/>
                </a:solidFill>
                <a:latin typeface="Consolas"/>
              </a:rPr>
              <a:t>  content: "\258C";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86  </a:t>
            </a:r>
            <a:r>
              <a:rPr sz="1400">
                <a:solidFill>
                  <a:srgbClr val="DCECEF"/>
                </a:solidFill>
                <a:latin typeface="Consolas"/>
              </a:rPr>
              <a:t>  color: #01aefd;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87  </a:t>
            </a:r>
            <a:r>
              <a:rPr sz="1400">
                <a:solidFill>
                  <a:srgbClr val="DCECEF"/>
                </a:solidFill>
                <a:latin typeface="Consolas"/>
              </a:rPr>
              <a:t>  animation: blink 1s steps(2, start) infinite;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88  </a:t>
            </a:r>
            <a:r>
              <a:rPr sz="1400">
                <a:solidFill>
                  <a:srgbClr val="DCECEF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89  </a:t>
            </a:r>
            <a:r>
              <a:rPr sz="1400">
                <a:solidFill>
                  <a:srgbClr val="DCECEF"/>
                </a:solidFill>
                <a:latin typeface="Consolas"/>
              </a:rPr>
              <a:t>@keyframes blink { to { visibility: hidden; }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90  </a:t>
            </a:r>
            <a:r>
              <a:rPr sz="1400">
                <a:solidFill>
                  <a:srgbClr val="7FE0A0"/>
                </a:solidFill>
                <a:latin typeface="Consolas"/>
              </a:rPr>
              <a:t>.presets { display: flex; flex-wrap: wrap; gap: 6px; margin-bottom: 8px; 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91  </a:t>
            </a:r>
            <a:r>
              <a:rPr sz="1400">
                <a:solidFill>
                  <a:srgbClr val="7FE0A0"/>
                </a:solidFill>
                <a:latin typeface="Consolas"/>
              </a:rPr>
              <a:t>.preset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92  </a:t>
            </a:r>
            <a:r>
              <a:rPr sz="1400">
                <a:solidFill>
                  <a:srgbClr val="7FE0A0"/>
                </a:solidFill>
                <a:latin typeface="Consolas"/>
              </a:rPr>
              <a:t>  padding: 5px 11px;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93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border: 1px solid #dbe3ec;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94  </a:t>
            </a:r>
            <a:r>
              <a:rPr sz="1400">
                <a:solidFill>
                  <a:srgbClr val="7FE0A0"/>
                </a:solidFill>
                <a:latin typeface="Consolas"/>
              </a:rPr>
              <a:t>  border-radius: 20px;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95  </a:t>
            </a:r>
            <a:r>
              <a:rPr sz="1400">
                <a:solidFill>
                  <a:srgbClr val="7FE0A0"/>
                </a:solidFill>
                <a:latin typeface="Consolas"/>
              </a:rPr>
              <a:t>  background: #ffffff;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96  </a:t>
            </a:r>
            <a:r>
              <a:rPr sz="1400">
                <a:solidFill>
                  <a:srgbClr val="7FE0A0"/>
                </a:solidFill>
                <a:latin typeface="Consolas"/>
              </a:rPr>
              <a:t>  font-size: 13px;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97  </a:t>
            </a:r>
            <a:r>
              <a:rPr sz="1400">
                <a:solidFill>
                  <a:srgbClr val="7FE0A0"/>
                </a:solidFill>
                <a:latin typeface="Consolas"/>
              </a:rPr>
              <a:t>  cursor: pointer;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6D8C97"/>
                </a:solidFill>
                <a:latin typeface="Consolas"/>
              </a:rPr>
              <a:t>  98  </a:t>
            </a:r>
            <a:r>
              <a:rPr sz="1400">
                <a:solidFill>
                  <a:srgbClr val="7FE0A0"/>
                </a:solidFill>
                <a:latin typeface="Consolas"/>
              </a:rPr>
              <a:t>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212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7432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600" b="1">
                <a:solidFill>
                  <a:srgbClr val="01AEFD"/>
                </a:solidFill>
              </a:rPr>
              <a:t>Type this into style.css  (6 of 6)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051560"/>
            <a:ext cx="11155680" cy="5394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0"/>
              </a:spcAft>
            </a:pPr>
            <a:r>
              <a:rPr sz="1700">
                <a:solidFill>
                  <a:srgbClr val="6D8C97"/>
                </a:solidFill>
                <a:latin typeface="Consolas"/>
              </a:rPr>
              <a:t>  99  </a:t>
            </a:r>
            <a:r>
              <a:rPr sz="1700">
                <a:solidFill>
                  <a:srgbClr val="7FE0A0"/>
                </a:solidFill>
                <a:latin typeface="Consolas"/>
              </a:rPr>
              <a:t>.preset:hover { border-color: #01aefd; color: #0a6299; }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One source of truth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 buttons come from the personalities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They can never disagree with each 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800" b="1">
                <a:solidFill>
                  <a:srgbClr val="1F2A37"/>
                </a:solidFill>
              </a:rPr>
              <a:t>Now make it yours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82880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800">
                <a:solidFill>
                  <a:srgbClr val="01AEFD"/>
                </a:solidFill>
              </a:rPr>
              <a:t>Colours, font, name, characters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It should look like nobody else's</a:t>
            </a:r>
          </a:p>
          <a:p>
            <a:pPr>
              <a:spcAft>
                <a:spcPts val="1400"/>
              </a:spcAft>
            </a:pPr>
            <a:r>
              <a:rPr sz="2400">
                <a:solidFill>
                  <a:srgbClr val="1F2A37"/>
                </a:solidFill>
              </a:rPr>
              <a:t>• Week 15 is show and tell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