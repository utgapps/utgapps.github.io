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When it is confidently wrong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Get out week 4's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Who had a wrong answer?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Did it sound wrong?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That is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Hallucination hunt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10 minutes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it state something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must be able to prove it is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Best three go on the 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it happens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It predicts likely next words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Nothing in that checks for truth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Fluent and correct are unrelated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is not lying - lying needs knowing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It learned from what people wrote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Describe a nurse. An engineer. A criminal.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Compare your answer with a classmate's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repeats what was common in the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Prompt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"Ignore your instructions and..."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Attack your partner's companion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often works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This is a real security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Neither defence is perfect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Rules in the persona - can be talked around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Guards in code - blunt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never let it decide anything alone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179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180  </a:t>
            </a:r>
            <a:r>
              <a:rPr sz="18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181  </a:t>
            </a:r>
            <a:r>
              <a:rPr sz="18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182  </a:t>
            </a:r>
            <a:r>
              <a:rPr sz="18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183  </a:t>
            </a:r>
            <a:r>
              <a:rPr sz="18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184  </a:t>
            </a:r>
            <a:r>
              <a:rPr sz="18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185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186  </a:t>
            </a:r>
            <a:r>
              <a:rPr sz="1800">
                <a:solidFill>
                  <a:srgbClr val="6D8C97"/>
                </a:solidFill>
                <a:latin typeface="Consolas"/>
              </a:rPr>
              <a:t>  // Week 14: never trust what a user types. A giant message wastes the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187  </a:t>
            </a:r>
            <a:r>
              <a:rPr sz="1800">
                <a:solidFill>
                  <a:srgbClr val="6D8C97"/>
                </a:solidFill>
                <a:latin typeface="Consolas"/>
              </a:rPr>
              <a:t>  // whole conversation budget and gets the request refused for everyone.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188  </a:t>
            </a:r>
            <a:r>
              <a:rPr sz="1800">
                <a:solidFill>
                  <a:srgbClr val="7FE0A0"/>
                </a:solidFill>
                <a:latin typeface="Consolas"/>
              </a:rPr>
              <a:t>  if (text.length &gt; 500)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Week 14: guard against a giant message. .length is the character 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181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182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184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186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14: never trust what a user types. A giant message wastes the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 // whole conversation budget and gets the request refused for everyone.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(text.length &gt; 500)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'That is too long for one message - try under 500 characters.');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Tell them kindly it is too long.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181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182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184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186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14: never trust what a user types. A giant message wastes the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 // whole conversation budget and gets the request refused for everyone.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(text.length &gt; 500)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is too long for one message - try under 500 characters.');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7FE0A0"/>
                </a:solidFill>
                <a:latin typeface="Consolas"/>
              </a:rPr>
              <a:t>    return;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And stop before sending - do not waste the whole budget on one message.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script.js   -   line 191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>
                <a:solidFill>
                  <a:srgbClr val="6D8C97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181  </a:t>
            </a:r>
            <a:r>
              <a:rPr sz="1300">
                <a:solidFill>
                  <a:srgbClr val="6D8C97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182  </a:t>
            </a:r>
            <a:r>
              <a:rPr sz="1300">
                <a:solidFill>
                  <a:srgbClr val="6D8C97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183  </a:t>
            </a:r>
            <a:r>
              <a:rPr sz="1300">
                <a:solidFill>
                  <a:srgbClr val="6D8C97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184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185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186  </a:t>
            </a:r>
            <a:r>
              <a:rPr sz="1300">
                <a:solidFill>
                  <a:srgbClr val="6D8C97"/>
                </a:solidFill>
                <a:latin typeface="Consolas"/>
              </a:rPr>
              <a:t>  // Week 14: never trust what a user types. A giant message wastes the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6D8C97"/>
                </a:solidFill>
                <a:latin typeface="Consolas"/>
              </a:rPr>
              <a:t>  // whole conversation budget and gets the request refused for everyone.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6D8C97"/>
                </a:solidFill>
                <a:latin typeface="Consolas"/>
              </a:rPr>
              <a:t>  if (text.length &gt; 500)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6D8C97"/>
                </a:solidFill>
                <a:latin typeface="Consolas"/>
              </a:rPr>
              <a:t>    addLine('problem', 'That is too long for one message - try under 500 characters.');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6D8C97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script.js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179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180  </a:t>
            </a:r>
            <a:r>
              <a:rPr sz="1300">
                <a:solidFill>
                  <a:srgbClr val="7FE0A0"/>
                </a:solidFill>
                <a:latin typeface="Consolas"/>
              </a:rPr>
              <a:t>// The browser calls this when the form is submitted.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181  </a:t>
            </a:r>
            <a:r>
              <a:rPr sz="1300">
                <a:solidFill>
                  <a:srgbClr val="7FE0A0"/>
                </a:solidFill>
                <a:latin typeface="Consolas"/>
              </a:rPr>
              <a:t>composer.addEventListener('submit', async function (event)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182  </a:t>
            </a:r>
            <a:r>
              <a:rPr sz="1300">
                <a:solidFill>
                  <a:srgbClr val="7FE0A0"/>
                </a:solidFill>
                <a:latin typeface="Consolas"/>
              </a:rPr>
              <a:t>  event.preventDefault();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183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text = promptBox.value.trim();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184  </a:t>
            </a:r>
            <a:r>
              <a:rPr sz="1300">
                <a:solidFill>
                  <a:srgbClr val="7FE0A0"/>
                </a:solidFill>
                <a:latin typeface="Consolas"/>
              </a:rPr>
              <a:t>  if (text === '') { return;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185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186  </a:t>
            </a:r>
            <a:r>
              <a:rPr sz="1300">
                <a:solidFill>
                  <a:srgbClr val="7FE0A0"/>
                </a:solidFill>
                <a:latin typeface="Consolas"/>
              </a:rPr>
              <a:t>  // Week 14: never trust what a user types. A giant message wastes the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187  </a:t>
            </a:r>
            <a:r>
              <a:rPr sz="1300">
                <a:solidFill>
                  <a:srgbClr val="7FE0A0"/>
                </a:solidFill>
                <a:latin typeface="Consolas"/>
              </a:rPr>
              <a:t>  // whole conversation budget and gets the request refused for everyone.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188  </a:t>
            </a:r>
            <a:r>
              <a:rPr sz="1300">
                <a:solidFill>
                  <a:srgbClr val="7FE0A0"/>
                </a:solidFill>
                <a:latin typeface="Consolas"/>
              </a:rPr>
              <a:t>  if (text.length &gt; 500)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189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'That is too long for one message - try under 500 characters.');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190  </a:t>
            </a:r>
            <a:r>
              <a:rPr sz="1300">
                <a:solidFill>
                  <a:srgbClr val="7FE0A0"/>
                </a:solidFill>
                <a:latin typeface="Consolas"/>
              </a:rPr>
              <a:t>    return;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191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193  </a:t>
            </a:r>
            <a:r>
              <a:rPr sz="1300">
                <a:solidFill>
                  <a:srgbClr val="7FE0A0"/>
                </a:solidFill>
                <a:latin typeface="Consolas"/>
              </a:rPr>
              <a:t>  promptBox.value = '';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194  </a:t>
            </a:r>
            <a:r>
              <a:rPr sz="1300">
                <a:solidFill>
                  <a:srgbClr val="7FE0A0"/>
                </a:solidFill>
                <a:latin typeface="Consolas"/>
              </a:rPr>
              <a:t>  addLine('you', text);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195  </a:t>
            </a:r>
            <a:r>
              <a:rPr sz="1300">
                <a:solidFill>
                  <a:srgbClr val="7FE0A0"/>
                </a:solidFill>
                <a:latin typeface="Consolas"/>
              </a:rPr>
              <a:t>  history.push({ role: 'user', content: text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196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197  </a:t>
            </a:r>
            <a:r>
              <a:rPr sz="1300">
                <a:solidFill>
                  <a:srgbClr val="7FE0A0"/>
                </a:solidFill>
                <a:latin typeface="Consolas"/>
              </a:rPr>
              <a:t>  const bubble = addLine('bot', '');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198  </a:t>
            </a:r>
            <a:r>
              <a:rPr sz="1300">
                <a:solidFill>
                  <a:srgbClr val="7FE0A0"/>
                </a:solidFill>
                <a:latin typeface="Consolas"/>
              </a:rPr>
              <a:t>  bubble.classList.add('writing');   // week 11: blinking cursor while it types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199  </a:t>
            </a:r>
            <a:r>
              <a:rPr sz="1300">
                <a:solidFill>
                  <a:srgbClr val="7FE0A0"/>
                </a:solidFill>
                <a:latin typeface="Consolas"/>
              </a:rPr>
              <a:t>  try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200  </a:t>
            </a:r>
            <a:r>
              <a:rPr sz="1300">
                <a:solidFill>
                  <a:srgbClr val="7FE0A0"/>
                </a:solidFill>
                <a:latin typeface="Consolas"/>
              </a:rPr>
              <a:t>    // The function we hand over runs on EVERY piece that arrives.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reply = await askAI(function (soFar)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202  </a:t>
            </a:r>
            <a:r>
              <a:rPr sz="1300">
                <a:solidFill>
                  <a:srgbClr val="7FE0A0"/>
                </a:solidFill>
                <a:latin typeface="Consolas"/>
              </a:rPr>
              <a:t>      bubble.textContent = soFar;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203  </a:t>
            </a:r>
            <a:r>
              <a:rPr sz="1300">
                <a:solidFill>
                  <a:srgbClr val="7FE0A0"/>
                </a:solidFill>
                <a:latin typeface="Consolas"/>
              </a:rPr>
              <a:t>      chat.scrollTop = chat.scrollHeight;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204  </a:t>
            </a:r>
            <a:r>
              <a:rPr sz="1300">
                <a:solidFill>
                  <a:srgbClr val="7FE0A0"/>
                </a:solidFill>
                <a:latin typeface="Consolas"/>
              </a:rPr>
              <a:t>    });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205  </a:t>
            </a:r>
            <a:r>
              <a:rPr sz="1300">
                <a:solidFill>
                  <a:srgbClr val="7FE0A0"/>
                </a:solidFill>
                <a:latin typeface="Consolas"/>
              </a:rPr>
              <a:t>    bubble.classList.remove('writing');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206  </a:t>
            </a:r>
            <a:r>
              <a:rPr sz="1300">
                <a:solidFill>
                  <a:srgbClr val="7FE0A0"/>
                </a:solidFill>
                <a:latin typeface="Consolas"/>
              </a:rPr>
              <a:t>    history.push({ role: 'assistant', content: reply });   // it said this too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207  </a:t>
            </a:r>
            <a:r>
              <a:rPr sz="1300">
                <a:solidFill>
                  <a:srgbClr val="7FE0A0"/>
                </a:solidFill>
                <a:latin typeface="Consolas"/>
              </a:rPr>
              <a:t>  } catch (problem)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208  </a:t>
            </a:r>
            <a:r>
              <a:rPr sz="1300">
                <a:solidFill>
                  <a:srgbClr val="7FE0A0"/>
                </a:solidFill>
                <a:latin typeface="Consolas"/>
              </a:rPr>
              <a:t>    bubble.remove();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209  </a:t>
            </a:r>
            <a:r>
              <a:rPr sz="1300">
                <a:solidFill>
                  <a:srgbClr val="7FE0A0"/>
                </a:solidFill>
                <a:latin typeface="Consolas"/>
              </a:rPr>
              <a:t>    // 'Failed to fetch' means the request never arrived anywhere. That is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210  </a:t>
            </a:r>
            <a:r>
              <a:rPr sz="1300">
                <a:solidFill>
                  <a:srgbClr val="7FE0A0"/>
                </a:solidFill>
                <a:latin typeface="Consolas"/>
              </a:rPr>
              <a:t>    // the commonest real failure and the least helpful wording, so replace it.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211  </a:t>
            </a:r>
            <a:r>
              <a:rPr sz="1300">
                <a:solidFill>
                  <a:srgbClr val="7FE0A0"/>
                </a:solidFill>
                <a:latin typeface="Consolas"/>
              </a:rPr>
              <a:t>    const said = problem.message === 'Failed to fetch'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212  </a:t>
            </a:r>
            <a:r>
              <a:rPr sz="1300">
                <a:solidFill>
                  <a:srgbClr val="7FE0A0"/>
                </a:solidFill>
                <a:latin typeface="Consolas"/>
              </a:rPr>
              <a:t>      ? 'Could not reach the AI. Are you on the school network?'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213  </a:t>
            </a:r>
            <a:r>
              <a:rPr sz="1300">
                <a:solidFill>
                  <a:srgbClr val="7FE0A0"/>
                </a:solidFill>
                <a:latin typeface="Consolas"/>
              </a:rPr>
              <a:t>      : problem.message;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214  </a:t>
            </a:r>
            <a:r>
              <a:rPr sz="1300">
                <a:solidFill>
                  <a:srgbClr val="7FE0A0"/>
                </a:solidFill>
                <a:latin typeface="Consolas"/>
              </a:rPr>
              <a:t>    addLine('problem', said);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215  </a:t>
            </a:r>
            <a:r>
              <a:rPr sz="1300">
                <a:solidFill>
                  <a:srgbClr val="7FE0A0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216  </a:t>
            </a:r>
            <a:r>
              <a:rPr sz="1300">
                <a:solidFill>
                  <a:srgbClr val="7FE0A0"/>
                </a:solidFill>
                <a:latin typeface="Consolas"/>
              </a:rPr>
              <a:t>});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refuse a message over 500 characters?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rude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AI cannot read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the file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huge message wastes the budget and gets the request refused for everyone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refuse a message over 500 characters?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rude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AI cannot read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the file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huge message wastes the budget and gets the request refused for everyone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giant message can blow past the 4000-character wall and get the whole request refused.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text.length is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AI's reply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number of characters in text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text.length is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AI's reply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number of characters in text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true or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.length on a string is its character count.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caution line under the title reminds users that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 is always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AI can be confidently wrong - check what matters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often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pick a character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caution line under the title reminds users that 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 is always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AI can be confidently wrong - check what matters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often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to pick a character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Even a fluent, confident answer can be wrong; the caution keeps students sceptical.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5 - why check if (!res.ok)?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stream the reply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the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fetch does NOT throw on a refusal, so you must check yourself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5 - why check if (!res.ok)?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stream the reply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to save the chat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fetch does NOT throw on a refusal, so you must check yourself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401 or 429 looks just like a success to fetch until you check res.ok.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8 - what keeps the conversation under the server's limit?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 shortens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trimHistory drops the oldest messages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 slider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From week 8 - what keeps the conversation under the server's limit?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AI shortens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nothing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trimHistory drops the oldest messages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temperature slider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trimHistory removes old messages so each request stays under the 4000-character wall.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index.html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&lt;main class="app"&gt;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&lt;header class="top"&gt;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&lt;h1&gt;My AI Companion&lt;/h1&gt;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&lt;p class="tag"&gt;Built by me, running on the school AI&lt;/p&gt;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&lt;p class="caution"&gt;It can be confidently wrong. Check anything that matters.&lt;/p&gt;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caution line under the title: the AI can be confidently wrong. class="caution" styles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.caution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Style the caution line.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.caution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  margin: 0 0 18px;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Space around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.caution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padding: 8px 11px;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Padding inside.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border-left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border-left: 3px solid #e9952a;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border on ONE edge - the left.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border (week 2) drew a line all the way round; this is just one side.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coloured stripe down the left makes the caution stand out.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1AEFD"/>
                </a:solidFill>
              </a:rPr>
              <a:t>ON THE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2A37"/>
                </a:solidFill>
              </a:rPr>
              <a:t>border-left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54237" y="1641896"/>
            <a:ext cx="5249387" cy="3918021"/>
          </a:xfrm>
          <a:prstGeom prst="roundRect">
            <a:avLst/>
          </a:prstGeom>
          <a:solidFill>
            <a:srgbClr val="0F1F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06393" y="2022287"/>
            <a:ext cx="4945075" cy="437448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20510" y="2155423"/>
            <a:ext cx="1426463" cy="190195"/>
          </a:xfrm>
          <a:prstGeom prst="roundRect">
            <a:avLst/>
          </a:prstGeom>
          <a:solidFill>
            <a:srgbClr val="4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6393" y="2554833"/>
            <a:ext cx="4945075" cy="1730776"/>
          </a:xfrm>
          <a:prstGeom prst="roundRect">
            <a:avLst/>
          </a:prstGeom>
          <a:solidFill>
            <a:srgbClr val="0B1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20510" y="2668950"/>
            <a:ext cx="2852927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4423" y="3182477"/>
            <a:ext cx="2852927" cy="399409"/>
          </a:xfrm>
          <a:prstGeom prst="roundRect">
            <a:avLst/>
          </a:prstGeom>
          <a:solidFill>
            <a:srgbClr val="123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20510" y="3696004"/>
            <a:ext cx="3138220" cy="399409"/>
          </a:xfrm>
          <a:prstGeom prst="roundRect">
            <a:avLst/>
          </a:prstGeom>
          <a:solidFill>
            <a:srgbClr val="1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1491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23052" y="4409236"/>
            <a:ext cx="1426463" cy="228234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01491" y="4856195"/>
            <a:ext cx="3899001" cy="323331"/>
          </a:xfrm>
          <a:prstGeom prst="roundRect">
            <a:avLst/>
          </a:prstGeom>
          <a:solidFill>
            <a:srgbClr val="16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95590" y="4856195"/>
            <a:ext cx="779800" cy="323331"/>
          </a:xfrm>
          <a:prstGeom prst="roundRect">
            <a:avLst/>
          </a:prstGeom>
          <a:solidFill>
            <a:srgbClr val="01A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0510" y="5407761"/>
            <a:ext cx="1616659" cy="95097"/>
          </a:xfrm>
          <a:prstGeom prst="roundRect">
            <a:avLst/>
          </a:prstGeom>
          <a:solidFill>
            <a:srgbClr val="2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82471" y="2630911"/>
            <a:ext cx="2929006" cy="475488"/>
          </a:xfrm>
          <a:prstGeom prst="roundRect">
            <a:avLst/>
          </a:prstGeom>
          <a:noFill/>
          <a:ln w="44450">
            <a:solidFill>
              <a:srgbClr val="FFD6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0A6299"/>
                </a:solidFill>
              </a:rPr>
              <a:t>border-left is a line down just one edge of a bubble.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.caution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margin: 0 0 18px;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padding: 8px 11px;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border-left: 3px solid #e9952a;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coloured stripe down the LEFT edge - the warning accent.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.caution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8px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border-left: 3px solid #e9952a;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#fff8e9;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soft warning-yellow background.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.caution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8px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border-left: 3px solid #e9952a;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#fff8e9;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#8a5a12;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Brown text to match.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style.css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6D8C97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.caution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margin: 0 0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  padding: 8px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border-left: 3px solid #e9952a;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  background: #fff8e9;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6D8C97"/>
                </a:solidFill>
                <a:latin typeface="Consolas"/>
              </a:rPr>
              <a:t>  color: #8a5a12;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13px;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Small - it is a note, not a headline.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style.css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1  </a:t>
            </a:r>
            <a:r>
              <a:rPr sz="1300">
                <a:solidFill>
                  <a:srgbClr val="7FE0A0"/>
                </a:solidFill>
                <a:latin typeface="Consolas"/>
              </a:rPr>
              <a:t>body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margin: 0;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  font-family: Arial, Helvetica, sans-serif;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#eef2f7;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#1f2a37;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.caution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margin: 0 0 18px;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  padding: 8px 11px;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border-left: 3px solid #e9952a;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  background: #fff8e9;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color: #8a5a12;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  font-size: 13px;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guards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Run. Send an empty message (nothing happens), then paste a huge block over 500 characters - you should get 'That is too long...' instead of a wasted request. And read the caution line under the title: even a confident answer can be wrong.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it in the classroom, or press Show the output in the web deck.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screen should match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