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Week 9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800">
                <a:solidFill>
                  <a:srgbClr val="01AEFD"/>
                </a:solidFill>
              </a:rPr>
              <a:t>Knobs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Same question. Two answers.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800">
                <a:solidFill>
                  <a:srgbClr val="01AEFD"/>
                </a:solidFill>
              </a:rPr>
              <a:t>temperature 0 vs 1.4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Which do you prefer?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Better question: when would each be right?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What temperature really is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800">
                <a:solidFill>
                  <a:srgbClr val="01AEFD"/>
                </a:solidFill>
              </a:rPr>
              <a:t>The model ranks every possible next word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0 - always take the top one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1.4 - often take a lower one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That is genuinely all it is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fast vs smart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fast - about a second, a bit simple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smart - slower, thinks better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Both share one graphics card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Sliders give you text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800">
                <a:solidFill>
                  <a:srgbClr val="01AEFD"/>
                </a:solidFill>
              </a:rPr>
              <a:t>Number(tempBox.value)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"0.7" is not 0.7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Send the wrong one and you get a 400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600" b="1">
                <a:solidFill>
                  <a:srgbClr val="01AEFD"/>
                </a:solidFill>
              </a:rPr>
              <a:t>Type this into index.html  (1 of 7)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051560"/>
            <a:ext cx="11155680" cy="5394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 12  </a:t>
            </a:r>
            <a:r>
              <a:rPr sz="1400">
                <a:solidFill>
                  <a:srgbClr val="7FE0A0"/>
                </a:solidFill>
                <a:latin typeface="Consolas"/>
              </a:rPr>
              <a:t>  &lt;div class="controls"&gt;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 13  </a:t>
            </a:r>
            <a:r>
              <a:rPr sz="1400">
                <a:solidFill>
                  <a:srgbClr val="7FE0A0"/>
                </a:solidFill>
                <a:latin typeface="Consolas"/>
              </a:rPr>
              <a:t>    &lt;!-- The two value="" names are the only model names in the project. --&gt;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 14  </a:t>
            </a:r>
            <a:r>
              <a:rPr sz="1400">
                <a:solidFill>
                  <a:srgbClr val="7FE0A0"/>
                </a:solidFill>
                <a:latin typeface="Consolas"/>
              </a:rPr>
              <a:t>    &lt;label&gt;Brain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 15  </a:t>
            </a:r>
            <a:r>
              <a:rPr sz="1400">
                <a:solidFill>
                  <a:srgbClr val="7FE0A0"/>
                </a:solidFill>
                <a:latin typeface="Consolas"/>
              </a:rPr>
              <a:t>      &lt;select id="model"&gt;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 16  </a:t>
            </a:r>
            <a:r>
              <a:rPr sz="1400">
                <a:solidFill>
                  <a:srgbClr val="7FE0A0"/>
                </a:solidFill>
                <a:latin typeface="Consolas"/>
              </a:rPr>
              <a:t>        &lt;option value="fast"&gt;fast &amp;ndash; quick, a bit simple&lt;/option&gt;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 17  </a:t>
            </a:r>
            <a:r>
              <a:rPr sz="1400">
                <a:solidFill>
                  <a:srgbClr val="7FE0A0"/>
                </a:solidFill>
                <a:latin typeface="Consolas"/>
              </a:rPr>
              <a:t>        &lt;option value="smart"&gt;smart &amp;ndash; better, slower&lt;/option&gt;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 18  </a:t>
            </a:r>
            <a:r>
              <a:rPr sz="1400">
                <a:solidFill>
                  <a:srgbClr val="7FE0A0"/>
                </a:solidFill>
                <a:latin typeface="Consolas"/>
              </a:rPr>
              <a:t>      &lt;/select&gt;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 19  </a:t>
            </a:r>
            <a:r>
              <a:rPr sz="1400">
                <a:solidFill>
                  <a:srgbClr val="7FE0A0"/>
                </a:solidFill>
                <a:latin typeface="Consolas"/>
              </a:rPr>
              <a:t>    &lt;/label&gt;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 20  </a:t>
            </a:r>
            <a:r>
              <a:rPr sz="1400">
                <a:solidFill>
                  <a:srgbClr val="7FE0A0"/>
                </a:solidFill>
                <a:latin typeface="Consolas"/>
              </a:rPr>
              <a:t>    &lt;label&gt;Imagination &lt;output id="tempOut"&gt;0.7&lt;/output&gt;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 21  </a:t>
            </a:r>
            <a:r>
              <a:rPr sz="1400">
                <a:solidFill>
                  <a:srgbClr val="7FE0A0"/>
                </a:solidFill>
                <a:latin typeface="Consolas"/>
              </a:rPr>
              <a:t>      &lt;input id="temp" type="range" min="0" max="1.5" step="0.1" value="0.7"&gt;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 22  </a:t>
            </a:r>
            <a:r>
              <a:rPr sz="1400">
                <a:solidFill>
                  <a:srgbClr val="7FE0A0"/>
                </a:solidFill>
                <a:latin typeface="Consolas"/>
              </a:rPr>
              <a:t>    &lt;/label&gt;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 23  </a:t>
            </a:r>
            <a:r>
              <a:rPr sz="1400">
                <a:solidFill>
                  <a:srgbClr val="7FE0A0"/>
                </a:solidFill>
                <a:latin typeface="Consolas"/>
              </a:rPr>
              <a:t>  &lt;/div&gt;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600" b="1">
                <a:solidFill>
                  <a:srgbClr val="01AEFD"/>
                </a:solidFill>
              </a:rPr>
              <a:t>Type this into style.css  (2 of 7)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051560"/>
            <a:ext cx="11155680" cy="5394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700">
                <a:solidFill>
                  <a:srgbClr val="6D8C97"/>
                </a:solidFill>
                <a:latin typeface="Consolas"/>
              </a:rPr>
              <a:t>  75  </a:t>
            </a:r>
            <a:r>
              <a:rPr sz="1700">
                <a:solidFill>
                  <a:srgbClr val="7FE0A0"/>
                </a:solidFill>
                <a:latin typeface="Consolas"/>
              </a:rPr>
              <a:t>.controls {</a:t>
            </a:r>
          </a:p>
          <a:p>
            <a:pPr>
              <a:spcAft>
                <a:spcPts val="0"/>
              </a:spcAft>
            </a:pPr>
            <a:r>
              <a:rPr sz="1700">
                <a:solidFill>
                  <a:srgbClr val="6D8C97"/>
                </a:solidFill>
                <a:latin typeface="Consolas"/>
              </a:rPr>
              <a:t>  76  </a:t>
            </a:r>
            <a:r>
              <a:rPr sz="1700">
                <a:solidFill>
                  <a:srgbClr val="7FE0A0"/>
                </a:solidFill>
                <a:latin typeface="Consolas"/>
              </a:rPr>
              <a:t>  display: flex;</a:t>
            </a:r>
          </a:p>
          <a:p>
            <a:pPr>
              <a:spcAft>
                <a:spcPts val="0"/>
              </a:spcAft>
            </a:pPr>
            <a:r>
              <a:rPr sz="1700">
                <a:solidFill>
                  <a:srgbClr val="6D8C97"/>
                </a:solidFill>
                <a:latin typeface="Consolas"/>
              </a:rPr>
              <a:t>  77  </a:t>
            </a:r>
            <a:r>
              <a:rPr sz="1700">
                <a:solidFill>
                  <a:srgbClr val="7FE0A0"/>
                </a:solidFill>
                <a:latin typeface="Consolas"/>
              </a:rPr>
              <a:t>  gap: 18px;</a:t>
            </a:r>
          </a:p>
          <a:p>
            <a:pPr>
              <a:spcAft>
                <a:spcPts val="0"/>
              </a:spcAft>
            </a:pPr>
            <a:r>
              <a:rPr sz="1700">
                <a:solidFill>
                  <a:srgbClr val="6D8C97"/>
                </a:solidFill>
                <a:latin typeface="Consolas"/>
              </a:rPr>
              <a:t>  78  </a:t>
            </a:r>
            <a:r>
              <a:rPr sz="1700">
                <a:solidFill>
                  <a:srgbClr val="7FE0A0"/>
                </a:solidFill>
                <a:latin typeface="Consolas"/>
              </a:rPr>
              <a:t>  flex-wrap: wrap;</a:t>
            </a:r>
          </a:p>
          <a:p>
            <a:pPr>
              <a:spcAft>
                <a:spcPts val="0"/>
              </a:spcAft>
            </a:pPr>
            <a:r>
              <a:rPr sz="1700">
                <a:solidFill>
                  <a:srgbClr val="6D8C97"/>
                </a:solidFill>
                <a:latin typeface="Consolas"/>
              </a:rPr>
              <a:t>  79  </a:t>
            </a:r>
            <a:r>
              <a:rPr sz="1700">
                <a:solidFill>
                  <a:srgbClr val="7FE0A0"/>
                </a:solidFill>
                <a:latin typeface="Consolas"/>
              </a:rPr>
              <a:t>  margin-bottom: 12px;</a:t>
            </a:r>
          </a:p>
          <a:p>
            <a:pPr>
              <a:spcAft>
                <a:spcPts val="0"/>
              </a:spcAft>
            </a:pPr>
            <a:r>
              <a:rPr sz="1700">
                <a:solidFill>
                  <a:srgbClr val="6D8C97"/>
                </a:solidFill>
                <a:latin typeface="Consolas"/>
              </a:rPr>
              <a:t>  80  </a:t>
            </a:r>
            <a:r>
              <a:rPr sz="1700">
                <a:solidFill>
                  <a:srgbClr val="7FE0A0"/>
                </a:solidFill>
                <a:latin typeface="Consolas"/>
              </a:rPr>
              <a:t>  font-size: 14px;</a:t>
            </a:r>
          </a:p>
          <a:p>
            <a:pPr>
              <a:spcAft>
                <a:spcPts val="0"/>
              </a:spcAft>
            </a:pPr>
            <a:r>
              <a:rPr sz="1700">
                <a:solidFill>
                  <a:srgbClr val="6D8C97"/>
                </a:solidFill>
                <a:latin typeface="Consolas"/>
              </a:rPr>
              <a:t>  81  </a:t>
            </a:r>
            <a:r>
              <a:rPr sz="1700">
                <a:solidFill>
                  <a:srgbClr val="7FE0A0"/>
                </a:solidFill>
                <a:latin typeface="Consolas"/>
              </a:rPr>
              <a:t>}</a:t>
            </a:r>
          </a:p>
          <a:p>
            <a:pPr>
              <a:spcAft>
                <a:spcPts val="0"/>
              </a:spcAft>
            </a:pPr>
            <a:r>
              <a:rPr sz="1700">
                <a:solidFill>
                  <a:srgbClr val="6D8C97"/>
                </a:solidFill>
                <a:latin typeface="Consolas"/>
              </a:rPr>
              <a:t>  82  </a:t>
            </a:r>
            <a:r>
              <a:rPr sz="1700">
                <a:solidFill>
                  <a:srgbClr val="7FE0A0"/>
                </a:solidFill>
                <a:latin typeface="Consolas"/>
              </a:rPr>
              <a:t>.controls label { display: grid; gap: 4px; }</a:t>
            </a:r>
          </a:p>
          <a:p>
            <a:pPr>
              <a:spcAft>
                <a:spcPts val="0"/>
              </a:spcAft>
            </a:pPr>
            <a:r>
              <a:rPr sz="1700">
                <a:solidFill>
                  <a:srgbClr val="6D8C97"/>
                </a:solidFill>
                <a:latin typeface="Consolas"/>
              </a:rPr>
              <a:t>  83  </a:t>
            </a:r>
            <a:r>
              <a:rPr sz="1700">
                <a:solidFill>
                  <a:srgbClr val="7FE0A0"/>
                </a:solidFill>
                <a:latin typeface="Consolas"/>
              </a:rPr>
              <a:t>.controls select, .controls input { font-size: 14px; }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600" b="1">
                <a:solidFill>
                  <a:srgbClr val="01AEFD"/>
                </a:solidFill>
              </a:rPr>
              <a:t>Type this into script.js  (3 of 7)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051560"/>
            <a:ext cx="11155680" cy="5394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700">
                <a:solidFill>
                  <a:srgbClr val="6D8C97"/>
                </a:solidFill>
                <a:latin typeface="Consolas"/>
              </a:rPr>
              <a:t>  16  </a:t>
            </a:r>
            <a:r>
              <a:rPr sz="1700">
                <a:solidFill>
                  <a:srgbClr val="DCECEF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700">
                <a:solidFill>
                  <a:srgbClr val="6D8C97"/>
                </a:solidFill>
                <a:latin typeface="Consolas"/>
              </a:rPr>
              <a:t>  17  </a:t>
            </a:r>
            <a:r>
              <a:rPr sz="1700">
                <a:solidFill>
                  <a:srgbClr val="DCECEF"/>
                </a:solidFill>
                <a:latin typeface="Consolas"/>
              </a:rPr>
              <a:t>// Week 2: find the boxes we named in index.html.</a:t>
            </a:r>
          </a:p>
          <a:p>
            <a:pPr>
              <a:spcAft>
                <a:spcPts val="0"/>
              </a:spcAft>
            </a:pPr>
            <a:r>
              <a:rPr sz="1700">
                <a:solidFill>
                  <a:srgbClr val="6D8C97"/>
                </a:solidFill>
                <a:latin typeface="Consolas"/>
              </a:rPr>
              <a:t>  18  </a:t>
            </a:r>
            <a:r>
              <a:rPr sz="1700">
                <a:solidFill>
                  <a:srgbClr val="DCECEF"/>
                </a:solidFill>
                <a:latin typeface="Consolas"/>
              </a:rPr>
              <a:t>// document.getElementById looks for the id= we wrote on each element.</a:t>
            </a:r>
          </a:p>
          <a:p>
            <a:pPr>
              <a:spcAft>
                <a:spcPts val="0"/>
              </a:spcAft>
            </a:pPr>
            <a:r>
              <a:rPr sz="1700">
                <a:solidFill>
                  <a:srgbClr val="6D8C97"/>
                </a:solidFill>
                <a:latin typeface="Consolas"/>
              </a:rPr>
              <a:t>  19  </a:t>
            </a:r>
            <a:r>
              <a:rPr sz="1700">
                <a:solidFill>
                  <a:srgbClr val="DCECEF"/>
                </a:solidFill>
                <a:latin typeface="Consolas"/>
              </a:rPr>
              <a:t>const chat = document.getElementById('chat');</a:t>
            </a:r>
          </a:p>
          <a:p>
            <a:pPr>
              <a:spcAft>
                <a:spcPts val="0"/>
              </a:spcAft>
            </a:pPr>
            <a:r>
              <a:rPr sz="1700">
                <a:solidFill>
                  <a:srgbClr val="6D8C97"/>
                </a:solidFill>
                <a:latin typeface="Consolas"/>
              </a:rPr>
              <a:t>  20  </a:t>
            </a:r>
            <a:r>
              <a:rPr sz="1700">
                <a:solidFill>
                  <a:srgbClr val="DCECEF"/>
                </a:solidFill>
                <a:latin typeface="Consolas"/>
              </a:rPr>
              <a:t>const composer = document.getElementById('composer');</a:t>
            </a:r>
          </a:p>
          <a:p>
            <a:pPr>
              <a:spcAft>
                <a:spcPts val="0"/>
              </a:spcAft>
            </a:pPr>
            <a:r>
              <a:rPr sz="1700">
                <a:solidFill>
                  <a:srgbClr val="6D8C97"/>
                </a:solidFill>
                <a:latin typeface="Consolas"/>
              </a:rPr>
              <a:t>  21  </a:t>
            </a:r>
            <a:r>
              <a:rPr sz="1700">
                <a:solidFill>
                  <a:srgbClr val="DCECEF"/>
                </a:solidFill>
                <a:latin typeface="Consolas"/>
              </a:rPr>
              <a:t>const promptBox = document.getElementById('prompt');</a:t>
            </a:r>
          </a:p>
          <a:p>
            <a:pPr>
              <a:spcAft>
                <a:spcPts val="0"/>
              </a:spcAft>
            </a:pPr>
            <a:r>
              <a:rPr sz="1700">
                <a:solidFill>
                  <a:srgbClr val="6D8C97"/>
                </a:solidFill>
                <a:latin typeface="Consolas"/>
              </a:rPr>
              <a:t>  22  </a:t>
            </a:r>
            <a:r>
              <a:rPr sz="1700">
                <a:solidFill>
                  <a:srgbClr val="DCECEF"/>
                </a:solidFill>
                <a:latin typeface="Consolas"/>
              </a:rPr>
              <a:t>const personaBox = document.getElementById('persona');</a:t>
            </a:r>
          </a:p>
          <a:p>
            <a:pPr>
              <a:spcAft>
                <a:spcPts val="0"/>
              </a:spcAft>
            </a:pPr>
            <a:r>
              <a:rPr sz="1700">
                <a:solidFill>
                  <a:srgbClr val="6D8C97"/>
                </a:solidFill>
                <a:latin typeface="Consolas"/>
              </a:rPr>
              <a:t>  23  </a:t>
            </a:r>
            <a:r>
              <a:rPr sz="1700">
                <a:solidFill>
                  <a:srgbClr val="7FE0A0"/>
                </a:solidFill>
                <a:latin typeface="Consolas"/>
              </a:rPr>
              <a:t>const modelBox = document.getElementById('model');</a:t>
            </a:r>
          </a:p>
          <a:p>
            <a:pPr>
              <a:spcAft>
                <a:spcPts val="0"/>
              </a:spcAft>
            </a:pPr>
            <a:r>
              <a:rPr sz="1700">
                <a:solidFill>
                  <a:srgbClr val="6D8C97"/>
                </a:solidFill>
                <a:latin typeface="Consolas"/>
              </a:rPr>
              <a:t>  24  </a:t>
            </a:r>
            <a:r>
              <a:rPr sz="1700">
                <a:solidFill>
                  <a:srgbClr val="7FE0A0"/>
                </a:solidFill>
                <a:latin typeface="Consolas"/>
              </a:rPr>
              <a:t>const tempBox = document.getElementById('temp');</a:t>
            </a:r>
          </a:p>
          <a:p>
            <a:pPr>
              <a:spcAft>
                <a:spcPts val="0"/>
              </a:spcAft>
            </a:pPr>
            <a:r>
              <a:rPr sz="1700">
                <a:solidFill>
                  <a:srgbClr val="6D8C97"/>
                </a:solidFill>
                <a:latin typeface="Consolas"/>
              </a:rPr>
              <a:t>  25  </a:t>
            </a:r>
            <a:r>
              <a:rPr sz="1700">
                <a:solidFill>
                  <a:srgbClr val="7FE0A0"/>
                </a:solidFill>
                <a:latin typeface="Consolas"/>
              </a:rPr>
              <a:t>const tempOut = document.getElementById('tempOut');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600" b="1">
                <a:solidFill>
                  <a:srgbClr val="01AEFD"/>
                </a:solidFill>
              </a:rPr>
              <a:t>Type this into script.js  (4 of 7)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051560"/>
            <a:ext cx="11155680" cy="5394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700">
                <a:solidFill>
                  <a:srgbClr val="6D8C97"/>
                </a:solidFill>
                <a:latin typeface="Consolas"/>
              </a:rPr>
              <a:t> 112  </a:t>
            </a:r>
            <a:r>
              <a:rPr sz="1700">
                <a:solidFill>
                  <a:srgbClr val="7FE0A0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700">
                <a:solidFill>
                  <a:srgbClr val="6D8C97"/>
                </a:solidFill>
                <a:latin typeface="Consolas"/>
              </a:rPr>
              <a:t> 113  </a:t>
            </a:r>
            <a:r>
              <a:rPr sz="1700">
                <a:solidFill>
                  <a:srgbClr val="7FE0A0"/>
                </a:solidFill>
                <a:latin typeface="Consolas"/>
              </a:rPr>
              <a:t>// Week 9: show the slider's value so the number means something.</a:t>
            </a:r>
          </a:p>
          <a:p>
            <a:pPr>
              <a:spcAft>
                <a:spcPts val="0"/>
              </a:spcAft>
            </a:pPr>
            <a:r>
              <a:rPr sz="1700">
                <a:solidFill>
                  <a:srgbClr val="6D8C97"/>
                </a:solidFill>
                <a:latin typeface="Consolas"/>
              </a:rPr>
              <a:t> 114  </a:t>
            </a:r>
            <a:r>
              <a:rPr sz="1700">
                <a:solidFill>
                  <a:srgbClr val="7FE0A0"/>
                </a:solidFill>
                <a:latin typeface="Consolas"/>
              </a:rPr>
              <a:t>tempBox.addEventListener('input', function () {</a:t>
            </a:r>
          </a:p>
          <a:p>
            <a:pPr>
              <a:spcAft>
                <a:spcPts val="0"/>
              </a:spcAft>
            </a:pPr>
            <a:r>
              <a:rPr sz="1700">
                <a:solidFill>
                  <a:srgbClr val="6D8C97"/>
                </a:solidFill>
                <a:latin typeface="Consolas"/>
              </a:rPr>
              <a:t> 115  </a:t>
            </a:r>
            <a:r>
              <a:rPr sz="1700">
                <a:solidFill>
                  <a:srgbClr val="7FE0A0"/>
                </a:solidFill>
                <a:latin typeface="Consolas"/>
              </a:rPr>
              <a:t>  tempOut.textContent = tempBox.value;</a:t>
            </a:r>
          </a:p>
          <a:p>
            <a:pPr>
              <a:spcAft>
                <a:spcPts val="0"/>
              </a:spcAft>
            </a:pPr>
            <a:r>
              <a:rPr sz="1700">
                <a:solidFill>
                  <a:srgbClr val="6D8C97"/>
                </a:solidFill>
                <a:latin typeface="Consolas"/>
              </a:rPr>
              <a:t> 116  </a:t>
            </a:r>
            <a:r>
              <a:rPr sz="1700">
                <a:solidFill>
                  <a:srgbClr val="7FE0A0"/>
                </a:solidFill>
                <a:latin typeface="Consolas"/>
              </a:rPr>
              <a:t>});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600" b="1">
                <a:solidFill>
                  <a:srgbClr val="01AEFD"/>
                </a:solidFill>
              </a:rPr>
              <a:t>Type this into script.js  (5 of 7)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051560"/>
            <a:ext cx="11155680" cy="5394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 79  </a:t>
            </a:r>
            <a:r>
              <a:rPr sz="1400">
                <a:solidFill>
                  <a:srgbClr val="DCECEF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 80  </a:t>
            </a:r>
            <a:r>
              <a:rPr sz="1400">
                <a:solidFill>
                  <a:srgbClr val="DCECEF"/>
                </a:solidFill>
                <a:latin typeface="Consolas"/>
              </a:rPr>
              <a:t>// Week 4: ask the AI a real question.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 81  </a:t>
            </a:r>
            <a:r>
              <a:rPr sz="1400">
                <a:solidFill>
                  <a:srgbClr val="DCECEF"/>
                </a:solidFill>
                <a:latin typeface="Consolas"/>
              </a:rPr>
              <a:t>// A chat request is a LIST of messages. Each one says who said it.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 82  </a:t>
            </a:r>
            <a:r>
              <a:rPr sz="1400">
                <a:solidFill>
                  <a:srgbClr val="DCECEF"/>
                </a:solidFill>
                <a:latin typeface="Consolas"/>
              </a:rPr>
              <a:t>async function askAI() {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 83  </a:t>
            </a:r>
            <a:r>
              <a:rPr sz="1400">
                <a:solidFill>
                  <a:srgbClr val="DCECEF"/>
                </a:solidFill>
                <a:latin typeface="Consolas"/>
              </a:rPr>
              <a:t>  trimHistory();   // week 8: never send more than the server will read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 84  </a:t>
            </a:r>
            <a:r>
              <a:rPr sz="1400">
                <a:solidFill>
                  <a:srgbClr val="DCECEF"/>
                </a:solidFill>
                <a:latin typeface="Consolas"/>
              </a:rPr>
              <a:t>  const res = await fetch(AI_BASE + '/v1/chat/completions', {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 85  </a:t>
            </a:r>
            <a:r>
              <a:rPr sz="1400">
                <a:solidFill>
                  <a:srgbClr val="DCECEF"/>
                </a:solidFill>
                <a:latin typeface="Consolas"/>
              </a:rPr>
              <a:t>    method: 'POST',                       // POST = I am sending you something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 86  </a:t>
            </a:r>
            <a:r>
              <a:rPr sz="1400">
                <a:solidFill>
                  <a:srgbClr val="DCECEF"/>
                </a:solidFill>
                <a:latin typeface="Consolas"/>
              </a:rPr>
              <a:t>    headers: {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 87  </a:t>
            </a:r>
            <a:r>
              <a:rPr sz="1400">
                <a:solidFill>
                  <a:srgbClr val="DCECEF"/>
                </a:solidFill>
                <a:latin typeface="Consolas"/>
              </a:rPr>
              <a:t>      'Content-Type': 'application/json', // what I am sending is JSON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 88  </a:t>
            </a:r>
            <a:r>
              <a:rPr sz="1400">
                <a:solidFill>
                  <a:srgbClr val="DCECEF"/>
                </a:solidFill>
                <a:latin typeface="Consolas"/>
              </a:rPr>
              <a:t>      'Authorization': 'Bearer ' + API_KEY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 89  </a:t>
            </a:r>
            <a:r>
              <a:rPr sz="1400">
                <a:solidFill>
                  <a:srgbClr val="DCECEF"/>
                </a:solidFill>
                <a:latin typeface="Consolas"/>
              </a:rPr>
              <a:t>    },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 90  </a:t>
            </a:r>
            <a:r>
              <a:rPr sz="1400">
                <a:solidFill>
                  <a:srgbClr val="DCECEF"/>
                </a:solidFill>
                <a:latin typeface="Consolas"/>
              </a:rPr>
              <a:t>    body: JSON.stringify({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 91  </a:t>
            </a:r>
            <a:r>
              <a:rPr sz="1400">
                <a:solidFill>
                  <a:srgbClr val="7FE0A0"/>
                </a:solidFill>
                <a:latin typeface="Consolas"/>
              </a:rPr>
              <a:t>      model: modelBox.value,                    // week 9: chosen on the page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 92  </a:t>
            </a:r>
            <a:r>
              <a:rPr sz="1400">
                <a:solidFill>
                  <a:srgbClr val="7FE0A0"/>
                </a:solidFill>
                <a:latin typeface="Consolas"/>
              </a:rPr>
              <a:t>      temperature: Number(tempBox.value),       // 0 = careful, 1.5 = wild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 93  </a:t>
            </a:r>
            <a:r>
              <a:rPr sz="1400">
                <a:solidFill>
                  <a:srgbClr val="DCECEF"/>
                </a:solidFill>
                <a:latin typeface="Consolas"/>
              </a:rPr>
              <a:t>      messages: [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600" b="1">
                <a:solidFill>
                  <a:srgbClr val="01AEFD"/>
                </a:solidFill>
              </a:rPr>
              <a:t>Type this into script.js  (6 of 7)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051560"/>
            <a:ext cx="11155680" cy="5394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 94  </a:t>
            </a:r>
            <a:r>
              <a:rPr sz="1400">
                <a:solidFill>
                  <a:srgbClr val="DCECEF"/>
                </a:solidFill>
                <a:latin typeface="Consolas"/>
              </a:rPr>
              <a:t>        // Week 6: the standing instruction, read before every single reply.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 95  </a:t>
            </a:r>
            <a:r>
              <a:rPr sz="1400">
                <a:solidFill>
                  <a:srgbClr val="DCECEF"/>
                </a:solidFill>
                <a:latin typeface="Consolas"/>
              </a:rPr>
              <a:t>        { role: 'system', content: personaBox.value },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 96  </a:t>
            </a:r>
            <a:r>
              <a:rPr sz="1400">
                <a:solidFill>
                  <a:srgbClr val="DCECEF"/>
                </a:solidFill>
                <a:latin typeface="Consolas"/>
              </a:rPr>
              <a:t>        // Week 7: everything said so far, oldest first.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 97  </a:t>
            </a:r>
            <a:r>
              <a:rPr sz="1400">
                <a:solidFill>
                  <a:srgbClr val="DCECEF"/>
                </a:solidFill>
                <a:latin typeface="Consolas"/>
              </a:rPr>
              <a:t>        ...history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 98  </a:t>
            </a:r>
            <a:r>
              <a:rPr sz="1400">
                <a:solidFill>
                  <a:srgbClr val="DCECEF"/>
                </a:solidFill>
                <a:latin typeface="Consolas"/>
              </a:rPr>
              <a:t>      ]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 99  </a:t>
            </a:r>
            <a:r>
              <a:rPr sz="1400">
                <a:solidFill>
                  <a:srgbClr val="DCECEF"/>
                </a:solidFill>
                <a:latin typeface="Consolas"/>
              </a:rPr>
              <a:t>    })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100  </a:t>
            </a:r>
            <a:r>
              <a:rPr sz="1400">
                <a:solidFill>
                  <a:srgbClr val="DCECEF"/>
                </a:solidFill>
                <a:latin typeface="Consolas"/>
              </a:rPr>
              <a:t>  });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101  </a:t>
            </a:r>
            <a:r>
              <a:rPr sz="1400">
                <a:solidFill>
                  <a:srgbClr val="DCECEF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102  </a:t>
            </a:r>
            <a:r>
              <a:rPr sz="1400">
                <a:solidFill>
                  <a:srgbClr val="DCECEF"/>
                </a:solidFill>
                <a:latin typeface="Consolas"/>
              </a:rPr>
              <a:t>  // Week 5: fetch does NOT throw when the server says no. A 429 arrives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103  </a:t>
            </a:r>
            <a:r>
              <a:rPr sz="1400">
                <a:solidFill>
                  <a:srgbClr val="DCECEF"/>
                </a:solidFill>
                <a:latin typeface="Consolas"/>
              </a:rPr>
              <a:t>  // looking just like a success until you actually check.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104  </a:t>
            </a:r>
            <a:r>
              <a:rPr sz="1400">
                <a:solidFill>
                  <a:srgbClr val="DCECEF"/>
                </a:solidFill>
                <a:latin typeface="Consolas"/>
              </a:rPr>
              <a:t>  if (!res.ok) {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105  </a:t>
            </a:r>
            <a:r>
              <a:rPr sz="1400">
                <a:solidFill>
                  <a:srgbClr val="DCECEF"/>
                </a:solidFill>
                <a:latin typeface="Consolas"/>
              </a:rPr>
              <a:t>    const problem = await res.json();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106  </a:t>
            </a:r>
            <a:r>
              <a:rPr sz="1400">
                <a:solidFill>
                  <a:srgbClr val="DCECEF"/>
                </a:solidFill>
                <a:latin typeface="Consolas"/>
              </a:rPr>
              <a:t>    throw new Error(explain(res.status, problem));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107  </a:t>
            </a:r>
            <a:r>
              <a:rPr sz="1400">
                <a:solidFill>
                  <a:srgbClr val="DCECEF"/>
                </a:solidFill>
                <a:latin typeface="Consolas"/>
              </a:rPr>
              <a:t>  }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108  </a:t>
            </a:r>
            <a:r>
              <a:rPr sz="1400">
                <a:solidFill>
                  <a:srgbClr val="DCECEF"/>
                </a:solidFill>
                <a:latin typeface="Consolas"/>
              </a:rPr>
              <a:t> 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600" b="1">
                <a:solidFill>
                  <a:srgbClr val="01AEFD"/>
                </a:solidFill>
              </a:rPr>
              <a:t>Type this into script.js  (7 of 7)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051560"/>
            <a:ext cx="11155680" cy="5394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700">
                <a:solidFill>
                  <a:srgbClr val="6D8C97"/>
                </a:solidFill>
                <a:latin typeface="Consolas"/>
              </a:rPr>
              <a:t> 109  </a:t>
            </a:r>
            <a:r>
              <a:rPr sz="1700">
                <a:solidFill>
                  <a:srgbClr val="DCECEF"/>
                </a:solidFill>
                <a:latin typeface="Consolas"/>
              </a:rPr>
              <a:t>  const data = await res.json();</a:t>
            </a:r>
          </a:p>
          <a:p>
            <a:pPr>
              <a:spcAft>
                <a:spcPts val="0"/>
              </a:spcAft>
            </a:pPr>
            <a:r>
              <a:rPr sz="1700">
                <a:solidFill>
                  <a:srgbClr val="6D8C97"/>
                </a:solidFill>
                <a:latin typeface="Consolas"/>
              </a:rPr>
              <a:t> 110  </a:t>
            </a:r>
            <a:r>
              <a:rPr sz="1700">
                <a:solidFill>
                  <a:srgbClr val="DCECEF"/>
                </a:solidFill>
                <a:latin typeface="Consolas"/>
              </a:rPr>
              <a:t>  return data.choices[0].message.content;</a:t>
            </a:r>
          </a:p>
          <a:p>
            <a:pPr>
              <a:spcAft>
                <a:spcPts val="0"/>
              </a:spcAft>
            </a:pPr>
            <a:r>
              <a:rPr sz="1700">
                <a:solidFill>
                  <a:srgbClr val="6D8C97"/>
                </a:solidFill>
                <a:latin typeface="Consolas"/>
              </a:rPr>
              <a:t> 111  </a:t>
            </a:r>
            <a:r>
              <a:rPr sz="1700">
                <a:solidFill>
                  <a:srgbClr val="DCECEF"/>
                </a:solidFill>
                <a:latin typeface="Consolas"/>
              </a:rPr>
              <a:t>}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Change ONE thing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800">
                <a:solidFill>
                  <a:srgbClr val="01AEFD"/>
                </a:solidFill>
              </a:rPr>
              <a:t>The rule of a fair experiment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fast / 0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fast / 1.4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smart / 0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smart / 1.4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Report back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800">
                <a:solidFill>
                  <a:srgbClr val="01AEFD"/>
                </a:solidFill>
              </a:rPr>
              <a:t>Evidence, not opinion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"smart is better" - weak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"smart kept the 40-word rule, fast ignored it" - strong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