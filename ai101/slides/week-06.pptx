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Giving it a personality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Same question. Two companions.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Why?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Nothing changed except one instruction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That instruction is where a chatbot's character lives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Three roles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user - what you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assistant - what it said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system - the note it reads before every reply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Vague does nothing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"Be helpful" - no visible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"Under 40 words, one example, no jargon" - obvious change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Say exactly what you want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Behaviour became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The personality is in a textarea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Change it without touching code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This idea shows up everywhere in software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&lt;details&gt;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box that folds open and shut.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stays closed until you click it - handy for optional settings.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Open a &lt;details&gt; box - a fold-away panel. class="setup" lets CSS style it.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&lt;summary&gt;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 you always see on a &lt;details&gt; box.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Clicking it opens or closes the rest.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The &lt;summary&gt; is the label you always see: 'Personality'. Click it to open the box.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The &lt;textarea&gt; tag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HTML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text box for SEVERAL lines, unlike &lt;input&gt; which is one line.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rows sets how tall it starts.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&lt;textarea&gt; for a few lines of instruction. id="persona" lets the code read it; the text inside is the starting personality.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index.html   -   line 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6D8C97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6D8C97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&lt;/details&gt; box.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index.html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8  </a:t>
            </a:r>
            <a:r>
              <a:rPr sz="1800">
                <a:solidFill>
                  <a:srgbClr val="7FE0A0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 9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10  </a:t>
            </a:r>
            <a:r>
              <a:rPr sz="1800">
                <a:solidFill>
                  <a:srgbClr val="7FE0A0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11  </a:t>
            </a:r>
            <a:r>
              <a:rPr sz="1800">
                <a:solidFill>
                  <a:srgbClr val="7FE0A0"/>
                </a:solidFill>
                <a:latin typeface="Consolas"/>
              </a:rPr>
              <a:t>  &lt;/details&gt;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margin-bottom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Space below the box, pushing whatever is next further down.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whole panel: a gap below it, and slightly smaller text.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font-weight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heavy the text is. bold stands out; normal is regular.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Style the clickable label: a hand pointer, a blue colour, and bold so it reads as a button.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7FE0A0"/>
                </a:solidFill>
                <a:latin typeface="Consolas"/>
              </a:rPr>
              <a:t>.setup textarea {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Start a rule for the text box inside the panel.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width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wide the box is. 100% means as wide as its container.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7FE0A0"/>
                </a:solidFill>
                <a:latin typeface="Consolas"/>
              </a:rPr>
              <a:t>  width: 100%;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Make it as wide as the panel.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7FE0A0"/>
                </a:solidFill>
                <a:latin typeface="Consolas"/>
              </a:rPr>
              <a:t>  margin-top: 8px;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little space above it, under the label.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7FE0A0"/>
                </a:solidFill>
                <a:latin typeface="Consolas"/>
              </a:rPr>
              <a:t>  padding: 9px;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Padding so the text is not jammed against the edge.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border: 1px solid #dbe3ec;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 thin grey border.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7FE0A0"/>
                </a:solidFill>
                <a:latin typeface="Consolas"/>
              </a:rPr>
              <a:t>  border-radius: 6px;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Slightly rounded corners.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29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7FE0A0"/>
                </a:solidFill>
                <a:latin typeface="Consolas"/>
              </a:rPr>
              <a:t>  font-family: inherit;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Use the same font as the rest of the page, not the browser default.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23  </a:t>
            </a:r>
            <a:r>
              <a:rPr sz="18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24  </a:t>
            </a:r>
            <a:r>
              <a:rPr sz="18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25  </a:t>
            </a:r>
            <a:r>
              <a:rPr sz="18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26  </a:t>
            </a:r>
            <a:r>
              <a:rPr sz="18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27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28  </a:t>
            </a:r>
            <a:r>
              <a:rPr sz="18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29  </a:t>
            </a:r>
            <a:r>
              <a:rPr sz="18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30  </a:t>
            </a:r>
            <a:r>
              <a:rPr sz="1800">
                <a:solidFill>
                  <a:srgbClr val="7FE0A0"/>
                </a:solidFill>
                <a:latin typeface="Consolas"/>
              </a:rPr>
              <a:t>  font-size: 14px;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Set the text size.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style.css   -   line 31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6D8C97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6D8C97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6D8C97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6D8C97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6D8C97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6D8C97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6D8C97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6D8C97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6D8C97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Close the rule.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All together in style.css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21  </a:t>
            </a:r>
            <a:r>
              <a:rPr sz="1300">
                <a:solidFill>
                  <a:srgbClr val="7FE0A0"/>
                </a:solidFill>
                <a:latin typeface="Consolas"/>
              </a:rPr>
              <a:t>.setup { margin-bottom: 12px; font-size: 14px;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22  </a:t>
            </a:r>
            <a:r>
              <a:rPr sz="1300">
                <a:solidFill>
                  <a:srgbClr val="7FE0A0"/>
                </a:solidFill>
                <a:latin typeface="Consolas"/>
              </a:rPr>
              <a:t>.setup summary { cursor: pointer; color: #0a6299; font-weight: bold; }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23  </a:t>
            </a:r>
            <a:r>
              <a:rPr sz="1300">
                <a:solidFill>
                  <a:srgbClr val="7FE0A0"/>
                </a:solidFill>
                <a:latin typeface="Consolas"/>
              </a:rPr>
              <a:t>.setup textarea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24  </a:t>
            </a:r>
            <a:r>
              <a:rPr sz="1300">
                <a:solidFill>
                  <a:srgbClr val="7FE0A0"/>
                </a:solidFill>
                <a:latin typeface="Consolas"/>
              </a:rPr>
              <a:t>  width: 100%;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25  </a:t>
            </a:r>
            <a:r>
              <a:rPr sz="1300">
                <a:solidFill>
                  <a:srgbClr val="7FE0A0"/>
                </a:solidFill>
                <a:latin typeface="Consolas"/>
              </a:rPr>
              <a:t>  margin-top: 8px;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26  </a:t>
            </a:r>
            <a:r>
              <a:rPr sz="1300">
                <a:solidFill>
                  <a:srgbClr val="7FE0A0"/>
                </a:solidFill>
                <a:latin typeface="Consolas"/>
              </a:rPr>
              <a:t>  padding: 9px;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27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28  </a:t>
            </a:r>
            <a:r>
              <a:rPr sz="1300">
                <a:solidFill>
                  <a:srgbClr val="7FE0A0"/>
                </a:solidFill>
                <a:latin typeface="Consolas"/>
              </a:rPr>
              <a:t>  border-radius: 6px;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29  </a:t>
            </a:r>
            <a:r>
              <a:rPr sz="1300">
                <a:solidFill>
                  <a:srgbClr val="7FE0A0"/>
                </a:solidFill>
                <a:latin typeface="Consolas"/>
              </a:rPr>
              <a:t>  font-family: inherit;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30  </a:t>
            </a:r>
            <a:r>
              <a:rPr sz="1300">
                <a:solidFill>
                  <a:srgbClr val="7FE0A0"/>
                </a:solidFill>
                <a:latin typeface="Consolas"/>
              </a:rPr>
              <a:t>  font-size: 14px;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31  </a:t>
            </a:r>
            <a:r>
              <a:rPr sz="13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That is the whole piece. Check yours looks the same before moving on.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16  </a:t>
            </a:r>
            <a:r>
              <a:rPr sz="18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17  </a:t>
            </a:r>
            <a:r>
              <a:rPr sz="1800">
                <a:solidFill>
                  <a:srgbClr val="6D8C97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18  </a:t>
            </a:r>
            <a:r>
              <a:rPr sz="1800">
                <a:solidFill>
                  <a:srgbClr val="6D8C97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19  </a:t>
            </a:r>
            <a:r>
              <a:rPr sz="1800">
                <a:solidFill>
                  <a:srgbClr val="6D8C97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20  </a:t>
            </a:r>
            <a:r>
              <a:rPr sz="1800">
                <a:solidFill>
                  <a:srgbClr val="6D8C97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21  </a:t>
            </a:r>
            <a:r>
              <a:rPr sz="1800">
                <a:solidFill>
                  <a:srgbClr val="6D8C97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800">
                <a:solidFill>
                  <a:srgbClr val="6D8C97"/>
                </a:solidFill>
                <a:latin typeface="Consolas"/>
              </a:rPr>
              <a:t>  22  </a:t>
            </a:r>
            <a:r>
              <a:rPr sz="1800">
                <a:solidFill>
                  <a:srgbClr val="7FE0A0"/>
                </a:solidFill>
                <a:latin typeface="Consolas"/>
              </a:rPr>
              <a:t>const personaBox = document.getElementById('persona');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Find the Personality box too, so the code can read what is typed in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system is not part of the chat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It is the rules of the chat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Re-sent with every request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model reads it first, every time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01AEFD"/>
                </a:solidFill>
              </a:rPr>
              <a:t>Type this into script.js   -   line 65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60120"/>
            <a:ext cx="11155680" cy="4297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51  </a:t>
            </a:r>
            <a:r>
              <a:rPr sz="1300">
                <a:solidFill>
                  <a:srgbClr val="6D8C97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52  </a:t>
            </a:r>
            <a:r>
              <a:rPr sz="1300">
                <a:solidFill>
                  <a:srgbClr val="6D8C97"/>
                </a:solidFill>
                <a:latin typeface="Consolas"/>
              </a:rPr>
              <a:t>// Week 4: ask the AI a real question.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53  </a:t>
            </a:r>
            <a:r>
              <a:rPr sz="1300">
                <a:solidFill>
                  <a:srgbClr val="6D8C97"/>
                </a:solidFill>
                <a:latin typeface="Consolas"/>
              </a:rPr>
              <a:t>// A chat request is a LIST of messages. Each one says who said it.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54  </a:t>
            </a:r>
            <a:r>
              <a:rPr sz="1300">
                <a:solidFill>
                  <a:srgbClr val="6D8C97"/>
                </a:solidFill>
                <a:latin typeface="Consolas"/>
              </a:rPr>
              <a:t>async function askAI(question)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55  </a:t>
            </a:r>
            <a:r>
              <a:rPr sz="1300">
                <a:solidFill>
                  <a:srgbClr val="6D8C97"/>
                </a:solidFill>
                <a:latin typeface="Consolas"/>
              </a:rPr>
              <a:t>  const res = await fetch(AI_BASE + '/v1/chat/completions',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56  </a:t>
            </a:r>
            <a:r>
              <a:rPr sz="1300">
                <a:solidFill>
                  <a:srgbClr val="6D8C97"/>
                </a:solidFill>
                <a:latin typeface="Consolas"/>
              </a:rPr>
              <a:t>    method: 'POST',                       // POST = I am sending you something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57  </a:t>
            </a:r>
            <a:r>
              <a:rPr sz="1300">
                <a:solidFill>
                  <a:srgbClr val="6D8C97"/>
                </a:solidFill>
                <a:latin typeface="Consolas"/>
              </a:rPr>
              <a:t>    headers: 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58  </a:t>
            </a:r>
            <a:r>
              <a:rPr sz="1300">
                <a:solidFill>
                  <a:srgbClr val="6D8C97"/>
                </a:solidFill>
                <a:latin typeface="Consolas"/>
              </a:rPr>
              <a:t>      'Content-Type': 'application/json', // what I am sending is JSON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59  </a:t>
            </a:r>
            <a:r>
              <a:rPr sz="1300">
                <a:solidFill>
                  <a:srgbClr val="6D8C97"/>
                </a:solidFill>
                <a:latin typeface="Consolas"/>
              </a:rPr>
              <a:t>      'Authorization': 'Bearer ' + API_KEY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60  </a:t>
            </a:r>
            <a:r>
              <a:rPr sz="1300">
                <a:solidFill>
                  <a:srgbClr val="6D8C97"/>
                </a:solidFill>
                <a:latin typeface="Consolas"/>
              </a:rPr>
              <a:t>    },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61  </a:t>
            </a:r>
            <a:r>
              <a:rPr sz="1300">
                <a:solidFill>
                  <a:srgbClr val="6D8C97"/>
                </a:solidFill>
                <a:latin typeface="Consolas"/>
              </a:rPr>
              <a:t>    body: JSON.stringify({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62  </a:t>
            </a:r>
            <a:r>
              <a:rPr sz="1300">
                <a:solidFill>
                  <a:srgbClr val="6D8C97"/>
                </a:solidFill>
                <a:latin typeface="Consolas"/>
              </a:rPr>
              <a:t>      model: 'fast',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63  </a:t>
            </a:r>
            <a:r>
              <a:rPr sz="1300">
                <a:solidFill>
                  <a:srgbClr val="6D8C97"/>
                </a:solidFill>
                <a:latin typeface="Consolas"/>
              </a:rPr>
              <a:t>      messages: [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64  </a:t>
            </a:r>
            <a:r>
              <a:rPr sz="1300">
                <a:solidFill>
                  <a:srgbClr val="6D8C97"/>
                </a:solidFill>
                <a:latin typeface="Consolas"/>
              </a:rPr>
              <a:t>        // Week 6: the standing instruction, read before every single reply.</a:t>
            </a:r>
          </a:p>
          <a:p>
            <a:pPr>
              <a:spcAft>
                <a:spcPts val="0"/>
              </a:spcAft>
            </a:pPr>
            <a:r>
              <a:rPr sz="1300">
                <a:solidFill>
                  <a:srgbClr val="6D8C97"/>
                </a:solidFill>
                <a:latin typeface="Consolas"/>
              </a:rPr>
              <a:t>  65  </a:t>
            </a:r>
            <a:r>
              <a:rPr sz="1300">
                <a:solidFill>
                  <a:srgbClr val="7FE0A0"/>
                </a:solidFill>
                <a:latin typeface="Consolas"/>
              </a:rPr>
              <a:t>        { role: 'system', content: personaBox.value },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62356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>
                <a:solidFill>
                  <a:srgbClr val="DCECEF"/>
                </a:solidFill>
              </a:rPr>
              <a:t>Add a 'system' message FIRST - the standing instruction the model reads before every reply. Its content is whatever is typed in the Personality box.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Checkpoint: it has a personality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502920"/>
            <a:ext cx="5486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01AEFD"/>
                </a:solidFill>
              </a:rPr>
              <a:t>CHECKPOINT - RUN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Press Run. Open Personality, change the instruction (try 'You are a grumpy pirate. Answer in under 20 words.'), and ask the same question twice. The whole attitude of the answer should change - same question, different companion. On the school network the reply is live; here you see the interface and the request in the console.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Run it in the classroom, or press Show the output in the web deck.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Everyone's screen should match this.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Prompt duel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In pairs, 10 minutes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Write a secret character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Swap. Ask three questions.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Guess who it 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