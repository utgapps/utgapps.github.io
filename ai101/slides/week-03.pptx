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Week 3</a:t>
            </a:r>
          </a:p>
        </p:txBody>
      </p:sp>
      <p:sp>
        <p:nvSpPr>
          <p:cNvPr id="3" name="TextBox 2"/>
          <p:cNvSpPr txBox="1"/>
          <p:nvPr/>
        </p:nvSpPr>
        <p:spPr>
          <a:xfrm>
            <a:off x="822960" y="1828800"/>
            <a:ext cx="10515600" cy="4206240"/>
          </a:xfrm>
          <a:prstGeom prst="rect">
            <a:avLst/>
          </a:prstGeom>
          <a:noFill/>
        </p:spPr>
        <p:txBody>
          <a:bodyPr wrap="square">
            <a:spAutoFit/>
          </a:bodyPr>
          <a:lstStyle/>
          <a:p>
            <a:pPr>
              <a:spcAft>
                <a:spcPts val="1400"/>
              </a:spcAft>
            </a:pPr>
            <a:r>
              <a:rPr sz="2800">
                <a:solidFill>
                  <a:srgbClr val="01AEFD"/>
                </a:solidFill>
              </a:rPr>
              <a:t>What is an API?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Your key is you</a:t>
            </a:r>
          </a:p>
        </p:txBody>
      </p:sp>
      <p:sp>
        <p:nvSpPr>
          <p:cNvPr id="3" name="TextBox 2"/>
          <p:cNvSpPr txBox="1"/>
          <p:nvPr/>
        </p:nvSpPr>
        <p:spPr>
          <a:xfrm>
            <a:off x="822960" y="1828800"/>
            <a:ext cx="10515600" cy="4206240"/>
          </a:xfrm>
          <a:prstGeom prst="rect">
            <a:avLst/>
          </a:prstGeom>
          <a:noFill/>
        </p:spPr>
        <p:txBody>
          <a:bodyPr wrap="square">
            <a:spAutoFit/>
          </a:bodyPr>
          <a:lstStyle/>
          <a:p>
            <a:pPr>
              <a:spcAft>
                <a:spcPts val="1400"/>
              </a:spcAft>
            </a:pPr>
            <a:r>
              <a:rPr sz="2800">
                <a:solidFill>
                  <a:srgbClr val="01AEFD"/>
                </a:solidFill>
              </a:rPr>
              <a:t>sk-class-your-name-xxxxxx</a:t>
            </a:r>
          </a:p>
          <a:p>
            <a:pPr>
              <a:spcAft>
                <a:spcPts val="1400"/>
              </a:spcAft>
            </a:pPr>
            <a:r>
              <a:rPr sz="2400">
                <a:solidFill>
                  <a:srgbClr val="1F2A37"/>
                </a:solidFill>
              </a:rPr>
              <a:t>• It identifies you personally</a:t>
            </a:r>
          </a:p>
          <a:p>
            <a:pPr>
              <a:spcAft>
                <a:spcPts val="1400"/>
              </a:spcAft>
            </a:pPr>
            <a:r>
              <a:rPr sz="2400">
                <a:solidFill>
                  <a:srgbClr val="1F2A37"/>
                </a:solidFill>
              </a:rPr>
              <a:t>• Two people on one key = one shared speed limit</a:t>
            </a:r>
          </a:p>
          <a:p>
            <a:pPr>
              <a:spcAft>
                <a:spcPts val="1400"/>
              </a:spcAft>
            </a:pPr>
            <a:r>
              <a:rPr sz="2400">
                <a:solidFill>
                  <a:srgbClr val="1F2A37"/>
                </a:solidFill>
              </a:rPr>
              <a:t>• Do not put it in anything you share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9</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8  </a:t>
            </a:r>
            <a:r>
              <a:rPr sz="1800">
                <a:solidFill>
                  <a:srgbClr val="6D8C97"/>
                </a:solidFill>
                <a:latin typeface="Consolas"/>
              </a:rPr>
              <a:t> </a:t>
            </a:r>
          </a:p>
          <a:p>
            <a:pPr>
              <a:spcAft>
                <a:spcPts val="0"/>
              </a:spcAft>
            </a:pPr>
            <a:r>
              <a:rPr sz="1800">
                <a:solidFill>
                  <a:srgbClr val="6D8C97"/>
                </a:solidFill>
                <a:latin typeface="Consolas"/>
              </a:rPr>
              <a:t>   9  </a:t>
            </a:r>
            <a:r>
              <a:rPr sz="1800">
                <a:solidFill>
                  <a:srgbClr val="7FE0A0"/>
                </a:solidFill>
                <a:latin typeface="Consolas"/>
              </a:rPr>
              <a:t>// Week 3: where the AI lives, and who you are.</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A comment: this chunk says WHERE the AI is and WHO you 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10</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8  </a:t>
            </a:r>
            <a:r>
              <a:rPr sz="1800">
                <a:solidFill>
                  <a:srgbClr val="6D8C97"/>
                </a:solidFill>
                <a:latin typeface="Consolas"/>
              </a:rPr>
              <a:t> </a:t>
            </a:r>
          </a:p>
          <a:p>
            <a:pPr>
              <a:spcAft>
                <a:spcPts val="0"/>
              </a:spcAft>
            </a:pPr>
            <a:r>
              <a:rPr sz="1800">
                <a:solidFill>
                  <a:srgbClr val="6D8C97"/>
                </a:solidFill>
                <a:latin typeface="Consolas"/>
              </a:rPr>
              <a:t>   9  </a:t>
            </a:r>
            <a:r>
              <a:rPr sz="1800">
                <a:solidFill>
                  <a:srgbClr val="6D8C97"/>
                </a:solidFill>
                <a:latin typeface="Consolas"/>
              </a:rPr>
              <a:t>// Week 3: where the AI lives, and who you are.</a:t>
            </a:r>
          </a:p>
          <a:p>
            <a:pPr>
              <a:spcAft>
                <a:spcPts val="0"/>
              </a:spcAft>
            </a:pPr>
            <a:r>
              <a:rPr sz="1800">
                <a:solidFill>
                  <a:srgbClr val="6D8C97"/>
                </a:solidFill>
                <a:latin typeface="Consolas"/>
              </a:rPr>
              <a:t>  10  </a:t>
            </a:r>
            <a:r>
              <a:rPr sz="1800">
                <a:solidFill>
                  <a:srgbClr val="7FE0A0"/>
                </a:solidFill>
                <a:latin typeface="Consolas"/>
              </a:rPr>
              <a:t>// The key identifies YOU. Two people using one key share one speed limit.</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Your key is your identity. Two people on one key share one speed limit.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12</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8  </a:t>
            </a:r>
            <a:r>
              <a:rPr sz="1800">
                <a:solidFill>
                  <a:srgbClr val="6D8C97"/>
                </a:solidFill>
                <a:latin typeface="Consolas"/>
              </a:rPr>
              <a:t> </a:t>
            </a:r>
          </a:p>
          <a:p>
            <a:pPr>
              <a:spcAft>
                <a:spcPts val="0"/>
              </a:spcAft>
            </a:pPr>
            <a:r>
              <a:rPr sz="1800">
                <a:solidFill>
                  <a:srgbClr val="6D8C97"/>
                </a:solidFill>
                <a:latin typeface="Consolas"/>
              </a:rPr>
              <a:t>   9  </a:t>
            </a:r>
            <a:r>
              <a:rPr sz="1800">
                <a:solidFill>
                  <a:srgbClr val="6D8C97"/>
                </a:solidFill>
                <a:latin typeface="Consolas"/>
              </a:rPr>
              <a:t>// Week 3: where the AI lives, and who you are.</a:t>
            </a:r>
          </a:p>
          <a:p>
            <a:pPr>
              <a:spcAft>
                <a:spcPts val="0"/>
              </a:spcAft>
            </a:pPr>
            <a:r>
              <a:rPr sz="1800">
                <a:solidFill>
                  <a:srgbClr val="6D8C97"/>
                </a:solidFill>
                <a:latin typeface="Consolas"/>
              </a:rPr>
              <a:t>  10  </a:t>
            </a:r>
            <a:r>
              <a:rPr sz="1800">
                <a:solidFill>
                  <a:srgbClr val="6D8C97"/>
                </a:solidFill>
                <a:latin typeface="Consolas"/>
              </a:rPr>
              <a:t>// The key identifies YOU. Two people using one key share one speed limit.</a:t>
            </a:r>
          </a:p>
          <a:p>
            <a:pPr>
              <a:spcAft>
                <a:spcPts val="0"/>
              </a:spcAft>
            </a:pPr>
            <a:r>
              <a:rPr sz="1800">
                <a:solidFill>
                  <a:srgbClr val="6D8C97"/>
                </a:solidFill>
                <a:latin typeface="Consolas"/>
              </a:rPr>
              <a:t>  11  </a:t>
            </a:r>
            <a:r>
              <a:rPr sz="1800">
                <a:solidFill>
                  <a:srgbClr val="6D8C97"/>
                </a:solidFill>
                <a:latin typeface="Consolas"/>
              </a:rPr>
              <a:t>//</a:t>
            </a:r>
          </a:p>
          <a:p>
            <a:pPr>
              <a:spcAft>
                <a:spcPts val="0"/>
              </a:spcAft>
            </a:pPr>
            <a:r>
              <a:rPr sz="1800">
                <a:solidFill>
                  <a:srgbClr val="6D8C97"/>
                </a:solidFill>
                <a:latin typeface="Consolas"/>
              </a:rPr>
              <a:t>  12  </a:t>
            </a:r>
            <a:r>
              <a:rPr sz="1800">
                <a:solidFill>
                  <a:srgbClr val="7FE0A0"/>
                </a:solidFill>
                <a:latin typeface="Consolas"/>
              </a:rPr>
              <a:t>// This address only works on the school network. To run this at home you</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A comment: this address only works on the school network - at home you swap these two 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14</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8  </a:t>
            </a:r>
            <a:r>
              <a:rPr sz="1800">
                <a:solidFill>
                  <a:srgbClr val="6D8C97"/>
                </a:solidFill>
                <a:latin typeface="Consolas"/>
              </a:rPr>
              <a:t> </a:t>
            </a:r>
          </a:p>
          <a:p>
            <a:pPr>
              <a:spcAft>
                <a:spcPts val="0"/>
              </a:spcAft>
            </a:pPr>
            <a:r>
              <a:rPr sz="1800">
                <a:solidFill>
                  <a:srgbClr val="6D8C97"/>
                </a:solidFill>
                <a:latin typeface="Consolas"/>
              </a:rPr>
              <a:t>   9  </a:t>
            </a:r>
            <a:r>
              <a:rPr sz="1800">
                <a:solidFill>
                  <a:srgbClr val="6D8C97"/>
                </a:solidFill>
                <a:latin typeface="Consolas"/>
              </a:rPr>
              <a:t>// Week 3: where the AI lives, and who you are.</a:t>
            </a:r>
          </a:p>
          <a:p>
            <a:pPr>
              <a:spcAft>
                <a:spcPts val="0"/>
              </a:spcAft>
            </a:pPr>
            <a:r>
              <a:rPr sz="1800">
                <a:solidFill>
                  <a:srgbClr val="6D8C97"/>
                </a:solidFill>
                <a:latin typeface="Consolas"/>
              </a:rPr>
              <a:t>  10  </a:t>
            </a:r>
            <a:r>
              <a:rPr sz="1800">
                <a:solidFill>
                  <a:srgbClr val="6D8C97"/>
                </a:solidFill>
                <a:latin typeface="Consolas"/>
              </a:rPr>
              <a:t>// The key identifies YOU. Two people using one key share one speed limit.</a:t>
            </a:r>
          </a:p>
          <a:p>
            <a:pPr>
              <a:spcAft>
                <a:spcPts val="0"/>
              </a:spcAft>
            </a:pPr>
            <a:r>
              <a:rPr sz="1800">
                <a:solidFill>
                  <a:srgbClr val="6D8C97"/>
                </a:solidFill>
                <a:latin typeface="Consolas"/>
              </a:rPr>
              <a:t>  11  </a:t>
            </a:r>
            <a:r>
              <a:rPr sz="1800">
                <a:solidFill>
                  <a:srgbClr val="6D8C97"/>
                </a:solidFill>
                <a:latin typeface="Consolas"/>
              </a:rPr>
              <a:t>//</a:t>
            </a:r>
          </a:p>
          <a:p>
            <a:pPr>
              <a:spcAft>
                <a:spcPts val="0"/>
              </a:spcAft>
            </a:pPr>
            <a:r>
              <a:rPr sz="1800">
                <a:solidFill>
                  <a:srgbClr val="6D8C97"/>
                </a:solidFill>
                <a:latin typeface="Consolas"/>
              </a:rPr>
              <a:t>  12  </a:t>
            </a:r>
            <a:r>
              <a:rPr sz="1800">
                <a:solidFill>
                  <a:srgbClr val="6D8C97"/>
                </a:solidFill>
                <a:latin typeface="Consolas"/>
              </a:rPr>
              <a:t>// This address only works on the school network. To run this at home you</a:t>
            </a:r>
          </a:p>
          <a:p>
            <a:pPr>
              <a:spcAft>
                <a:spcPts val="0"/>
              </a:spcAft>
            </a:pPr>
            <a:r>
              <a:rPr sz="1800">
                <a:solidFill>
                  <a:srgbClr val="6D8C97"/>
                </a:solidFill>
                <a:latin typeface="Consolas"/>
              </a:rPr>
              <a:t>  13  </a:t>
            </a:r>
            <a:r>
              <a:rPr sz="1800">
                <a:solidFill>
                  <a:srgbClr val="6D8C97"/>
                </a:solidFill>
                <a:latin typeface="Consolas"/>
              </a:rPr>
              <a:t>// change these two lines and the model names in index.html - nothing else.</a:t>
            </a:r>
          </a:p>
          <a:p>
            <a:pPr>
              <a:spcAft>
                <a:spcPts val="0"/>
              </a:spcAft>
            </a:pPr>
            <a:r>
              <a:rPr sz="1800">
                <a:solidFill>
                  <a:srgbClr val="6D8C97"/>
                </a:solidFill>
                <a:latin typeface="Consolas"/>
              </a:rPr>
              <a:t>  14  </a:t>
            </a:r>
            <a:r>
              <a:rPr sz="1800">
                <a:solidFill>
                  <a:srgbClr val="7FE0A0"/>
                </a:solidFill>
                <a:latin typeface="Consolas"/>
              </a:rPr>
              <a:t>const AI_BASE = 'https://ai.tail5091fc.ts.net';</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The school AI server's address, stored in a variable so you write it once.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15</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8  </a:t>
            </a:r>
            <a:r>
              <a:rPr sz="1800">
                <a:solidFill>
                  <a:srgbClr val="6D8C97"/>
                </a:solidFill>
                <a:latin typeface="Consolas"/>
              </a:rPr>
              <a:t> </a:t>
            </a:r>
          </a:p>
          <a:p>
            <a:pPr>
              <a:spcAft>
                <a:spcPts val="0"/>
              </a:spcAft>
            </a:pPr>
            <a:r>
              <a:rPr sz="1800">
                <a:solidFill>
                  <a:srgbClr val="6D8C97"/>
                </a:solidFill>
                <a:latin typeface="Consolas"/>
              </a:rPr>
              <a:t>   9  </a:t>
            </a:r>
            <a:r>
              <a:rPr sz="1800">
                <a:solidFill>
                  <a:srgbClr val="6D8C97"/>
                </a:solidFill>
                <a:latin typeface="Consolas"/>
              </a:rPr>
              <a:t>// Week 3: where the AI lives, and who you are.</a:t>
            </a:r>
          </a:p>
          <a:p>
            <a:pPr>
              <a:spcAft>
                <a:spcPts val="0"/>
              </a:spcAft>
            </a:pPr>
            <a:r>
              <a:rPr sz="1800">
                <a:solidFill>
                  <a:srgbClr val="6D8C97"/>
                </a:solidFill>
                <a:latin typeface="Consolas"/>
              </a:rPr>
              <a:t>  10  </a:t>
            </a:r>
            <a:r>
              <a:rPr sz="1800">
                <a:solidFill>
                  <a:srgbClr val="6D8C97"/>
                </a:solidFill>
                <a:latin typeface="Consolas"/>
              </a:rPr>
              <a:t>// The key identifies YOU. Two people using one key share one speed limit.</a:t>
            </a:r>
          </a:p>
          <a:p>
            <a:pPr>
              <a:spcAft>
                <a:spcPts val="0"/>
              </a:spcAft>
            </a:pPr>
            <a:r>
              <a:rPr sz="1800">
                <a:solidFill>
                  <a:srgbClr val="6D8C97"/>
                </a:solidFill>
                <a:latin typeface="Consolas"/>
              </a:rPr>
              <a:t>  11  </a:t>
            </a:r>
            <a:r>
              <a:rPr sz="1800">
                <a:solidFill>
                  <a:srgbClr val="6D8C97"/>
                </a:solidFill>
                <a:latin typeface="Consolas"/>
              </a:rPr>
              <a:t>//</a:t>
            </a:r>
          </a:p>
          <a:p>
            <a:pPr>
              <a:spcAft>
                <a:spcPts val="0"/>
              </a:spcAft>
            </a:pPr>
            <a:r>
              <a:rPr sz="1800">
                <a:solidFill>
                  <a:srgbClr val="6D8C97"/>
                </a:solidFill>
                <a:latin typeface="Consolas"/>
              </a:rPr>
              <a:t>  12  </a:t>
            </a:r>
            <a:r>
              <a:rPr sz="1800">
                <a:solidFill>
                  <a:srgbClr val="6D8C97"/>
                </a:solidFill>
                <a:latin typeface="Consolas"/>
              </a:rPr>
              <a:t>// This address only works on the school network. To run this at home you</a:t>
            </a:r>
          </a:p>
          <a:p>
            <a:pPr>
              <a:spcAft>
                <a:spcPts val="0"/>
              </a:spcAft>
            </a:pPr>
            <a:r>
              <a:rPr sz="1800">
                <a:solidFill>
                  <a:srgbClr val="6D8C97"/>
                </a:solidFill>
                <a:latin typeface="Consolas"/>
              </a:rPr>
              <a:t>  13  </a:t>
            </a:r>
            <a:r>
              <a:rPr sz="1800">
                <a:solidFill>
                  <a:srgbClr val="6D8C97"/>
                </a:solidFill>
                <a:latin typeface="Consolas"/>
              </a:rPr>
              <a:t>// change these two lines and the model names in index.html - nothing else.</a:t>
            </a:r>
          </a:p>
          <a:p>
            <a:pPr>
              <a:spcAft>
                <a:spcPts val="0"/>
              </a:spcAft>
            </a:pPr>
            <a:r>
              <a:rPr sz="1800">
                <a:solidFill>
                  <a:srgbClr val="6D8C97"/>
                </a:solidFill>
                <a:latin typeface="Consolas"/>
              </a:rPr>
              <a:t>  14  </a:t>
            </a:r>
            <a:r>
              <a:rPr sz="1800">
                <a:solidFill>
                  <a:srgbClr val="6D8C97"/>
                </a:solidFill>
                <a:latin typeface="Consolas"/>
              </a:rPr>
              <a:t>const AI_BASE = 'https://ai.tail5091fc.ts.net';</a:t>
            </a:r>
          </a:p>
          <a:p>
            <a:pPr>
              <a:spcAft>
                <a:spcPts val="0"/>
              </a:spcAft>
            </a:pPr>
            <a:r>
              <a:rPr sz="1800">
                <a:solidFill>
                  <a:srgbClr val="6D8C97"/>
                </a:solidFill>
                <a:latin typeface="Consolas"/>
              </a:rPr>
              <a:t>  15  </a:t>
            </a:r>
            <a:r>
              <a:rPr sz="1800">
                <a:solidFill>
                  <a:srgbClr val="7FE0A0"/>
                </a:solidFill>
                <a:latin typeface="Consolas"/>
              </a:rPr>
              <a:t>const API_KEY = 'sk-class-put-your-own-key-here';</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Your key. It is a placeholder now - later you paste your own real one 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All together in script.js</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8  </a:t>
            </a:r>
            <a:r>
              <a:rPr sz="1800">
                <a:solidFill>
                  <a:srgbClr val="7FE0A0"/>
                </a:solidFill>
                <a:latin typeface="Consolas"/>
              </a:rPr>
              <a:t> </a:t>
            </a:r>
          </a:p>
          <a:p>
            <a:pPr>
              <a:spcAft>
                <a:spcPts val="0"/>
              </a:spcAft>
            </a:pPr>
            <a:r>
              <a:rPr sz="1800">
                <a:solidFill>
                  <a:srgbClr val="6D8C97"/>
                </a:solidFill>
                <a:latin typeface="Consolas"/>
              </a:rPr>
              <a:t>   9  </a:t>
            </a:r>
            <a:r>
              <a:rPr sz="1800">
                <a:solidFill>
                  <a:srgbClr val="7FE0A0"/>
                </a:solidFill>
                <a:latin typeface="Consolas"/>
              </a:rPr>
              <a:t>// Week 3: where the AI lives, and who you are.</a:t>
            </a:r>
          </a:p>
          <a:p>
            <a:pPr>
              <a:spcAft>
                <a:spcPts val="0"/>
              </a:spcAft>
            </a:pPr>
            <a:r>
              <a:rPr sz="1800">
                <a:solidFill>
                  <a:srgbClr val="6D8C97"/>
                </a:solidFill>
                <a:latin typeface="Consolas"/>
              </a:rPr>
              <a:t>  10  </a:t>
            </a:r>
            <a:r>
              <a:rPr sz="1800">
                <a:solidFill>
                  <a:srgbClr val="7FE0A0"/>
                </a:solidFill>
                <a:latin typeface="Consolas"/>
              </a:rPr>
              <a:t>// The key identifies YOU. Two people using one key share one speed limit.</a:t>
            </a:r>
          </a:p>
          <a:p>
            <a:pPr>
              <a:spcAft>
                <a:spcPts val="0"/>
              </a:spcAft>
            </a:pPr>
            <a:r>
              <a:rPr sz="1800">
                <a:solidFill>
                  <a:srgbClr val="6D8C97"/>
                </a:solidFill>
                <a:latin typeface="Consolas"/>
              </a:rPr>
              <a:t>  11  </a:t>
            </a:r>
            <a:r>
              <a:rPr sz="1800">
                <a:solidFill>
                  <a:srgbClr val="7FE0A0"/>
                </a:solidFill>
                <a:latin typeface="Consolas"/>
              </a:rPr>
              <a:t>//</a:t>
            </a:r>
          </a:p>
          <a:p>
            <a:pPr>
              <a:spcAft>
                <a:spcPts val="0"/>
              </a:spcAft>
            </a:pPr>
            <a:r>
              <a:rPr sz="1800">
                <a:solidFill>
                  <a:srgbClr val="6D8C97"/>
                </a:solidFill>
                <a:latin typeface="Consolas"/>
              </a:rPr>
              <a:t>  12  </a:t>
            </a:r>
            <a:r>
              <a:rPr sz="1800">
                <a:solidFill>
                  <a:srgbClr val="7FE0A0"/>
                </a:solidFill>
                <a:latin typeface="Consolas"/>
              </a:rPr>
              <a:t>// This address only works on the school network. To run this at home you</a:t>
            </a:r>
          </a:p>
          <a:p>
            <a:pPr>
              <a:spcAft>
                <a:spcPts val="0"/>
              </a:spcAft>
            </a:pPr>
            <a:r>
              <a:rPr sz="1800">
                <a:solidFill>
                  <a:srgbClr val="6D8C97"/>
                </a:solidFill>
                <a:latin typeface="Consolas"/>
              </a:rPr>
              <a:t>  13  </a:t>
            </a:r>
            <a:r>
              <a:rPr sz="1800">
                <a:solidFill>
                  <a:srgbClr val="7FE0A0"/>
                </a:solidFill>
                <a:latin typeface="Consolas"/>
              </a:rPr>
              <a:t>// change these two lines and the model names in index.html - nothing else.</a:t>
            </a:r>
          </a:p>
          <a:p>
            <a:pPr>
              <a:spcAft>
                <a:spcPts val="0"/>
              </a:spcAft>
            </a:pPr>
            <a:r>
              <a:rPr sz="1800">
                <a:solidFill>
                  <a:srgbClr val="6D8C97"/>
                </a:solidFill>
                <a:latin typeface="Consolas"/>
              </a:rPr>
              <a:t>  14  </a:t>
            </a:r>
            <a:r>
              <a:rPr sz="1800">
                <a:solidFill>
                  <a:srgbClr val="7FE0A0"/>
                </a:solidFill>
                <a:latin typeface="Consolas"/>
              </a:rPr>
              <a:t>const AI_BASE = 'https://ai.tail5091fc.ts.net';</a:t>
            </a:r>
          </a:p>
          <a:p>
            <a:pPr>
              <a:spcAft>
                <a:spcPts val="0"/>
              </a:spcAft>
            </a:pPr>
            <a:r>
              <a:rPr sz="1800">
                <a:solidFill>
                  <a:srgbClr val="6D8C97"/>
                </a:solidFill>
                <a:latin typeface="Consolas"/>
              </a:rPr>
              <a:t>  15  </a:t>
            </a:r>
            <a:r>
              <a:rPr sz="1800">
                <a:solidFill>
                  <a:srgbClr val="7FE0A0"/>
                </a:solidFill>
                <a:latin typeface="Consolas"/>
              </a:rPr>
              <a:t>const API_KEY = 'sk-class-put-your-own-key-here';</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That is the whole piece. Check yours looks the same before moving 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An API is a front desk</a:t>
            </a:r>
          </a:p>
        </p:txBody>
      </p:sp>
      <p:sp>
        <p:nvSpPr>
          <p:cNvPr id="3" name="TextBox 2"/>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You never go in the kitchen</a:t>
            </a:r>
          </a:p>
          <a:p>
            <a:pPr>
              <a:spcAft>
                <a:spcPts val="1400"/>
              </a:spcAft>
            </a:pPr>
            <a:r>
              <a:rPr sz="2400">
                <a:solidFill>
                  <a:srgbClr val="1F2A37"/>
                </a:solidFill>
              </a:rPr>
              <a:t>• You ask in the way they expect</a:t>
            </a:r>
          </a:p>
          <a:p>
            <a:pPr>
              <a:spcAft>
                <a:spcPts val="1400"/>
              </a:spcAft>
            </a:pPr>
            <a:r>
              <a:rPr sz="2400">
                <a:solidFill>
                  <a:srgbClr val="1F2A37"/>
                </a:solidFill>
              </a:rPr>
              <a:t>• The answer comes back in a shape you can rely 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A request has two parts</a:t>
            </a:r>
          </a:p>
        </p:txBody>
      </p:sp>
      <p:sp>
        <p:nvSpPr>
          <p:cNvPr id="3" name="TextBox 2"/>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The address: /v1/models</a:t>
            </a:r>
          </a:p>
          <a:p>
            <a:pPr>
              <a:spcAft>
                <a:spcPts val="1400"/>
              </a:spcAft>
            </a:pPr>
            <a:r>
              <a:rPr sz="2400">
                <a:solidFill>
                  <a:srgbClr val="1F2A37"/>
                </a:solidFill>
              </a:rPr>
              <a:t>• The name badge: Authorization: Bearer YOUR_KEY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30</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29  </a:t>
            </a:r>
            <a:r>
              <a:rPr sz="1800">
                <a:solidFill>
                  <a:srgbClr val="6D8C97"/>
                </a:solidFill>
                <a:latin typeface="Consolas"/>
              </a:rPr>
              <a:t> </a:t>
            </a:r>
          </a:p>
          <a:p>
            <a:pPr>
              <a:spcAft>
                <a:spcPts val="0"/>
              </a:spcAft>
            </a:pPr>
            <a:r>
              <a:rPr sz="1800">
                <a:solidFill>
                  <a:srgbClr val="6D8C97"/>
                </a:solidFill>
                <a:latin typeface="Consolas"/>
              </a:rPr>
              <a:t>  30  </a:t>
            </a:r>
            <a:r>
              <a:rPr sz="1800">
                <a:solidFill>
                  <a:srgbClr val="7FE0A0"/>
                </a:solidFill>
                <a:latin typeface="Consolas"/>
              </a:rPr>
              <a:t>// The smallest useful request: what models does this server have?</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A comment: the smallest useful request - ask the server which models it has.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async</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JAVASCRIPT</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Marks a function that does something SLOW, like talking to a server.</a:t>
            </a:r>
          </a:p>
          <a:p>
            <a:pPr>
              <a:spcAft>
                <a:spcPts val="1400"/>
              </a:spcAft>
            </a:pPr>
            <a:r>
              <a:rPr sz="2400">
                <a:solidFill>
                  <a:srgbClr val="1F2A37"/>
                </a:solidFill>
              </a:rPr>
              <a:t>• It lets you 'await' the slow part without freezing the page.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32</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29  </a:t>
            </a:r>
            <a:r>
              <a:rPr sz="1800">
                <a:solidFill>
                  <a:srgbClr val="6D8C97"/>
                </a:solidFill>
                <a:latin typeface="Consolas"/>
              </a:rPr>
              <a:t> </a:t>
            </a:r>
          </a:p>
          <a:p>
            <a:pPr>
              <a:spcAft>
                <a:spcPts val="0"/>
              </a:spcAft>
            </a:pPr>
            <a:r>
              <a:rPr sz="1800">
                <a:solidFill>
                  <a:srgbClr val="6D8C97"/>
                </a:solidFill>
                <a:latin typeface="Consolas"/>
              </a:rPr>
              <a:t>  30  </a:t>
            </a:r>
            <a:r>
              <a:rPr sz="1800">
                <a:solidFill>
                  <a:srgbClr val="6D8C97"/>
                </a:solidFill>
                <a:latin typeface="Consolas"/>
              </a:rPr>
              <a:t>// The smallest useful request: what models does this server have?</a:t>
            </a:r>
          </a:p>
          <a:p>
            <a:pPr>
              <a:spcAft>
                <a:spcPts val="0"/>
              </a:spcAft>
            </a:pPr>
            <a:r>
              <a:rPr sz="1800">
                <a:solidFill>
                  <a:srgbClr val="6D8C97"/>
                </a:solidFill>
                <a:latin typeface="Consolas"/>
              </a:rPr>
              <a:t>  31  </a:t>
            </a:r>
            <a:r>
              <a:rPr sz="1800">
                <a:solidFill>
                  <a:srgbClr val="6D8C97"/>
                </a:solidFill>
                <a:latin typeface="Consolas"/>
              </a:rPr>
              <a:t>// 'async' means this function does something slow and can be waited for.</a:t>
            </a:r>
          </a:p>
          <a:p>
            <a:pPr>
              <a:spcAft>
                <a:spcPts val="0"/>
              </a:spcAft>
            </a:pPr>
            <a:r>
              <a:rPr sz="1800">
                <a:solidFill>
                  <a:srgbClr val="6D8C97"/>
                </a:solidFill>
                <a:latin typeface="Consolas"/>
              </a:rPr>
              <a:t>  32  </a:t>
            </a:r>
            <a:r>
              <a:rPr sz="1800">
                <a:solidFill>
                  <a:srgbClr val="7FE0A0"/>
                </a:solidFill>
                <a:latin typeface="Consolas"/>
              </a:rPr>
              <a:t>async function listModels() {</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An async function: it does something slow (talking to the server) and can be awaited.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await</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JAVASCRIPT</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Waits for a slow thing to finish and hands you the result.</a:t>
            </a:r>
          </a:p>
          <a:p>
            <a:pPr>
              <a:spcAft>
                <a:spcPts val="1400"/>
              </a:spcAft>
            </a:pPr>
            <a:r>
              <a:rPr sz="2400">
                <a:solidFill>
                  <a:srgbClr val="1F2A37"/>
                </a:solidFill>
              </a:rPr>
              <a:t>• Only works inside an async function.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fetch()</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JAVASCRIPT</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JavaScript's built-in way to ask another computer for something over the network.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33</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29  </a:t>
            </a:r>
            <a:r>
              <a:rPr sz="1800">
                <a:solidFill>
                  <a:srgbClr val="6D8C97"/>
                </a:solidFill>
                <a:latin typeface="Consolas"/>
              </a:rPr>
              <a:t> </a:t>
            </a:r>
          </a:p>
          <a:p>
            <a:pPr>
              <a:spcAft>
                <a:spcPts val="0"/>
              </a:spcAft>
            </a:pPr>
            <a:r>
              <a:rPr sz="1800">
                <a:solidFill>
                  <a:srgbClr val="6D8C97"/>
                </a:solidFill>
                <a:latin typeface="Consolas"/>
              </a:rPr>
              <a:t>  30  </a:t>
            </a:r>
            <a:r>
              <a:rPr sz="1800">
                <a:solidFill>
                  <a:srgbClr val="6D8C97"/>
                </a:solidFill>
                <a:latin typeface="Consolas"/>
              </a:rPr>
              <a:t>// The smallest useful request: what models does this server have?</a:t>
            </a:r>
          </a:p>
          <a:p>
            <a:pPr>
              <a:spcAft>
                <a:spcPts val="0"/>
              </a:spcAft>
            </a:pPr>
            <a:r>
              <a:rPr sz="1800">
                <a:solidFill>
                  <a:srgbClr val="6D8C97"/>
                </a:solidFill>
                <a:latin typeface="Consolas"/>
              </a:rPr>
              <a:t>  31  </a:t>
            </a:r>
            <a:r>
              <a:rPr sz="1800">
                <a:solidFill>
                  <a:srgbClr val="6D8C97"/>
                </a:solidFill>
                <a:latin typeface="Consolas"/>
              </a:rPr>
              <a:t>// 'async' means this function does something slow and can be waited for.</a:t>
            </a:r>
          </a:p>
          <a:p>
            <a:pPr>
              <a:spcAft>
                <a:spcPts val="0"/>
              </a:spcAft>
            </a:pPr>
            <a:r>
              <a:rPr sz="1800">
                <a:solidFill>
                  <a:srgbClr val="6D8C97"/>
                </a:solidFill>
                <a:latin typeface="Consolas"/>
              </a:rPr>
              <a:t>  32  </a:t>
            </a:r>
            <a:r>
              <a:rPr sz="1800">
                <a:solidFill>
                  <a:srgbClr val="6D8C97"/>
                </a:solidFill>
                <a:latin typeface="Consolas"/>
              </a:rPr>
              <a:t>async function listModels() {</a:t>
            </a:r>
          </a:p>
          <a:p>
            <a:pPr>
              <a:spcAft>
                <a:spcPts val="0"/>
              </a:spcAft>
            </a:pPr>
            <a:r>
              <a:rPr sz="1800">
                <a:solidFill>
                  <a:srgbClr val="6D8C97"/>
                </a:solidFill>
                <a:latin typeface="Consolas"/>
              </a:rPr>
              <a:t>  33  </a:t>
            </a:r>
            <a:r>
              <a:rPr sz="1800">
                <a:solidFill>
                  <a:srgbClr val="7FE0A0"/>
                </a:solidFill>
                <a:latin typeface="Consolas"/>
              </a:rPr>
              <a:t>  const res = await fetch(AI_BASE + '/v1/models', {</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await fetch(...) asks the server for the list at /v1/models and waits for the reply.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Objects: { }</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JAVASCRIPT</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A bundle of labelled values: { role: 'user', content: '...' }.</a:t>
            </a:r>
          </a:p>
          <a:p>
            <a:pPr>
              <a:spcAft>
                <a:spcPts val="1400"/>
              </a:spcAft>
            </a:pPr>
            <a:r>
              <a:rPr sz="2400">
                <a:solidFill>
                  <a:srgbClr val="1F2A37"/>
                </a:solidFill>
              </a:rPr>
              <a:t>• Each label (a key) points to a value.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34</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29  </a:t>
            </a:r>
            <a:r>
              <a:rPr sz="1800">
                <a:solidFill>
                  <a:srgbClr val="6D8C97"/>
                </a:solidFill>
                <a:latin typeface="Consolas"/>
              </a:rPr>
              <a:t> </a:t>
            </a:r>
          </a:p>
          <a:p>
            <a:pPr>
              <a:spcAft>
                <a:spcPts val="0"/>
              </a:spcAft>
            </a:pPr>
            <a:r>
              <a:rPr sz="1800">
                <a:solidFill>
                  <a:srgbClr val="6D8C97"/>
                </a:solidFill>
                <a:latin typeface="Consolas"/>
              </a:rPr>
              <a:t>  30  </a:t>
            </a:r>
            <a:r>
              <a:rPr sz="1800">
                <a:solidFill>
                  <a:srgbClr val="6D8C97"/>
                </a:solidFill>
                <a:latin typeface="Consolas"/>
              </a:rPr>
              <a:t>// The smallest useful request: what models does this server have?</a:t>
            </a:r>
          </a:p>
          <a:p>
            <a:pPr>
              <a:spcAft>
                <a:spcPts val="0"/>
              </a:spcAft>
            </a:pPr>
            <a:r>
              <a:rPr sz="1800">
                <a:solidFill>
                  <a:srgbClr val="6D8C97"/>
                </a:solidFill>
                <a:latin typeface="Consolas"/>
              </a:rPr>
              <a:t>  31  </a:t>
            </a:r>
            <a:r>
              <a:rPr sz="1800">
                <a:solidFill>
                  <a:srgbClr val="6D8C97"/>
                </a:solidFill>
                <a:latin typeface="Consolas"/>
              </a:rPr>
              <a:t>// 'async' means this function does something slow and can be waited for.</a:t>
            </a:r>
          </a:p>
          <a:p>
            <a:pPr>
              <a:spcAft>
                <a:spcPts val="0"/>
              </a:spcAft>
            </a:pPr>
            <a:r>
              <a:rPr sz="1800">
                <a:solidFill>
                  <a:srgbClr val="6D8C97"/>
                </a:solidFill>
                <a:latin typeface="Consolas"/>
              </a:rPr>
              <a:t>  32  </a:t>
            </a:r>
            <a:r>
              <a:rPr sz="1800">
                <a:solidFill>
                  <a:srgbClr val="6D8C97"/>
                </a:solidFill>
                <a:latin typeface="Consolas"/>
              </a:rPr>
              <a:t>async function listModels() {</a:t>
            </a:r>
          </a:p>
          <a:p>
            <a:pPr>
              <a:spcAft>
                <a:spcPts val="0"/>
              </a:spcAft>
            </a:pPr>
            <a:r>
              <a:rPr sz="1800">
                <a:solidFill>
                  <a:srgbClr val="6D8C97"/>
                </a:solidFill>
                <a:latin typeface="Consolas"/>
              </a:rPr>
              <a:t>  33  </a:t>
            </a:r>
            <a:r>
              <a:rPr sz="1800">
                <a:solidFill>
                  <a:srgbClr val="6D8C97"/>
                </a:solidFill>
                <a:latin typeface="Consolas"/>
              </a:rPr>
              <a:t>  const res = await fetch(AI_BASE + '/v1/models', {</a:t>
            </a:r>
          </a:p>
          <a:p>
            <a:pPr>
              <a:spcAft>
                <a:spcPts val="0"/>
              </a:spcAft>
            </a:pPr>
            <a:r>
              <a:rPr sz="1800">
                <a:solidFill>
                  <a:srgbClr val="6D8C97"/>
                </a:solidFill>
                <a:latin typeface="Consolas"/>
              </a:rPr>
              <a:t>  34  </a:t>
            </a:r>
            <a:r>
              <a:rPr sz="1800">
                <a:solidFill>
                  <a:srgbClr val="7FE0A0"/>
                </a:solidFill>
                <a:latin typeface="Consolas"/>
              </a:rPr>
              <a:t>    headers: { 'Authorization': 'Bearer ' + API_KEY }</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The header proves who you are by sending your key as a Bearer token.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35</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29  </a:t>
            </a:r>
            <a:r>
              <a:rPr sz="1800">
                <a:solidFill>
                  <a:srgbClr val="6D8C97"/>
                </a:solidFill>
                <a:latin typeface="Consolas"/>
              </a:rPr>
              <a:t> </a:t>
            </a:r>
          </a:p>
          <a:p>
            <a:pPr>
              <a:spcAft>
                <a:spcPts val="0"/>
              </a:spcAft>
            </a:pPr>
            <a:r>
              <a:rPr sz="1800">
                <a:solidFill>
                  <a:srgbClr val="6D8C97"/>
                </a:solidFill>
                <a:latin typeface="Consolas"/>
              </a:rPr>
              <a:t>  30  </a:t>
            </a:r>
            <a:r>
              <a:rPr sz="1800">
                <a:solidFill>
                  <a:srgbClr val="6D8C97"/>
                </a:solidFill>
                <a:latin typeface="Consolas"/>
              </a:rPr>
              <a:t>// The smallest useful request: what models does this server have?</a:t>
            </a:r>
          </a:p>
          <a:p>
            <a:pPr>
              <a:spcAft>
                <a:spcPts val="0"/>
              </a:spcAft>
            </a:pPr>
            <a:r>
              <a:rPr sz="1800">
                <a:solidFill>
                  <a:srgbClr val="6D8C97"/>
                </a:solidFill>
                <a:latin typeface="Consolas"/>
              </a:rPr>
              <a:t>  31  </a:t>
            </a:r>
            <a:r>
              <a:rPr sz="1800">
                <a:solidFill>
                  <a:srgbClr val="6D8C97"/>
                </a:solidFill>
                <a:latin typeface="Consolas"/>
              </a:rPr>
              <a:t>// 'async' means this function does something slow and can be waited for.</a:t>
            </a:r>
          </a:p>
          <a:p>
            <a:pPr>
              <a:spcAft>
                <a:spcPts val="0"/>
              </a:spcAft>
            </a:pPr>
            <a:r>
              <a:rPr sz="1800">
                <a:solidFill>
                  <a:srgbClr val="6D8C97"/>
                </a:solidFill>
                <a:latin typeface="Consolas"/>
              </a:rPr>
              <a:t>  32  </a:t>
            </a:r>
            <a:r>
              <a:rPr sz="1800">
                <a:solidFill>
                  <a:srgbClr val="6D8C97"/>
                </a:solidFill>
                <a:latin typeface="Consolas"/>
              </a:rPr>
              <a:t>async function listModels() {</a:t>
            </a:r>
          </a:p>
          <a:p>
            <a:pPr>
              <a:spcAft>
                <a:spcPts val="0"/>
              </a:spcAft>
            </a:pPr>
            <a:r>
              <a:rPr sz="1800">
                <a:solidFill>
                  <a:srgbClr val="6D8C97"/>
                </a:solidFill>
                <a:latin typeface="Consolas"/>
              </a:rPr>
              <a:t>  33  </a:t>
            </a:r>
            <a:r>
              <a:rPr sz="1800">
                <a:solidFill>
                  <a:srgbClr val="6D8C97"/>
                </a:solidFill>
                <a:latin typeface="Consolas"/>
              </a:rPr>
              <a:t>  const res = await fetch(AI_BASE + '/v1/models', {</a:t>
            </a:r>
          </a:p>
          <a:p>
            <a:pPr>
              <a:spcAft>
                <a:spcPts val="0"/>
              </a:spcAft>
            </a:pPr>
            <a:r>
              <a:rPr sz="1800">
                <a:solidFill>
                  <a:srgbClr val="6D8C97"/>
                </a:solidFill>
                <a:latin typeface="Consolas"/>
              </a:rPr>
              <a:t>  34  </a:t>
            </a:r>
            <a:r>
              <a:rPr sz="1800">
                <a:solidFill>
                  <a:srgbClr val="6D8C97"/>
                </a:solidFill>
                <a:latin typeface="Consolas"/>
              </a:rPr>
              <a:t>    headers: { 'Authorization': 'Bearer ' + API_KEY }</a:t>
            </a:r>
          </a:p>
          <a:p>
            <a:pPr>
              <a:spcAft>
                <a:spcPts val="0"/>
              </a:spcAft>
            </a:pPr>
            <a:r>
              <a:rPr sz="1800">
                <a:solidFill>
                  <a:srgbClr val="6D8C97"/>
                </a:solidFill>
                <a:latin typeface="Consolas"/>
              </a:rPr>
              <a:t>  35  </a:t>
            </a:r>
            <a:r>
              <a:rPr sz="1800">
                <a:solidFill>
                  <a:srgbClr val="7FE0A0"/>
                </a:solidFill>
                <a:latin typeface="Consolas"/>
              </a:rPr>
              <a:t>  });</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Closes the fetch call.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res.json()</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JAVASCRIPT</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The reply arrives as text; .json() turns it into data your code can use.</a:t>
            </a:r>
          </a:p>
          <a:p>
            <a:pPr>
              <a:spcAft>
                <a:spcPts val="1400"/>
              </a:spcAft>
            </a:pPr>
            <a:r>
              <a:rPr sz="2400">
                <a:solidFill>
                  <a:srgbClr val="1F2A37"/>
                </a:solidFill>
              </a:rPr>
              <a:t>• Also slow, so it needs await.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36</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29  </a:t>
            </a:r>
            <a:r>
              <a:rPr sz="1800">
                <a:solidFill>
                  <a:srgbClr val="6D8C97"/>
                </a:solidFill>
                <a:latin typeface="Consolas"/>
              </a:rPr>
              <a:t> </a:t>
            </a:r>
          </a:p>
          <a:p>
            <a:pPr>
              <a:spcAft>
                <a:spcPts val="0"/>
              </a:spcAft>
            </a:pPr>
            <a:r>
              <a:rPr sz="1800">
                <a:solidFill>
                  <a:srgbClr val="6D8C97"/>
                </a:solidFill>
                <a:latin typeface="Consolas"/>
              </a:rPr>
              <a:t>  30  </a:t>
            </a:r>
            <a:r>
              <a:rPr sz="1800">
                <a:solidFill>
                  <a:srgbClr val="6D8C97"/>
                </a:solidFill>
                <a:latin typeface="Consolas"/>
              </a:rPr>
              <a:t>// The smallest useful request: what models does this server have?</a:t>
            </a:r>
          </a:p>
          <a:p>
            <a:pPr>
              <a:spcAft>
                <a:spcPts val="0"/>
              </a:spcAft>
            </a:pPr>
            <a:r>
              <a:rPr sz="1800">
                <a:solidFill>
                  <a:srgbClr val="6D8C97"/>
                </a:solidFill>
                <a:latin typeface="Consolas"/>
              </a:rPr>
              <a:t>  31  </a:t>
            </a:r>
            <a:r>
              <a:rPr sz="1800">
                <a:solidFill>
                  <a:srgbClr val="6D8C97"/>
                </a:solidFill>
                <a:latin typeface="Consolas"/>
              </a:rPr>
              <a:t>// 'async' means this function does something slow and can be waited for.</a:t>
            </a:r>
          </a:p>
          <a:p>
            <a:pPr>
              <a:spcAft>
                <a:spcPts val="0"/>
              </a:spcAft>
            </a:pPr>
            <a:r>
              <a:rPr sz="1800">
                <a:solidFill>
                  <a:srgbClr val="6D8C97"/>
                </a:solidFill>
                <a:latin typeface="Consolas"/>
              </a:rPr>
              <a:t>  32  </a:t>
            </a:r>
            <a:r>
              <a:rPr sz="1800">
                <a:solidFill>
                  <a:srgbClr val="6D8C97"/>
                </a:solidFill>
                <a:latin typeface="Consolas"/>
              </a:rPr>
              <a:t>async function listModels() {</a:t>
            </a:r>
          </a:p>
          <a:p>
            <a:pPr>
              <a:spcAft>
                <a:spcPts val="0"/>
              </a:spcAft>
            </a:pPr>
            <a:r>
              <a:rPr sz="1800">
                <a:solidFill>
                  <a:srgbClr val="6D8C97"/>
                </a:solidFill>
                <a:latin typeface="Consolas"/>
              </a:rPr>
              <a:t>  33  </a:t>
            </a:r>
            <a:r>
              <a:rPr sz="1800">
                <a:solidFill>
                  <a:srgbClr val="6D8C97"/>
                </a:solidFill>
                <a:latin typeface="Consolas"/>
              </a:rPr>
              <a:t>  const res = await fetch(AI_BASE + '/v1/models', {</a:t>
            </a:r>
          </a:p>
          <a:p>
            <a:pPr>
              <a:spcAft>
                <a:spcPts val="0"/>
              </a:spcAft>
            </a:pPr>
            <a:r>
              <a:rPr sz="1800">
                <a:solidFill>
                  <a:srgbClr val="6D8C97"/>
                </a:solidFill>
                <a:latin typeface="Consolas"/>
              </a:rPr>
              <a:t>  34  </a:t>
            </a:r>
            <a:r>
              <a:rPr sz="1800">
                <a:solidFill>
                  <a:srgbClr val="6D8C97"/>
                </a:solidFill>
                <a:latin typeface="Consolas"/>
              </a:rPr>
              <a:t>    headers: { 'Authorization': 'Bearer ' + API_KEY }</a:t>
            </a:r>
          </a:p>
          <a:p>
            <a:pPr>
              <a:spcAft>
                <a:spcPts val="0"/>
              </a:spcAft>
            </a:pPr>
            <a:r>
              <a:rPr sz="1800">
                <a:solidFill>
                  <a:srgbClr val="6D8C97"/>
                </a:solidFill>
                <a:latin typeface="Consolas"/>
              </a:rPr>
              <a:t>  35  </a:t>
            </a:r>
            <a:r>
              <a:rPr sz="1800">
                <a:solidFill>
                  <a:srgbClr val="6D8C97"/>
                </a:solidFill>
                <a:latin typeface="Consolas"/>
              </a:rPr>
              <a:t>  });</a:t>
            </a:r>
          </a:p>
          <a:p>
            <a:pPr>
              <a:spcAft>
                <a:spcPts val="0"/>
              </a:spcAft>
            </a:pPr>
            <a:r>
              <a:rPr sz="1800">
                <a:solidFill>
                  <a:srgbClr val="6D8C97"/>
                </a:solidFill>
                <a:latin typeface="Consolas"/>
              </a:rPr>
              <a:t>  36  </a:t>
            </a:r>
            <a:r>
              <a:rPr sz="1800">
                <a:solidFill>
                  <a:srgbClr val="7FE0A0"/>
                </a:solidFill>
                <a:latin typeface="Consolas"/>
              </a:rPr>
              <a:t>  const data = await res.json();   // the answer arrives as text; this reads it</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The reply is text; await res.json() turns it into data you can use.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37</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29  </a:t>
            </a:r>
            <a:r>
              <a:rPr sz="1800">
                <a:solidFill>
                  <a:srgbClr val="6D8C97"/>
                </a:solidFill>
                <a:latin typeface="Consolas"/>
              </a:rPr>
              <a:t> </a:t>
            </a:r>
          </a:p>
          <a:p>
            <a:pPr>
              <a:spcAft>
                <a:spcPts val="0"/>
              </a:spcAft>
            </a:pPr>
            <a:r>
              <a:rPr sz="1800">
                <a:solidFill>
                  <a:srgbClr val="6D8C97"/>
                </a:solidFill>
                <a:latin typeface="Consolas"/>
              </a:rPr>
              <a:t>  30  </a:t>
            </a:r>
            <a:r>
              <a:rPr sz="1800">
                <a:solidFill>
                  <a:srgbClr val="6D8C97"/>
                </a:solidFill>
                <a:latin typeface="Consolas"/>
              </a:rPr>
              <a:t>// The smallest useful request: what models does this server have?</a:t>
            </a:r>
          </a:p>
          <a:p>
            <a:pPr>
              <a:spcAft>
                <a:spcPts val="0"/>
              </a:spcAft>
            </a:pPr>
            <a:r>
              <a:rPr sz="1800">
                <a:solidFill>
                  <a:srgbClr val="6D8C97"/>
                </a:solidFill>
                <a:latin typeface="Consolas"/>
              </a:rPr>
              <a:t>  31  </a:t>
            </a:r>
            <a:r>
              <a:rPr sz="1800">
                <a:solidFill>
                  <a:srgbClr val="6D8C97"/>
                </a:solidFill>
                <a:latin typeface="Consolas"/>
              </a:rPr>
              <a:t>// 'async' means this function does something slow and can be waited for.</a:t>
            </a:r>
          </a:p>
          <a:p>
            <a:pPr>
              <a:spcAft>
                <a:spcPts val="0"/>
              </a:spcAft>
            </a:pPr>
            <a:r>
              <a:rPr sz="1800">
                <a:solidFill>
                  <a:srgbClr val="6D8C97"/>
                </a:solidFill>
                <a:latin typeface="Consolas"/>
              </a:rPr>
              <a:t>  32  </a:t>
            </a:r>
            <a:r>
              <a:rPr sz="1800">
                <a:solidFill>
                  <a:srgbClr val="6D8C97"/>
                </a:solidFill>
                <a:latin typeface="Consolas"/>
              </a:rPr>
              <a:t>async function listModels() {</a:t>
            </a:r>
          </a:p>
          <a:p>
            <a:pPr>
              <a:spcAft>
                <a:spcPts val="0"/>
              </a:spcAft>
            </a:pPr>
            <a:r>
              <a:rPr sz="1800">
                <a:solidFill>
                  <a:srgbClr val="6D8C97"/>
                </a:solidFill>
                <a:latin typeface="Consolas"/>
              </a:rPr>
              <a:t>  33  </a:t>
            </a:r>
            <a:r>
              <a:rPr sz="1800">
                <a:solidFill>
                  <a:srgbClr val="6D8C97"/>
                </a:solidFill>
                <a:latin typeface="Consolas"/>
              </a:rPr>
              <a:t>  const res = await fetch(AI_BASE + '/v1/models', {</a:t>
            </a:r>
          </a:p>
          <a:p>
            <a:pPr>
              <a:spcAft>
                <a:spcPts val="0"/>
              </a:spcAft>
            </a:pPr>
            <a:r>
              <a:rPr sz="1800">
                <a:solidFill>
                  <a:srgbClr val="6D8C97"/>
                </a:solidFill>
                <a:latin typeface="Consolas"/>
              </a:rPr>
              <a:t>  34  </a:t>
            </a:r>
            <a:r>
              <a:rPr sz="1800">
                <a:solidFill>
                  <a:srgbClr val="6D8C97"/>
                </a:solidFill>
                <a:latin typeface="Consolas"/>
              </a:rPr>
              <a:t>    headers: { 'Authorization': 'Bearer ' + API_KEY }</a:t>
            </a:r>
          </a:p>
          <a:p>
            <a:pPr>
              <a:spcAft>
                <a:spcPts val="0"/>
              </a:spcAft>
            </a:pPr>
            <a:r>
              <a:rPr sz="1800">
                <a:solidFill>
                  <a:srgbClr val="6D8C97"/>
                </a:solidFill>
                <a:latin typeface="Consolas"/>
              </a:rPr>
              <a:t>  35  </a:t>
            </a:r>
            <a:r>
              <a:rPr sz="1800">
                <a:solidFill>
                  <a:srgbClr val="6D8C97"/>
                </a:solidFill>
                <a:latin typeface="Consolas"/>
              </a:rPr>
              <a:t>  });</a:t>
            </a:r>
          </a:p>
          <a:p>
            <a:pPr>
              <a:spcAft>
                <a:spcPts val="0"/>
              </a:spcAft>
            </a:pPr>
            <a:r>
              <a:rPr sz="1800">
                <a:solidFill>
                  <a:srgbClr val="6D8C97"/>
                </a:solidFill>
                <a:latin typeface="Consolas"/>
              </a:rPr>
              <a:t>  36  </a:t>
            </a:r>
            <a:r>
              <a:rPr sz="1800">
                <a:solidFill>
                  <a:srgbClr val="6D8C97"/>
                </a:solidFill>
                <a:latin typeface="Consolas"/>
              </a:rPr>
              <a:t>  const data = await res.json();   // the answer arrives as text; this reads it</a:t>
            </a:r>
          </a:p>
          <a:p>
            <a:pPr>
              <a:spcAft>
                <a:spcPts val="0"/>
              </a:spcAft>
            </a:pPr>
            <a:r>
              <a:rPr sz="1800">
                <a:solidFill>
                  <a:srgbClr val="6D8C97"/>
                </a:solidFill>
                <a:latin typeface="Consolas"/>
              </a:rPr>
              <a:t>  37  </a:t>
            </a:r>
            <a:r>
              <a:rPr sz="1800">
                <a:solidFill>
                  <a:srgbClr val="7FE0A0"/>
                </a:solidFill>
                <a:latin typeface="Consolas"/>
              </a:rPr>
              <a:t>  console.log('The server offers:', data.data);</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Prints the list of models to the console so you can see them.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38</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800">
                <a:solidFill>
                  <a:srgbClr val="6D8C97"/>
                </a:solidFill>
                <a:latin typeface="Consolas"/>
              </a:rPr>
              <a:t>  29  </a:t>
            </a:r>
            <a:r>
              <a:rPr sz="1800">
                <a:solidFill>
                  <a:srgbClr val="6D8C97"/>
                </a:solidFill>
                <a:latin typeface="Consolas"/>
              </a:rPr>
              <a:t> </a:t>
            </a:r>
          </a:p>
          <a:p>
            <a:pPr>
              <a:spcAft>
                <a:spcPts val="0"/>
              </a:spcAft>
            </a:pPr>
            <a:r>
              <a:rPr sz="1800">
                <a:solidFill>
                  <a:srgbClr val="6D8C97"/>
                </a:solidFill>
                <a:latin typeface="Consolas"/>
              </a:rPr>
              <a:t>  30  </a:t>
            </a:r>
            <a:r>
              <a:rPr sz="1800">
                <a:solidFill>
                  <a:srgbClr val="6D8C97"/>
                </a:solidFill>
                <a:latin typeface="Consolas"/>
              </a:rPr>
              <a:t>// The smallest useful request: what models does this server have?</a:t>
            </a:r>
          </a:p>
          <a:p>
            <a:pPr>
              <a:spcAft>
                <a:spcPts val="0"/>
              </a:spcAft>
            </a:pPr>
            <a:r>
              <a:rPr sz="1800">
                <a:solidFill>
                  <a:srgbClr val="6D8C97"/>
                </a:solidFill>
                <a:latin typeface="Consolas"/>
              </a:rPr>
              <a:t>  31  </a:t>
            </a:r>
            <a:r>
              <a:rPr sz="1800">
                <a:solidFill>
                  <a:srgbClr val="6D8C97"/>
                </a:solidFill>
                <a:latin typeface="Consolas"/>
              </a:rPr>
              <a:t>// 'async' means this function does something slow and can be waited for.</a:t>
            </a:r>
          </a:p>
          <a:p>
            <a:pPr>
              <a:spcAft>
                <a:spcPts val="0"/>
              </a:spcAft>
            </a:pPr>
            <a:r>
              <a:rPr sz="1800">
                <a:solidFill>
                  <a:srgbClr val="6D8C97"/>
                </a:solidFill>
                <a:latin typeface="Consolas"/>
              </a:rPr>
              <a:t>  32  </a:t>
            </a:r>
            <a:r>
              <a:rPr sz="1800">
                <a:solidFill>
                  <a:srgbClr val="6D8C97"/>
                </a:solidFill>
                <a:latin typeface="Consolas"/>
              </a:rPr>
              <a:t>async function listModels() {</a:t>
            </a:r>
          </a:p>
          <a:p>
            <a:pPr>
              <a:spcAft>
                <a:spcPts val="0"/>
              </a:spcAft>
            </a:pPr>
            <a:r>
              <a:rPr sz="1800">
                <a:solidFill>
                  <a:srgbClr val="6D8C97"/>
                </a:solidFill>
                <a:latin typeface="Consolas"/>
              </a:rPr>
              <a:t>  33  </a:t>
            </a:r>
            <a:r>
              <a:rPr sz="1800">
                <a:solidFill>
                  <a:srgbClr val="6D8C97"/>
                </a:solidFill>
                <a:latin typeface="Consolas"/>
              </a:rPr>
              <a:t>  const res = await fetch(AI_BASE + '/v1/models', {</a:t>
            </a:r>
          </a:p>
          <a:p>
            <a:pPr>
              <a:spcAft>
                <a:spcPts val="0"/>
              </a:spcAft>
            </a:pPr>
            <a:r>
              <a:rPr sz="1800">
                <a:solidFill>
                  <a:srgbClr val="6D8C97"/>
                </a:solidFill>
                <a:latin typeface="Consolas"/>
              </a:rPr>
              <a:t>  34  </a:t>
            </a:r>
            <a:r>
              <a:rPr sz="1800">
                <a:solidFill>
                  <a:srgbClr val="6D8C97"/>
                </a:solidFill>
                <a:latin typeface="Consolas"/>
              </a:rPr>
              <a:t>    headers: { 'Authorization': 'Bearer ' + API_KEY }</a:t>
            </a:r>
          </a:p>
          <a:p>
            <a:pPr>
              <a:spcAft>
                <a:spcPts val="0"/>
              </a:spcAft>
            </a:pPr>
            <a:r>
              <a:rPr sz="1800">
                <a:solidFill>
                  <a:srgbClr val="6D8C97"/>
                </a:solidFill>
                <a:latin typeface="Consolas"/>
              </a:rPr>
              <a:t>  35  </a:t>
            </a:r>
            <a:r>
              <a:rPr sz="1800">
                <a:solidFill>
                  <a:srgbClr val="6D8C97"/>
                </a:solidFill>
                <a:latin typeface="Consolas"/>
              </a:rPr>
              <a:t>  });</a:t>
            </a:r>
          </a:p>
          <a:p>
            <a:pPr>
              <a:spcAft>
                <a:spcPts val="0"/>
              </a:spcAft>
            </a:pPr>
            <a:r>
              <a:rPr sz="1800">
                <a:solidFill>
                  <a:srgbClr val="6D8C97"/>
                </a:solidFill>
                <a:latin typeface="Consolas"/>
              </a:rPr>
              <a:t>  36  </a:t>
            </a:r>
            <a:r>
              <a:rPr sz="1800">
                <a:solidFill>
                  <a:srgbClr val="6D8C97"/>
                </a:solidFill>
                <a:latin typeface="Consolas"/>
              </a:rPr>
              <a:t>  const data = await res.json();   // the answer arrives as text; this reads it</a:t>
            </a:r>
          </a:p>
          <a:p>
            <a:pPr>
              <a:spcAft>
                <a:spcPts val="0"/>
              </a:spcAft>
            </a:pPr>
            <a:r>
              <a:rPr sz="1800">
                <a:solidFill>
                  <a:srgbClr val="6D8C97"/>
                </a:solidFill>
                <a:latin typeface="Consolas"/>
              </a:rPr>
              <a:t>  37  </a:t>
            </a:r>
            <a:r>
              <a:rPr sz="1800">
                <a:solidFill>
                  <a:srgbClr val="6D8C97"/>
                </a:solidFill>
                <a:latin typeface="Consolas"/>
              </a:rPr>
              <a:t>  console.log('The server offers:', data.data);</a:t>
            </a:r>
          </a:p>
          <a:p>
            <a:pPr>
              <a:spcAft>
                <a:spcPts val="0"/>
              </a:spcAft>
            </a:pPr>
            <a:r>
              <a:rPr sz="1800">
                <a:solidFill>
                  <a:srgbClr val="6D8C97"/>
                </a:solidFill>
                <a:latin typeface="Consolas"/>
              </a:rPr>
              <a:t>  38  </a:t>
            </a:r>
            <a:r>
              <a:rPr sz="1800">
                <a:solidFill>
                  <a:srgbClr val="7FE0A0"/>
                </a:solidFill>
                <a:latin typeface="Consolas"/>
              </a:rPr>
              <a:t>}</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Closes the function.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Type this into script.js   -   line 40</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300">
                <a:solidFill>
                  <a:srgbClr val="6D8C97"/>
                </a:solidFill>
                <a:latin typeface="Consolas"/>
              </a:rPr>
              <a:t>  29  </a:t>
            </a:r>
            <a:r>
              <a:rPr sz="1300">
                <a:solidFill>
                  <a:srgbClr val="6D8C97"/>
                </a:solidFill>
                <a:latin typeface="Consolas"/>
              </a:rPr>
              <a:t> </a:t>
            </a:r>
          </a:p>
          <a:p>
            <a:pPr>
              <a:spcAft>
                <a:spcPts val="0"/>
              </a:spcAft>
            </a:pPr>
            <a:r>
              <a:rPr sz="1300">
                <a:solidFill>
                  <a:srgbClr val="6D8C97"/>
                </a:solidFill>
                <a:latin typeface="Consolas"/>
              </a:rPr>
              <a:t>  30  </a:t>
            </a:r>
            <a:r>
              <a:rPr sz="1300">
                <a:solidFill>
                  <a:srgbClr val="6D8C97"/>
                </a:solidFill>
                <a:latin typeface="Consolas"/>
              </a:rPr>
              <a:t>// The smallest useful request: what models does this server have?</a:t>
            </a:r>
          </a:p>
          <a:p>
            <a:pPr>
              <a:spcAft>
                <a:spcPts val="0"/>
              </a:spcAft>
            </a:pPr>
            <a:r>
              <a:rPr sz="1300">
                <a:solidFill>
                  <a:srgbClr val="6D8C97"/>
                </a:solidFill>
                <a:latin typeface="Consolas"/>
              </a:rPr>
              <a:t>  31  </a:t>
            </a:r>
            <a:r>
              <a:rPr sz="1300">
                <a:solidFill>
                  <a:srgbClr val="6D8C97"/>
                </a:solidFill>
                <a:latin typeface="Consolas"/>
              </a:rPr>
              <a:t>// 'async' means this function does something slow and can be waited for.</a:t>
            </a:r>
          </a:p>
          <a:p>
            <a:pPr>
              <a:spcAft>
                <a:spcPts val="0"/>
              </a:spcAft>
            </a:pPr>
            <a:r>
              <a:rPr sz="1300">
                <a:solidFill>
                  <a:srgbClr val="6D8C97"/>
                </a:solidFill>
                <a:latin typeface="Consolas"/>
              </a:rPr>
              <a:t>  32  </a:t>
            </a:r>
            <a:r>
              <a:rPr sz="1300">
                <a:solidFill>
                  <a:srgbClr val="6D8C97"/>
                </a:solidFill>
                <a:latin typeface="Consolas"/>
              </a:rPr>
              <a:t>async function listModels() {</a:t>
            </a:r>
          </a:p>
          <a:p>
            <a:pPr>
              <a:spcAft>
                <a:spcPts val="0"/>
              </a:spcAft>
            </a:pPr>
            <a:r>
              <a:rPr sz="1300">
                <a:solidFill>
                  <a:srgbClr val="6D8C97"/>
                </a:solidFill>
                <a:latin typeface="Consolas"/>
              </a:rPr>
              <a:t>  33  </a:t>
            </a:r>
            <a:r>
              <a:rPr sz="1300">
                <a:solidFill>
                  <a:srgbClr val="6D8C97"/>
                </a:solidFill>
                <a:latin typeface="Consolas"/>
              </a:rPr>
              <a:t>  const res = await fetch(AI_BASE + '/v1/models', {</a:t>
            </a:r>
          </a:p>
          <a:p>
            <a:pPr>
              <a:spcAft>
                <a:spcPts val="0"/>
              </a:spcAft>
            </a:pPr>
            <a:r>
              <a:rPr sz="1300">
                <a:solidFill>
                  <a:srgbClr val="6D8C97"/>
                </a:solidFill>
                <a:latin typeface="Consolas"/>
              </a:rPr>
              <a:t>  34  </a:t>
            </a:r>
            <a:r>
              <a:rPr sz="1300">
                <a:solidFill>
                  <a:srgbClr val="6D8C97"/>
                </a:solidFill>
                <a:latin typeface="Consolas"/>
              </a:rPr>
              <a:t>    headers: { 'Authorization': 'Bearer ' + API_KEY }</a:t>
            </a:r>
          </a:p>
          <a:p>
            <a:pPr>
              <a:spcAft>
                <a:spcPts val="0"/>
              </a:spcAft>
            </a:pPr>
            <a:r>
              <a:rPr sz="1300">
                <a:solidFill>
                  <a:srgbClr val="6D8C97"/>
                </a:solidFill>
                <a:latin typeface="Consolas"/>
              </a:rPr>
              <a:t>  35  </a:t>
            </a:r>
            <a:r>
              <a:rPr sz="1300">
                <a:solidFill>
                  <a:srgbClr val="6D8C97"/>
                </a:solidFill>
                <a:latin typeface="Consolas"/>
              </a:rPr>
              <a:t>  });</a:t>
            </a:r>
          </a:p>
          <a:p>
            <a:pPr>
              <a:spcAft>
                <a:spcPts val="0"/>
              </a:spcAft>
            </a:pPr>
            <a:r>
              <a:rPr sz="1300">
                <a:solidFill>
                  <a:srgbClr val="6D8C97"/>
                </a:solidFill>
                <a:latin typeface="Consolas"/>
              </a:rPr>
              <a:t>  36  </a:t>
            </a:r>
            <a:r>
              <a:rPr sz="1300">
                <a:solidFill>
                  <a:srgbClr val="6D8C97"/>
                </a:solidFill>
                <a:latin typeface="Consolas"/>
              </a:rPr>
              <a:t>  const data = await res.json();   // the answer arrives as text; this reads it</a:t>
            </a:r>
          </a:p>
          <a:p>
            <a:pPr>
              <a:spcAft>
                <a:spcPts val="0"/>
              </a:spcAft>
            </a:pPr>
            <a:r>
              <a:rPr sz="1300">
                <a:solidFill>
                  <a:srgbClr val="6D8C97"/>
                </a:solidFill>
                <a:latin typeface="Consolas"/>
              </a:rPr>
              <a:t>  37  </a:t>
            </a:r>
            <a:r>
              <a:rPr sz="1300">
                <a:solidFill>
                  <a:srgbClr val="6D8C97"/>
                </a:solidFill>
                <a:latin typeface="Consolas"/>
              </a:rPr>
              <a:t>  console.log('The server offers:', data.data);</a:t>
            </a:r>
          </a:p>
          <a:p>
            <a:pPr>
              <a:spcAft>
                <a:spcPts val="0"/>
              </a:spcAft>
            </a:pPr>
            <a:r>
              <a:rPr sz="1300">
                <a:solidFill>
                  <a:srgbClr val="6D8C97"/>
                </a:solidFill>
                <a:latin typeface="Consolas"/>
              </a:rPr>
              <a:t>  38  </a:t>
            </a:r>
            <a:r>
              <a:rPr sz="1300">
                <a:solidFill>
                  <a:srgbClr val="6D8C97"/>
                </a:solidFill>
                <a:latin typeface="Consolas"/>
              </a:rPr>
              <a:t>}</a:t>
            </a:r>
          </a:p>
          <a:p>
            <a:pPr>
              <a:spcAft>
                <a:spcPts val="0"/>
              </a:spcAft>
            </a:pPr>
            <a:r>
              <a:rPr sz="1300">
                <a:solidFill>
                  <a:srgbClr val="6D8C97"/>
                </a:solidFill>
                <a:latin typeface="Consolas"/>
              </a:rPr>
              <a:t>  39  </a:t>
            </a:r>
            <a:r>
              <a:rPr sz="1300">
                <a:solidFill>
                  <a:srgbClr val="6D8C97"/>
                </a:solidFill>
                <a:latin typeface="Consolas"/>
              </a:rPr>
              <a:t> </a:t>
            </a:r>
          </a:p>
          <a:p>
            <a:pPr>
              <a:spcAft>
                <a:spcPts val="0"/>
              </a:spcAft>
            </a:pPr>
            <a:r>
              <a:rPr sz="1300">
                <a:solidFill>
                  <a:srgbClr val="6D8C97"/>
                </a:solidFill>
                <a:latin typeface="Consolas"/>
              </a:rPr>
              <a:t>  40  </a:t>
            </a:r>
            <a:r>
              <a:rPr sz="1300">
                <a:solidFill>
                  <a:srgbClr val="7FE0A0"/>
                </a:solidFill>
                <a:latin typeface="Consolas"/>
              </a:rPr>
              <a:t>listModels();</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Calls the function so it actually runs when the page loads.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127"/>
        </a:solidFill>
        <a:effectLst/>
      </p:bgPr>
    </p:bg>
    <p:spTree>
      <p:nvGrpSpPr>
        <p:cNvPr id="1" name=""/>
        <p:cNvGrpSpPr/>
        <p:nvPr/>
      </p:nvGrpSpPr>
      <p:grpSpPr/>
      <p:sp>
        <p:nvSpPr>
          <p:cNvPr id="2" name="TextBox 1"/>
          <p:cNvSpPr txBox="1"/>
          <p:nvPr/>
        </p:nvSpPr>
        <p:spPr>
          <a:xfrm>
            <a:off x="502920" y="274320"/>
            <a:ext cx="11155680" cy="548640"/>
          </a:xfrm>
          <a:prstGeom prst="rect">
            <a:avLst/>
          </a:prstGeom>
          <a:noFill/>
        </p:spPr>
        <p:txBody>
          <a:bodyPr wrap="none">
            <a:spAutoFit/>
          </a:bodyPr>
          <a:lstStyle/>
          <a:p>
            <a:r>
              <a:rPr sz="2200" b="1">
                <a:solidFill>
                  <a:srgbClr val="01AEFD"/>
                </a:solidFill>
              </a:rPr>
              <a:t>All together in script.js</a:t>
            </a:r>
          </a:p>
        </p:txBody>
      </p:sp>
      <p:sp>
        <p:nvSpPr>
          <p:cNvPr id="3" name="TextBox 2"/>
          <p:cNvSpPr txBox="1"/>
          <p:nvPr/>
        </p:nvSpPr>
        <p:spPr>
          <a:xfrm>
            <a:off x="502920" y="960120"/>
            <a:ext cx="11155680" cy="4297680"/>
          </a:xfrm>
          <a:prstGeom prst="rect">
            <a:avLst/>
          </a:prstGeom>
          <a:noFill/>
        </p:spPr>
        <p:txBody>
          <a:bodyPr wrap="none">
            <a:spAutoFit/>
          </a:bodyPr>
          <a:lstStyle/>
          <a:p>
            <a:pPr>
              <a:spcAft>
                <a:spcPts val="0"/>
              </a:spcAft>
            </a:pPr>
            <a:r>
              <a:rPr sz="1300">
                <a:solidFill>
                  <a:srgbClr val="6D8C97"/>
                </a:solidFill>
                <a:latin typeface="Consolas"/>
              </a:rPr>
              <a:t>  29  </a:t>
            </a:r>
            <a:r>
              <a:rPr sz="1300">
                <a:solidFill>
                  <a:srgbClr val="7FE0A0"/>
                </a:solidFill>
                <a:latin typeface="Consolas"/>
              </a:rPr>
              <a:t> </a:t>
            </a:r>
          </a:p>
          <a:p>
            <a:pPr>
              <a:spcAft>
                <a:spcPts val="0"/>
              </a:spcAft>
            </a:pPr>
            <a:r>
              <a:rPr sz="1300">
                <a:solidFill>
                  <a:srgbClr val="6D8C97"/>
                </a:solidFill>
                <a:latin typeface="Consolas"/>
              </a:rPr>
              <a:t>  30  </a:t>
            </a:r>
            <a:r>
              <a:rPr sz="1300">
                <a:solidFill>
                  <a:srgbClr val="7FE0A0"/>
                </a:solidFill>
                <a:latin typeface="Consolas"/>
              </a:rPr>
              <a:t>// The smallest useful request: what models does this server have?</a:t>
            </a:r>
          </a:p>
          <a:p>
            <a:pPr>
              <a:spcAft>
                <a:spcPts val="0"/>
              </a:spcAft>
            </a:pPr>
            <a:r>
              <a:rPr sz="1300">
                <a:solidFill>
                  <a:srgbClr val="6D8C97"/>
                </a:solidFill>
                <a:latin typeface="Consolas"/>
              </a:rPr>
              <a:t>  31  </a:t>
            </a:r>
            <a:r>
              <a:rPr sz="1300">
                <a:solidFill>
                  <a:srgbClr val="7FE0A0"/>
                </a:solidFill>
                <a:latin typeface="Consolas"/>
              </a:rPr>
              <a:t>// 'async' means this function does something slow and can be waited for.</a:t>
            </a:r>
          </a:p>
          <a:p>
            <a:pPr>
              <a:spcAft>
                <a:spcPts val="0"/>
              </a:spcAft>
            </a:pPr>
            <a:r>
              <a:rPr sz="1300">
                <a:solidFill>
                  <a:srgbClr val="6D8C97"/>
                </a:solidFill>
                <a:latin typeface="Consolas"/>
              </a:rPr>
              <a:t>  32  </a:t>
            </a:r>
            <a:r>
              <a:rPr sz="1300">
                <a:solidFill>
                  <a:srgbClr val="7FE0A0"/>
                </a:solidFill>
                <a:latin typeface="Consolas"/>
              </a:rPr>
              <a:t>async function listModels() {</a:t>
            </a:r>
          </a:p>
          <a:p>
            <a:pPr>
              <a:spcAft>
                <a:spcPts val="0"/>
              </a:spcAft>
            </a:pPr>
            <a:r>
              <a:rPr sz="1300">
                <a:solidFill>
                  <a:srgbClr val="6D8C97"/>
                </a:solidFill>
                <a:latin typeface="Consolas"/>
              </a:rPr>
              <a:t>  33  </a:t>
            </a:r>
            <a:r>
              <a:rPr sz="1300">
                <a:solidFill>
                  <a:srgbClr val="7FE0A0"/>
                </a:solidFill>
                <a:latin typeface="Consolas"/>
              </a:rPr>
              <a:t>  const res = await fetch(AI_BASE + '/v1/models', {</a:t>
            </a:r>
          </a:p>
          <a:p>
            <a:pPr>
              <a:spcAft>
                <a:spcPts val="0"/>
              </a:spcAft>
            </a:pPr>
            <a:r>
              <a:rPr sz="1300">
                <a:solidFill>
                  <a:srgbClr val="6D8C97"/>
                </a:solidFill>
                <a:latin typeface="Consolas"/>
              </a:rPr>
              <a:t>  34  </a:t>
            </a:r>
            <a:r>
              <a:rPr sz="1300">
                <a:solidFill>
                  <a:srgbClr val="7FE0A0"/>
                </a:solidFill>
                <a:latin typeface="Consolas"/>
              </a:rPr>
              <a:t>    headers: { 'Authorization': 'Bearer ' + API_KEY }</a:t>
            </a:r>
          </a:p>
          <a:p>
            <a:pPr>
              <a:spcAft>
                <a:spcPts val="0"/>
              </a:spcAft>
            </a:pPr>
            <a:r>
              <a:rPr sz="1300">
                <a:solidFill>
                  <a:srgbClr val="6D8C97"/>
                </a:solidFill>
                <a:latin typeface="Consolas"/>
              </a:rPr>
              <a:t>  35  </a:t>
            </a:r>
            <a:r>
              <a:rPr sz="1300">
                <a:solidFill>
                  <a:srgbClr val="7FE0A0"/>
                </a:solidFill>
                <a:latin typeface="Consolas"/>
              </a:rPr>
              <a:t>  });</a:t>
            </a:r>
          </a:p>
          <a:p>
            <a:pPr>
              <a:spcAft>
                <a:spcPts val="0"/>
              </a:spcAft>
            </a:pPr>
            <a:r>
              <a:rPr sz="1300">
                <a:solidFill>
                  <a:srgbClr val="6D8C97"/>
                </a:solidFill>
                <a:latin typeface="Consolas"/>
              </a:rPr>
              <a:t>  36  </a:t>
            </a:r>
            <a:r>
              <a:rPr sz="1300">
                <a:solidFill>
                  <a:srgbClr val="7FE0A0"/>
                </a:solidFill>
                <a:latin typeface="Consolas"/>
              </a:rPr>
              <a:t>  const data = await res.json();   // the answer arrives as text; this reads it</a:t>
            </a:r>
          </a:p>
          <a:p>
            <a:pPr>
              <a:spcAft>
                <a:spcPts val="0"/>
              </a:spcAft>
            </a:pPr>
            <a:r>
              <a:rPr sz="1300">
                <a:solidFill>
                  <a:srgbClr val="6D8C97"/>
                </a:solidFill>
                <a:latin typeface="Consolas"/>
              </a:rPr>
              <a:t>  37  </a:t>
            </a:r>
            <a:r>
              <a:rPr sz="1300">
                <a:solidFill>
                  <a:srgbClr val="7FE0A0"/>
                </a:solidFill>
                <a:latin typeface="Consolas"/>
              </a:rPr>
              <a:t>  console.log('The server offers:', data.data);</a:t>
            </a:r>
          </a:p>
          <a:p>
            <a:pPr>
              <a:spcAft>
                <a:spcPts val="0"/>
              </a:spcAft>
            </a:pPr>
            <a:r>
              <a:rPr sz="1300">
                <a:solidFill>
                  <a:srgbClr val="6D8C97"/>
                </a:solidFill>
                <a:latin typeface="Consolas"/>
              </a:rPr>
              <a:t>  38  </a:t>
            </a:r>
            <a:r>
              <a:rPr sz="1300">
                <a:solidFill>
                  <a:srgbClr val="7FE0A0"/>
                </a:solidFill>
                <a:latin typeface="Consolas"/>
              </a:rPr>
              <a:t>}</a:t>
            </a:r>
          </a:p>
          <a:p>
            <a:pPr>
              <a:spcAft>
                <a:spcPts val="0"/>
              </a:spcAft>
            </a:pPr>
            <a:r>
              <a:rPr sz="1300">
                <a:solidFill>
                  <a:srgbClr val="6D8C97"/>
                </a:solidFill>
                <a:latin typeface="Consolas"/>
              </a:rPr>
              <a:t>  39  </a:t>
            </a:r>
            <a:r>
              <a:rPr sz="1300">
                <a:solidFill>
                  <a:srgbClr val="7FE0A0"/>
                </a:solidFill>
                <a:latin typeface="Consolas"/>
              </a:rPr>
              <a:t> </a:t>
            </a:r>
          </a:p>
          <a:p>
            <a:pPr>
              <a:spcAft>
                <a:spcPts val="0"/>
              </a:spcAft>
            </a:pPr>
            <a:r>
              <a:rPr sz="1300">
                <a:solidFill>
                  <a:srgbClr val="6D8C97"/>
                </a:solidFill>
                <a:latin typeface="Consolas"/>
              </a:rPr>
              <a:t>  40  </a:t>
            </a:r>
            <a:r>
              <a:rPr sz="1300">
                <a:solidFill>
                  <a:srgbClr val="7FE0A0"/>
                </a:solidFill>
                <a:latin typeface="Consolas"/>
              </a:rPr>
              <a:t>listModels();</a:t>
            </a:r>
          </a:p>
        </p:txBody>
      </p:sp>
      <p:sp>
        <p:nvSpPr>
          <p:cNvPr id="4" name="TextBox 3"/>
          <p:cNvSpPr txBox="1"/>
          <p:nvPr/>
        </p:nvSpPr>
        <p:spPr>
          <a:xfrm>
            <a:off x="548640" y="5623560"/>
            <a:ext cx="11064240" cy="1051560"/>
          </a:xfrm>
          <a:prstGeom prst="rect">
            <a:avLst/>
          </a:prstGeom>
          <a:noFill/>
        </p:spPr>
        <p:txBody>
          <a:bodyPr wrap="square">
            <a:spAutoFit/>
          </a:bodyPr>
          <a:lstStyle/>
          <a:p>
            <a:r>
              <a:rPr sz="2000">
                <a:solidFill>
                  <a:srgbClr val="DCECEF"/>
                </a:solidFill>
              </a:rPr>
              <a:t>That is the whole piece. Check yours looks the same before moving 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What does  fetch(url)  do?</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QUICK CHECK</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A. Deletes a file</a:t>
            </a:r>
          </a:p>
          <a:p>
            <a:pPr>
              <a:spcAft>
                <a:spcPts val="1400"/>
              </a:spcAft>
            </a:pPr>
            <a:r>
              <a:rPr sz="2400">
                <a:solidFill>
                  <a:srgbClr val="1F2A37"/>
                </a:solidFill>
              </a:rPr>
              <a:t>• B. Creates an HTML element</a:t>
            </a:r>
          </a:p>
          <a:p>
            <a:pPr>
              <a:spcAft>
                <a:spcPts val="1400"/>
              </a:spcAft>
            </a:pPr>
            <a:r>
              <a:rPr sz="2400">
                <a:solidFill>
                  <a:srgbClr val="1F2A37"/>
                </a:solidFill>
              </a:rPr>
              <a:t>• C. Loops over a list</a:t>
            </a:r>
          </a:p>
          <a:p>
            <a:pPr>
              <a:spcAft>
                <a:spcPts val="1400"/>
              </a:spcAft>
            </a:pPr>
            <a:r>
              <a:rPr sz="2400">
                <a:solidFill>
                  <a:srgbClr val="1F2A37"/>
                </a:solidFill>
              </a:rPr>
              <a:t>• D. Asks a server for something over the network</a:t>
            </a:r>
          </a:p>
          <a:p>
            <a:pPr>
              <a:spcAft>
                <a:spcPts val="1400"/>
              </a:spcAft>
            </a:pPr>
            <a:r>
              <a:rPr sz="2400">
                <a:solidFill>
                  <a:srgbClr val="1F2A37"/>
                </a:solidFill>
              </a:rPr>
              <a:t>• Pick one - the answer is on the next slide.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What does  fetch(url)  do?</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ANSWER</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A. Deletes a file</a:t>
            </a:r>
          </a:p>
          <a:p>
            <a:pPr>
              <a:spcAft>
                <a:spcPts val="1400"/>
              </a:spcAft>
            </a:pPr>
            <a:r>
              <a:rPr sz="2400">
                <a:solidFill>
                  <a:srgbClr val="1F2A37"/>
                </a:solidFill>
              </a:rPr>
              <a:t>• B. Creates an HTML element</a:t>
            </a:r>
          </a:p>
          <a:p>
            <a:pPr>
              <a:spcAft>
                <a:spcPts val="1400"/>
              </a:spcAft>
            </a:pPr>
            <a:r>
              <a:rPr sz="2400">
                <a:solidFill>
                  <a:srgbClr val="1F2A37"/>
                </a:solidFill>
              </a:rPr>
              <a:t>• C. Loops over a list</a:t>
            </a:r>
          </a:p>
          <a:p>
            <a:pPr>
              <a:spcAft>
                <a:spcPts val="1400"/>
              </a:spcAft>
            </a:pPr>
            <a:r>
              <a:rPr sz="2400">
                <a:solidFill>
                  <a:srgbClr val="1F2A37"/>
                </a:solidFill>
              </a:rPr>
              <a:t>• D. Asks a server for something over the network (correct)</a:t>
            </a:r>
          </a:p>
          <a:p>
            <a:pPr>
              <a:spcAft>
                <a:spcPts val="1400"/>
              </a:spcAft>
            </a:pPr>
            <a:r>
              <a:rPr sz="2400">
                <a:solidFill>
                  <a:srgbClr val="1F2A37"/>
                </a:solidFill>
              </a:rPr>
              <a:t>• fetch sends a request across the network and comes back with a reply.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What does  await  do?</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QUICK CHECK</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A. Skips the request</a:t>
            </a:r>
          </a:p>
          <a:p>
            <a:pPr>
              <a:spcAft>
                <a:spcPts val="1400"/>
              </a:spcAft>
            </a:pPr>
            <a:r>
              <a:rPr sz="2400">
                <a:solidFill>
                  <a:srgbClr val="1F2A37"/>
                </a:solidFill>
              </a:rPr>
              <a:t>• B. Repeats the request</a:t>
            </a:r>
          </a:p>
          <a:p>
            <a:pPr>
              <a:spcAft>
                <a:spcPts val="1400"/>
              </a:spcAft>
            </a:pPr>
            <a:r>
              <a:rPr sz="2400">
                <a:solidFill>
                  <a:srgbClr val="1F2A37"/>
                </a:solidFill>
              </a:rPr>
              <a:t>• C. Speeds the code up</a:t>
            </a:r>
          </a:p>
          <a:p>
            <a:pPr>
              <a:spcAft>
                <a:spcPts val="1400"/>
              </a:spcAft>
            </a:pPr>
            <a:r>
              <a:rPr sz="2400">
                <a:solidFill>
                  <a:srgbClr val="1F2A37"/>
                </a:solidFill>
              </a:rPr>
              <a:t>• D. Waits for the reply before the next line runs</a:t>
            </a:r>
          </a:p>
          <a:p>
            <a:pPr>
              <a:spcAft>
                <a:spcPts val="1400"/>
              </a:spcAft>
            </a:pPr>
            <a:r>
              <a:rPr sz="2400">
                <a:solidFill>
                  <a:srgbClr val="1F2A37"/>
                </a:solidFill>
              </a:rPr>
              <a:t>• Pick one - the answer is on the next slide.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What does  await  do?</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ANSWER</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A. Skips the request</a:t>
            </a:r>
          </a:p>
          <a:p>
            <a:pPr>
              <a:spcAft>
                <a:spcPts val="1400"/>
              </a:spcAft>
            </a:pPr>
            <a:r>
              <a:rPr sz="2400">
                <a:solidFill>
                  <a:srgbClr val="1F2A37"/>
                </a:solidFill>
              </a:rPr>
              <a:t>• B. Repeats the request</a:t>
            </a:r>
          </a:p>
          <a:p>
            <a:pPr>
              <a:spcAft>
                <a:spcPts val="1400"/>
              </a:spcAft>
            </a:pPr>
            <a:r>
              <a:rPr sz="2400">
                <a:solidFill>
                  <a:srgbClr val="1F2A37"/>
                </a:solidFill>
              </a:rPr>
              <a:t>• C. Speeds the code up</a:t>
            </a:r>
          </a:p>
          <a:p>
            <a:pPr>
              <a:spcAft>
                <a:spcPts val="1400"/>
              </a:spcAft>
            </a:pPr>
            <a:r>
              <a:rPr sz="2400">
                <a:solidFill>
                  <a:srgbClr val="1F2A37"/>
                </a:solidFill>
              </a:rPr>
              <a:t>• D. Waits for the reply before the next line runs (correct)</a:t>
            </a:r>
          </a:p>
          <a:p>
            <a:pPr>
              <a:spcAft>
                <a:spcPts val="1400"/>
              </a:spcAft>
            </a:pPr>
            <a:r>
              <a:rPr sz="2400">
                <a:solidFill>
                  <a:srgbClr val="1F2A37"/>
                </a:solidFill>
              </a:rPr>
              <a:t>• await pauses on that line until the slow thing finishes.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 role: 'user', content: text }  is a(n)...?</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QUICK CHECK</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A. array</a:t>
            </a:r>
          </a:p>
          <a:p>
            <a:pPr>
              <a:spcAft>
                <a:spcPts val="1400"/>
              </a:spcAft>
            </a:pPr>
            <a:r>
              <a:rPr sz="2400">
                <a:solidFill>
                  <a:srgbClr val="1F2A37"/>
                </a:solidFill>
              </a:rPr>
              <a:t>• B. string</a:t>
            </a:r>
          </a:p>
          <a:p>
            <a:pPr>
              <a:spcAft>
                <a:spcPts val="1400"/>
              </a:spcAft>
            </a:pPr>
            <a:r>
              <a:rPr sz="2400">
                <a:solidFill>
                  <a:srgbClr val="1F2A37"/>
                </a:solidFill>
              </a:rPr>
              <a:t>• C. object with named fields</a:t>
            </a:r>
          </a:p>
          <a:p>
            <a:pPr>
              <a:spcAft>
                <a:spcPts val="1400"/>
              </a:spcAft>
            </a:pPr>
            <a:r>
              <a:rPr sz="2400">
                <a:solidFill>
                  <a:srgbClr val="1F2A37"/>
                </a:solidFill>
              </a:rPr>
              <a:t>• D. function</a:t>
            </a:r>
          </a:p>
          <a:p>
            <a:pPr>
              <a:spcAft>
                <a:spcPts val="1400"/>
              </a:spcAft>
            </a:pPr>
            <a:r>
              <a:rPr sz="2400">
                <a:solidFill>
                  <a:srgbClr val="1F2A37"/>
                </a:solidFill>
              </a:rPr>
              <a:t>• Pick one - the answer is on the next slide.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 role: 'user', content: text }  is a(n)...?</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ANSWER</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A. array</a:t>
            </a:r>
          </a:p>
          <a:p>
            <a:pPr>
              <a:spcAft>
                <a:spcPts val="1400"/>
              </a:spcAft>
            </a:pPr>
            <a:r>
              <a:rPr sz="2400">
                <a:solidFill>
                  <a:srgbClr val="1F2A37"/>
                </a:solidFill>
              </a:rPr>
              <a:t>• B. string</a:t>
            </a:r>
          </a:p>
          <a:p>
            <a:pPr>
              <a:spcAft>
                <a:spcPts val="1400"/>
              </a:spcAft>
            </a:pPr>
            <a:r>
              <a:rPr sz="2400">
                <a:solidFill>
                  <a:srgbClr val="1F2A37"/>
                </a:solidFill>
              </a:rPr>
              <a:t>• C. object with named fields (correct)</a:t>
            </a:r>
          </a:p>
          <a:p>
            <a:pPr>
              <a:spcAft>
                <a:spcPts val="1400"/>
              </a:spcAft>
            </a:pPr>
            <a:r>
              <a:rPr sz="2400">
                <a:solidFill>
                  <a:srgbClr val="1F2A37"/>
                </a:solidFill>
              </a:rPr>
              <a:t>• D. function</a:t>
            </a:r>
          </a:p>
          <a:p>
            <a:pPr>
              <a:spcAft>
                <a:spcPts val="1400"/>
              </a:spcAft>
            </a:pPr>
            <a:r>
              <a:rPr sz="2400">
                <a:solidFill>
                  <a:srgbClr val="1F2A37"/>
                </a:solidFill>
              </a:rPr>
              <a:t>• Curly braces with key: value pairs make an object.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Why must a function be marked  async  here? (uses week 3 idea)</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QUICK CHECK</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A. So it can use await inside</a:t>
            </a:r>
          </a:p>
          <a:p>
            <a:pPr>
              <a:spcAft>
                <a:spcPts val="1400"/>
              </a:spcAft>
            </a:pPr>
            <a:r>
              <a:rPr sz="2400">
                <a:solidFill>
                  <a:srgbClr val="1F2A37"/>
                </a:solidFill>
              </a:rPr>
              <a:t>• B. So it runs twice</a:t>
            </a:r>
          </a:p>
          <a:p>
            <a:pPr>
              <a:spcAft>
                <a:spcPts val="1400"/>
              </a:spcAft>
            </a:pPr>
            <a:r>
              <a:rPr sz="2400">
                <a:solidFill>
                  <a:srgbClr val="1F2A37"/>
                </a:solidFill>
              </a:rPr>
              <a:t>• C. So it becomes a CSS rule</a:t>
            </a:r>
          </a:p>
          <a:p>
            <a:pPr>
              <a:spcAft>
                <a:spcPts val="1400"/>
              </a:spcAft>
            </a:pPr>
            <a:r>
              <a:rPr sz="2400">
                <a:solidFill>
                  <a:srgbClr val="1F2A37"/>
                </a:solidFill>
              </a:rPr>
              <a:t>• D. So it prints to the console</a:t>
            </a:r>
          </a:p>
          <a:p>
            <a:pPr>
              <a:spcAft>
                <a:spcPts val="1400"/>
              </a:spcAft>
            </a:pPr>
            <a:r>
              <a:rPr sz="2400">
                <a:solidFill>
                  <a:srgbClr val="1F2A37"/>
                </a:solidFill>
              </a:rPr>
              <a:t>• Pick one - the answer is on the next slide.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Why must a function be marked  async  here? (uses week 3 idea)</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ANSWER</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A. So it can use await inside (correct)</a:t>
            </a:r>
          </a:p>
          <a:p>
            <a:pPr>
              <a:spcAft>
                <a:spcPts val="1400"/>
              </a:spcAft>
            </a:pPr>
            <a:r>
              <a:rPr sz="2400">
                <a:solidFill>
                  <a:srgbClr val="1F2A37"/>
                </a:solidFill>
              </a:rPr>
              <a:t>• B. So it runs twice</a:t>
            </a:r>
          </a:p>
          <a:p>
            <a:pPr>
              <a:spcAft>
                <a:spcPts val="1400"/>
              </a:spcAft>
            </a:pPr>
            <a:r>
              <a:rPr sz="2400">
                <a:solidFill>
                  <a:srgbClr val="1F2A37"/>
                </a:solidFill>
              </a:rPr>
              <a:t>• C. So it becomes a CSS rule</a:t>
            </a:r>
          </a:p>
          <a:p>
            <a:pPr>
              <a:spcAft>
                <a:spcPts val="1400"/>
              </a:spcAft>
            </a:pPr>
            <a:r>
              <a:rPr sz="2400">
                <a:solidFill>
                  <a:srgbClr val="1F2A37"/>
                </a:solidFill>
              </a:rPr>
              <a:t>• D. So it prints to the console</a:t>
            </a:r>
          </a:p>
          <a:p>
            <a:pPr>
              <a:spcAft>
                <a:spcPts val="1400"/>
              </a:spcAft>
            </a:pPr>
            <a:r>
              <a:rPr sz="2400">
                <a:solidFill>
                  <a:srgbClr val="1F2A37"/>
                </a:solidFill>
              </a:rPr>
              <a:t>• await only works inside a function marked async.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The internet is slow</a:t>
            </a:r>
          </a:p>
        </p:txBody>
      </p:sp>
      <p:sp>
        <p:nvSpPr>
          <p:cNvPr id="3" name="TextBox 2"/>
          <p:cNvSpPr txBox="1"/>
          <p:nvPr/>
        </p:nvSpPr>
        <p:spPr>
          <a:xfrm>
            <a:off x="822960" y="1828800"/>
            <a:ext cx="10515600" cy="4206240"/>
          </a:xfrm>
          <a:prstGeom prst="rect">
            <a:avLst/>
          </a:prstGeom>
          <a:noFill/>
        </p:spPr>
        <p:txBody>
          <a:bodyPr wrap="square">
            <a:spAutoFit/>
          </a:bodyPr>
          <a:lstStyle/>
          <a:p>
            <a:pPr>
              <a:spcAft>
                <a:spcPts val="1400"/>
              </a:spcAft>
            </a:pPr>
            <a:r>
              <a:rPr sz="2800">
                <a:solidFill>
                  <a:srgbClr val="01AEFD"/>
                </a:solidFill>
              </a:rPr>
              <a:t>await = wait here for the answer</a:t>
            </a:r>
          </a:p>
          <a:p>
            <a:pPr>
              <a:spcAft>
                <a:spcPts val="1400"/>
              </a:spcAft>
            </a:pPr>
            <a:r>
              <a:rPr sz="2400">
                <a:solidFill>
                  <a:srgbClr val="1F2A37"/>
                </a:solidFill>
              </a:rPr>
              <a:t>• Without await you carry on with nothing</a:t>
            </a:r>
          </a:p>
          <a:p>
            <a:pPr>
              <a:spcAft>
                <a:spcPts val="1400"/>
              </a:spcAft>
            </a:pPr>
            <a:r>
              <a:rPr sz="2400">
                <a:solidFill>
                  <a:srgbClr val="1F2A37"/>
                </a:solidFill>
              </a:rPr>
              <a:t>• async marks a function that can be waited for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This address only works at school</a:t>
            </a:r>
          </a:p>
        </p:txBody>
      </p:sp>
      <p:sp>
        <p:nvSpPr>
          <p:cNvPr id="3" name="TextBox 2"/>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That machine is in this building</a:t>
            </a:r>
          </a:p>
          <a:p>
            <a:pPr>
              <a:spcAft>
                <a:spcPts val="1400"/>
              </a:spcAft>
            </a:pPr>
            <a:r>
              <a:rPr sz="2400">
                <a:solidFill>
                  <a:srgbClr val="1F2A37"/>
                </a:solidFill>
              </a:rPr>
              <a:t>• At home it will not connect - that is expected</a:t>
            </a:r>
          </a:p>
          <a:p>
            <a:pPr>
              <a:spcAft>
                <a:spcPts val="1400"/>
              </a:spcAft>
            </a:pPr>
            <a:r>
              <a:rPr sz="2400">
                <a:solidFill>
                  <a:srgbClr val="1F2A37"/>
                </a:solidFill>
              </a:rPr>
              <a:t>• But the code is not throwaway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Same format as OpenAI</a:t>
            </a:r>
          </a:p>
        </p:txBody>
      </p:sp>
      <p:sp>
        <p:nvSpPr>
          <p:cNvPr id="3" name="TextBox 2"/>
          <p:cNvSpPr txBox="1"/>
          <p:nvPr/>
        </p:nvSpPr>
        <p:spPr>
          <a:xfrm>
            <a:off x="822960" y="1828800"/>
            <a:ext cx="10515600" cy="4206240"/>
          </a:xfrm>
          <a:prstGeom prst="rect">
            <a:avLst/>
          </a:prstGeom>
          <a:noFill/>
        </p:spPr>
        <p:txBody>
          <a:bodyPr wrap="square">
            <a:spAutoFit/>
          </a:bodyPr>
          <a:lstStyle/>
          <a:p>
            <a:pPr>
              <a:spcAft>
                <a:spcPts val="1400"/>
              </a:spcAft>
            </a:pPr>
            <a:r>
              <a:rPr sz="2800">
                <a:solidFill>
                  <a:srgbClr val="01AEFD"/>
                </a:solidFill>
              </a:rPr>
              <a:t>On purpose</a:t>
            </a:r>
          </a:p>
          <a:p>
            <a:pPr>
              <a:spcAft>
                <a:spcPts val="1400"/>
              </a:spcAft>
            </a:pPr>
            <a:r>
              <a:rPr sz="2400">
                <a:solidFill>
                  <a:srgbClr val="1F2A37"/>
                </a:solidFill>
              </a:rPr>
              <a:t>• Got your own OpenAI key? Change AI_BASE</a:t>
            </a:r>
          </a:p>
          <a:p>
            <a:pPr>
              <a:spcAft>
                <a:spcPts val="1400"/>
              </a:spcAft>
            </a:pPr>
            <a:r>
              <a:rPr sz="2400">
                <a:solidFill>
                  <a:srgbClr val="1F2A37"/>
                </a:solidFill>
              </a:rPr>
              <a:t>• Change API_KEY</a:t>
            </a:r>
          </a:p>
          <a:p>
            <a:pPr>
              <a:spcAft>
                <a:spcPts val="1400"/>
              </a:spcAft>
            </a:pPr>
            <a:r>
              <a:rPr sz="2400">
                <a:solidFill>
                  <a:srgbClr val="1F2A37"/>
                </a:solidFill>
              </a:rPr>
              <a:t>• Change the two model names in index.html</a:t>
            </a:r>
          </a:p>
          <a:p>
            <a:pPr>
              <a:spcAft>
                <a:spcPts val="1400"/>
              </a:spcAft>
            </a:pPr>
            <a:r>
              <a:rPr sz="2400">
                <a:solidFill>
                  <a:srgbClr val="1F2A37"/>
                </a:solidFill>
              </a:rPr>
              <a:t>• Nothing else moves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A key in a web page is public</a:t>
            </a:r>
          </a:p>
        </p:txBody>
      </p:sp>
      <p:sp>
        <p:nvSpPr>
          <p:cNvPr id="3" name="TextBox 2"/>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Anyone who opens the page can read it</a:t>
            </a:r>
          </a:p>
          <a:p>
            <a:pPr>
              <a:spcAft>
                <a:spcPts val="1400"/>
              </a:spcAft>
            </a:pPr>
            <a:r>
              <a:rPr sz="2400">
                <a:solidFill>
                  <a:srgbClr val="1F2A37"/>
                </a:solidFill>
              </a:rPr>
              <a:t>• Fine for a class key: limited, no bill</a:t>
            </a:r>
          </a:p>
          <a:p>
            <a:pPr>
              <a:spcAft>
                <a:spcPts val="1400"/>
              </a:spcAft>
            </a:pPr>
            <a:r>
              <a:rPr sz="2400">
                <a:solidFill>
                  <a:srgbClr val="1F2A37"/>
                </a:solidFill>
              </a:rPr>
              <a:t>• NOT fine for a personal paid key</a:t>
            </a:r>
          </a:p>
          <a:p>
            <a:pPr>
              <a:spcAft>
                <a:spcPts val="1400"/>
              </a:spcAft>
            </a:pPr>
            <a:r>
              <a:rPr sz="2400">
                <a:solidFill>
                  <a:srgbClr val="1F2A37"/>
                </a:solidFill>
              </a:rPr>
              <a:t>• Real apps keep the key on a server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Status codes</a:t>
            </a:r>
          </a:p>
        </p:txBody>
      </p:sp>
      <p:sp>
        <p:nvSpPr>
          <p:cNvPr id="3" name="TextBox 2"/>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200 - fine, here you go</a:t>
            </a:r>
          </a:p>
          <a:p>
            <a:pPr>
              <a:spcAft>
                <a:spcPts val="1400"/>
              </a:spcAft>
            </a:pPr>
            <a:r>
              <a:rPr sz="2400">
                <a:solidFill>
                  <a:srgbClr val="1F2A37"/>
                </a:solidFill>
              </a:rPr>
              <a:t>• 401 - I do not believe who you say you are</a:t>
            </a:r>
          </a:p>
          <a:p>
            <a:pPr>
              <a:spcAft>
                <a:spcPts val="1400"/>
              </a:spcAft>
            </a:pPr>
            <a:r>
              <a:rPr sz="2400">
                <a:solidFill>
                  <a:srgbClr val="1F2A37"/>
                </a:solidFill>
              </a:rPr>
              <a:t>• 404 - no such thing here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Checkpoint: the model list</a:t>
            </a:r>
          </a:p>
        </p:txBody>
      </p:sp>
      <p:sp>
        <p:nvSpPr>
          <p:cNvPr id="3" name="TextBox 2"/>
          <p:cNvSpPr txBox="1"/>
          <p:nvPr/>
        </p:nvSpPr>
        <p:spPr>
          <a:xfrm>
            <a:off x="868680" y="502920"/>
            <a:ext cx="5486400" cy="457200"/>
          </a:xfrm>
          <a:prstGeom prst="rect">
            <a:avLst/>
          </a:prstGeom>
          <a:noFill/>
        </p:spPr>
        <p:txBody>
          <a:bodyPr wrap="none">
            <a:spAutoFit/>
          </a:bodyPr>
          <a:lstStyle/>
          <a:p>
            <a:r>
              <a:rPr sz="1500" b="1">
                <a:solidFill>
                  <a:srgbClr val="01AEFD"/>
                </a:solidFill>
              </a:rPr>
              <a:t>CHECKPOINT - RUN IT</a:t>
            </a:r>
          </a:p>
        </p:txBody>
      </p:sp>
      <p:sp>
        <p:nvSpPr>
          <p:cNvPr id="4" name="TextBox 3"/>
          <p:cNvSpPr txBox="1"/>
          <p:nvPr/>
        </p:nvSpPr>
        <p:spPr>
          <a:xfrm>
            <a:off x="822960" y="1828800"/>
            <a:ext cx="10515600" cy="4206240"/>
          </a:xfrm>
          <a:prstGeom prst="rect">
            <a:avLst/>
          </a:prstGeom>
          <a:noFill/>
        </p:spPr>
        <p:txBody>
          <a:bodyPr wrap="square">
            <a:spAutoFit/>
          </a:bodyPr>
          <a:lstStyle/>
          <a:p>
            <a:pPr>
              <a:spcAft>
                <a:spcPts val="1400"/>
              </a:spcAft>
            </a:pPr>
            <a:r>
              <a:rPr sz="2800">
                <a:solidFill>
                  <a:srgbClr val="01AEFD"/>
                </a:solidFill>
              </a:rPr>
              <a:t>Press Run and open the Console panel. You should see the list of models the server offers. That list comes from the school AI, so this one needs the school network.</a:t>
            </a:r>
          </a:p>
          <a:p>
            <a:pPr>
              <a:spcAft>
                <a:spcPts val="1400"/>
              </a:spcAft>
            </a:pPr>
            <a:r>
              <a:rPr sz="2400">
                <a:solidFill>
                  <a:srgbClr val="1F2A37"/>
                </a:solidFill>
              </a:rPr>
              <a:t>• Run it in the classroom, or press Show the output in the web deck.</a:t>
            </a:r>
          </a:p>
          <a:p>
            <a:pPr>
              <a:spcAft>
                <a:spcPts val="1400"/>
              </a:spcAft>
            </a:pPr>
            <a:r>
              <a:rPr sz="2400">
                <a:solidFill>
                  <a:srgbClr val="1F2A37"/>
                </a:solidFill>
              </a:rPr>
              <a:t>• Everyone's screen should match this.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800" b="1">
                <a:solidFill>
                  <a:srgbClr val="1F2A37"/>
                </a:solidFill>
              </a:rPr>
              <a:t>Watch the Console</a:t>
            </a:r>
          </a:p>
        </p:txBody>
      </p:sp>
      <p:sp>
        <p:nvSpPr>
          <p:cNvPr id="3" name="TextBox 2"/>
          <p:cNvSpPr txBox="1"/>
          <p:nvPr/>
        </p:nvSpPr>
        <p:spPr>
          <a:xfrm>
            <a:off x="822960" y="1828800"/>
            <a:ext cx="10515600" cy="4206240"/>
          </a:xfrm>
          <a:prstGeom prst="rect">
            <a:avLst/>
          </a:prstGeom>
          <a:noFill/>
        </p:spPr>
        <p:txBody>
          <a:bodyPr wrap="square">
            <a:spAutoFit/>
          </a:bodyPr>
          <a:lstStyle/>
          <a:p>
            <a:pPr>
              <a:spcAft>
                <a:spcPts val="1400"/>
              </a:spcAft>
            </a:pPr>
            <a:r>
              <a:rPr sz="2400">
                <a:solidFill>
                  <a:srgbClr val="1F2A37"/>
                </a:solidFill>
              </a:rPr>
              <a:t>• -&gt; GET /v1/models</a:t>
            </a:r>
          </a:p>
          <a:p>
            <a:pPr>
              <a:spcAft>
                <a:spcPts val="1400"/>
              </a:spcAft>
            </a:pPr>
            <a:r>
              <a:rPr sz="2400">
                <a:solidFill>
                  <a:srgbClr val="1F2A37"/>
                </a:solidFill>
              </a:rPr>
              <a:t>• &lt;- 200 in 84 ms</a:t>
            </a:r>
          </a:p>
          <a:p>
            <a:pPr>
              <a:spcAft>
                <a:spcPts val="1400"/>
              </a:spcAft>
            </a:pPr>
            <a:r>
              <a:rPr sz="2400">
                <a:solidFill>
                  <a:srgbClr val="1F2A37"/>
                </a:solidFill>
              </a:rPr>
              <a:t>• That is your request leaving and coming 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